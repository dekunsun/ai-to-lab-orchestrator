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Bayesian optimization</c:v>
                </c:pt>
              </c:strCache>
            </c:strRef>
          </c:tx>
          <c:spPr>
            <a:solidFill>
              <a:srgbClr val="1F5F8B"/>
            </a:solidFill>
            <a:ln w="38100" cap="flat">
              <a:solidFill>
                <a:srgbClr val="1F5F8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5F8B"/>
              </a:solidFill>
              <a:ln w="9525" cap="flat">
                <a:solidFill>
                  <a:srgbClr val="1F5F8B"/>
                </a:solidFill>
                <a:prstDash val="solid"/>
                <a:round/>
              </a:ln>
              <a:effectLst/>
            </c:spPr>
          </c:marker>
          <c:cat>
            <c:multiLvlStrRef>
              <c:f>Sheet1!$A$2:$A$31</c:f>
              <c:multiLvlStrCache>
                <c:ptCount val="30"/>
                <c:lvl>
                  <c:pt idx="0">
                    <c:v>1</c:v>
                  </c:pt>
                  <c:pt idx="1">
                    <c:v/>
                  </c:pt>
                  <c:pt idx="2">
                    <c:v/>
                  </c:pt>
                  <c:pt idx="3">
                    <c:v/>
                  </c:pt>
                  <c:pt idx="4">
                    <c:v>5</c:v>
                  </c:pt>
                  <c:pt idx="5">
                    <c:v/>
                  </c:pt>
                  <c:pt idx="6">
                    <c:v/>
                  </c:pt>
                  <c:pt idx="7">
                    <c:v/>
                  </c:pt>
                  <c:pt idx="8">
                    <c:v/>
                  </c:pt>
                  <c:pt idx="9">
                    <c:v>10</c:v>
                  </c:pt>
                  <c:pt idx="10">
                    <c:v/>
                  </c:pt>
                  <c:pt idx="11">
                    <c:v/>
                  </c:pt>
                  <c:pt idx="12">
                    <c:v/>
                  </c:pt>
                  <c:pt idx="13">
                    <c:v/>
                  </c:pt>
                  <c:pt idx="14">
                    <c:v>15</c:v>
                  </c:pt>
                  <c:pt idx="15">
                    <c:v/>
                  </c:pt>
                  <c:pt idx="16">
                    <c:v/>
                  </c:pt>
                  <c:pt idx="17">
                    <c:v/>
                  </c:pt>
                  <c:pt idx="18">
                    <c:v/>
                  </c:pt>
                  <c:pt idx="19">
                    <c:v>20</c:v>
                  </c:pt>
                  <c:pt idx="20">
                    <c:v/>
                  </c:pt>
                  <c:pt idx="21">
                    <c:v/>
                  </c:pt>
                  <c:pt idx="22">
                    <c:v/>
                  </c:pt>
                  <c:pt idx="23">
                    <c:v/>
                  </c:pt>
                  <c:pt idx="24">
                    <c:v>25</c:v>
                  </c:pt>
                  <c:pt idx="25">
                    <c:v/>
                  </c:pt>
                  <c:pt idx="26">
                    <c:v/>
                  </c:pt>
                  <c:pt idx="27">
                    <c:v/>
                  </c:pt>
                  <c:pt idx="28">
                    <c:v/>
                  </c:pt>
                  <c:pt idx="29">
                    <c:v>30</c:v>
                  </c:pt>
                </c:lvl>
              </c:multiLvlStrCache>
            </c:multiLvlStrRef>
          </c:cat>
          <c:val>
            <c:numRef>
              <c:f>Sheet1!$B$2:$B$31</c:f>
              <c:numCache>
                <c:formatCode>General</c:formatCode>
                <c:ptCount val="30"/>
                <c:pt idx="0">
                  <c:v>0.2212</c:v>
                </c:pt>
                <c:pt idx="1">
                  <c:v>0.388</c:v>
                </c:pt>
                <c:pt idx="2">
                  <c:v>0.4462</c:v>
                </c:pt>
                <c:pt idx="3">
                  <c:v>0.4777</c:v>
                </c:pt>
                <c:pt idx="4">
                  <c:v>0.5291</c:v>
                </c:pt>
                <c:pt idx="5">
                  <c:v>0.574</c:v>
                </c:pt>
                <c:pt idx="6">
                  <c:v>0.574</c:v>
                </c:pt>
                <c:pt idx="7">
                  <c:v>0.5802</c:v>
                </c:pt>
                <c:pt idx="8">
                  <c:v>0.5802</c:v>
                </c:pt>
                <c:pt idx="9">
                  <c:v>0.5886</c:v>
                </c:pt>
                <c:pt idx="10">
                  <c:v>0.6188</c:v>
                </c:pt>
                <c:pt idx="11">
                  <c:v>0.6364</c:v>
                </c:pt>
                <c:pt idx="12">
                  <c:v>0.6412</c:v>
                </c:pt>
                <c:pt idx="13">
                  <c:v>0.6709</c:v>
                </c:pt>
                <c:pt idx="14">
                  <c:v>0.7031</c:v>
                </c:pt>
                <c:pt idx="15">
                  <c:v>0.7031</c:v>
                </c:pt>
                <c:pt idx="16">
                  <c:v>0.7031</c:v>
                </c:pt>
                <c:pt idx="17">
                  <c:v>0.7358</c:v>
                </c:pt>
                <c:pt idx="18">
                  <c:v>0.7499</c:v>
                </c:pt>
                <c:pt idx="19">
                  <c:v>0.752</c:v>
                </c:pt>
                <c:pt idx="20">
                  <c:v>0.752</c:v>
                </c:pt>
                <c:pt idx="21">
                  <c:v>0.7607</c:v>
                </c:pt>
                <c:pt idx="22">
                  <c:v>0.77</c:v>
                </c:pt>
                <c:pt idx="23">
                  <c:v>0.7782</c:v>
                </c:pt>
                <c:pt idx="24">
                  <c:v>0.7782</c:v>
                </c:pt>
                <c:pt idx="25">
                  <c:v>0.7974</c:v>
                </c:pt>
                <c:pt idx="26">
                  <c:v>0.8078</c:v>
                </c:pt>
                <c:pt idx="27">
                  <c:v>0.8177</c:v>
                </c:pt>
                <c:pt idx="28">
                  <c:v>0.8177</c:v>
                </c:pt>
                <c:pt idx="29">
                  <c:v>0.8177</c:v>
                </c:pt>
              </c:numCache>
            </c:numRef>
          </c:val>
          <c:smooth val="0"/>
        </c:ser>
        <c:ser>
          <c:idx val="1"/>
          <c:order val="1"/>
          <c:tx>
            <c:strRef>
              <c:f>Sheet1!$C$1</c:f>
              <c:strCache>
                <c:ptCount val="1"/>
                <c:pt idx="0">
                  <c:v>Random search</c:v>
                </c:pt>
              </c:strCache>
            </c:strRef>
          </c:tx>
          <c:spPr>
            <a:solidFill>
              <a:srgbClr val="9AA7B2"/>
            </a:solidFill>
            <a:ln w="38100" cap="flat">
              <a:solidFill>
                <a:srgbClr val="9AA7B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7B2"/>
              </a:solidFill>
              <a:ln w="9525" cap="flat">
                <a:solidFill>
                  <a:srgbClr val="9AA7B2"/>
                </a:solidFill>
                <a:prstDash val="solid"/>
                <a:round/>
              </a:ln>
              <a:effectLst/>
            </c:spPr>
          </c:marker>
          <c:cat>
            <c:multiLvlStrRef>
              <c:f>Sheet1!$A$2:$A$31</c:f>
              <c:multiLvlStrCache>
                <c:ptCount val="30"/>
                <c:lvl>
                  <c:pt idx="0">
                    <c:v>1</c:v>
                  </c:pt>
                  <c:pt idx="1">
                    <c:v/>
                  </c:pt>
                  <c:pt idx="2">
                    <c:v/>
                  </c:pt>
                  <c:pt idx="3">
                    <c:v/>
                  </c:pt>
                  <c:pt idx="4">
                    <c:v>5</c:v>
                  </c:pt>
                  <c:pt idx="5">
                    <c:v/>
                  </c:pt>
                  <c:pt idx="6">
                    <c:v/>
                  </c:pt>
                  <c:pt idx="7">
                    <c:v/>
                  </c:pt>
                  <c:pt idx="8">
                    <c:v/>
                  </c:pt>
                  <c:pt idx="9">
                    <c:v>10</c:v>
                  </c:pt>
                  <c:pt idx="10">
                    <c:v/>
                  </c:pt>
                  <c:pt idx="11">
                    <c:v/>
                  </c:pt>
                  <c:pt idx="12">
                    <c:v/>
                  </c:pt>
                  <c:pt idx="13">
                    <c:v/>
                  </c:pt>
                  <c:pt idx="14">
                    <c:v>15</c:v>
                  </c:pt>
                  <c:pt idx="15">
                    <c:v/>
                  </c:pt>
                  <c:pt idx="16">
                    <c:v/>
                  </c:pt>
                  <c:pt idx="17">
                    <c:v/>
                  </c:pt>
                  <c:pt idx="18">
                    <c:v/>
                  </c:pt>
                  <c:pt idx="19">
                    <c:v>20</c:v>
                  </c:pt>
                  <c:pt idx="20">
                    <c:v/>
                  </c:pt>
                  <c:pt idx="21">
                    <c:v/>
                  </c:pt>
                  <c:pt idx="22">
                    <c:v/>
                  </c:pt>
                  <c:pt idx="23">
                    <c:v/>
                  </c:pt>
                  <c:pt idx="24">
                    <c:v>25</c:v>
                  </c:pt>
                  <c:pt idx="25">
                    <c:v/>
                  </c:pt>
                  <c:pt idx="26">
                    <c:v/>
                  </c:pt>
                  <c:pt idx="27">
                    <c:v/>
                  </c:pt>
                  <c:pt idx="28">
                    <c:v/>
                  </c:pt>
                  <c:pt idx="29">
                    <c:v>30</c:v>
                  </c:pt>
                </c:lvl>
              </c:multiLvlStrCache>
            </c:multiLvlStrRef>
          </c:cat>
          <c:val>
            <c:numRef>
              <c:f>Sheet1!$C$2:$C$31</c:f>
              <c:numCache>
                <c:formatCode>General</c:formatCode>
                <c:ptCount val="30"/>
                <c:pt idx="0">
                  <c:v>0.2212</c:v>
                </c:pt>
                <c:pt idx="1">
                  <c:v>0.388</c:v>
                </c:pt>
                <c:pt idx="2">
                  <c:v>0.4462</c:v>
                </c:pt>
                <c:pt idx="3">
                  <c:v>0.4777</c:v>
                </c:pt>
                <c:pt idx="4">
                  <c:v>0.5291</c:v>
                </c:pt>
                <c:pt idx="5">
                  <c:v>0.5722</c:v>
                </c:pt>
                <c:pt idx="6">
                  <c:v>0.5802</c:v>
                </c:pt>
                <c:pt idx="7">
                  <c:v>0.5842</c:v>
                </c:pt>
                <c:pt idx="8">
                  <c:v>0.6069</c:v>
                </c:pt>
                <c:pt idx="9">
                  <c:v>0.6294</c:v>
                </c:pt>
                <c:pt idx="10">
                  <c:v>0.6334</c:v>
                </c:pt>
                <c:pt idx="11">
                  <c:v>0.6334</c:v>
                </c:pt>
                <c:pt idx="12">
                  <c:v>0.6334</c:v>
                </c:pt>
                <c:pt idx="13">
                  <c:v>0.6334</c:v>
                </c:pt>
                <c:pt idx="14">
                  <c:v>0.6334</c:v>
                </c:pt>
                <c:pt idx="15">
                  <c:v>0.648</c:v>
                </c:pt>
                <c:pt idx="16">
                  <c:v>0.6672</c:v>
                </c:pt>
                <c:pt idx="17">
                  <c:v>0.6692</c:v>
                </c:pt>
                <c:pt idx="18">
                  <c:v>0.6751</c:v>
                </c:pt>
                <c:pt idx="19">
                  <c:v>0.6898</c:v>
                </c:pt>
                <c:pt idx="20">
                  <c:v>0.6898</c:v>
                </c:pt>
                <c:pt idx="21">
                  <c:v>0.6898</c:v>
                </c:pt>
                <c:pt idx="22">
                  <c:v>0.6898</c:v>
                </c:pt>
                <c:pt idx="23">
                  <c:v>0.6898</c:v>
                </c:pt>
                <c:pt idx="24">
                  <c:v>0.691</c:v>
                </c:pt>
                <c:pt idx="25">
                  <c:v>0.6999</c:v>
                </c:pt>
                <c:pt idx="26">
                  <c:v>0.71</c:v>
                </c:pt>
                <c:pt idx="27">
                  <c:v>0.7177</c:v>
                </c:pt>
                <c:pt idx="28">
                  <c:v>0.7243</c:v>
                </c:pt>
                <c:pt idx="29">
                  <c:v>0.7243</c:v>
                </c:pt>
              </c:numCache>
            </c:numRef>
          </c:val>
          <c:smooth val="0"/>
        </c:ser>
        <c:ser>
          <c:idx val="2"/>
          <c:order val="2"/>
          <c:tx>
            <c:strRef>
              <c:f>Sheet1!$D$1</c:f>
              <c:strCache>
                <c:ptCount val="1"/>
                <c:pt idx="0">
                  <c:v>Noise-free ceiling</c:v>
                </c:pt>
              </c:strCache>
            </c:strRef>
          </c:tx>
          <c:spPr>
            <a:solidFill>
              <a:srgbClr val="CDD6DE"/>
            </a:solidFill>
            <a:ln w="38100" cap="flat">
              <a:solidFill>
                <a:srgbClr val="CDD6D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DD6DE"/>
              </a:solidFill>
              <a:ln w="9525" cap="flat">
                <a:solidFill>
                  <a:srgbClr val="CDD6DE"/>
                </a:solidFill>
                <a:prstDash val="solid"/>
                <a:round/>
              </a:ln>
              <a:effectLst/>
            </c:spPr>
          </c:marker>
          <c:cat>
            <c:multiLvlStrRef>
              <c:f>Sheet1!$A$2:$A$31</c:f>
              <c:multiLvlStrCache>
                <c:ptCount val="30"/>
                <c:lvl>
                  <c:pt idx="0">
                    <c:v>1</c:v>
                  </c:pt>
                  <c:pt idx="1">
                    <c:v/>
                  </c:pt>
                  <c:pt idx="2">
                    <c:v/>
                  </c:pt>
                  <c:pt idx="3">
                    <c:v/>
                  </c:pt>
                  <c:pt idx="4">
                    <c:v>5</c:v>
                  </c:pt>
                  <c:pt idx="5">
                    <c:v/>
                  </c:pt>
                  <c:pt idx="6">
                    <c:v/>
                  </c:pt>
                  <c:pt idx="7">
                    <c:v/>
                  </c:pt>
                  <c:pt idx="8">
                    <c:v/>
                  </c:pt>
                  <c:pt idx="9">
                    <c:v>10</c:v>
                  </c:pt>
                  <c:pt idx="10">
                    <c:v/>
                  </c:pt>
                  <c:pt idx="11">
                    <c:v/>
                  </c:pt>
                  <c:pt idx="12">
                    <c:v/>
                  </c:pt>
                  <c:pt idx="13">
                    <c:v/>
                  </c:pt>
                  <c:pt idx="14">
                    <c:v>15</c:v>
                  </c:pt>
                  <c:pt idx="15">
                    <c:v/>
                  </c:pt>
                  <c:pt idx="16">
                    <c:v/>
                  </c:pt>
                  <c:pt idx="17">
                    <c:v/>
                  </c:pt>
                  <c:pt idx="18">
                    <c:v/>
                  </c:pt>
                  <c:pt idx="19">
                    <c:v>20</c:v>
                  </c:pt>
                  <c:pt idx="20">
                    <c:v/>
                  </c:pt>
                  <c:pt idx="21">
                    <c:v/>
                  </c:pt>
                  <c:pt idx="22">
                    <c:v/>
                  </c:pt>
                  <c:pt idx="23">
                    <c:v/>
                  </c:pt>
                  <c:pt idx="24">
                    <c:v>25</c:v>
                  </c:pt>
                  <c:pt idx="25">
                    <c:v/>
                  </c:pt>
                  <c:pt idx="26">
                    <c:v/>
                  </c:pt>
                  <c:pt idx="27">
                    <c:v/>
                  </c:pt>
                  <c:pt idx="28">
                    <c:v/>
                  </c:pt>
                  <c:pt idx="29">
                    <c:v>30</c:v>
                  </c:pt>
                </c:lvl>
              </c:multiLvlStrCache>
            </c:multiLvlStrRef>
          </c:cat>
          <c:val>
            <c:numRef>
              <c:f>Sheet1!$D$2:$D$31</c:f>
              <c:numCache>
                <c:formatCode>General</c:formatCode>
                <c:ptCount val="30"/>
                <c:pt idx="0">
                  <c:v>0.897</c:v>
                </c:pt>
                <c:pt idx="1">
                  <c:v>0.897</c:v>
                </c:pt>
                <c:pt idx="2">
                  <c:v>0.897</c:v>
                </c:pt>
                <c:pt idx="3">
                  <c:v>0.897</c:v>
                </c:pt>
                <c:pt idx="4">
                  <c:v>0.897</c:v>
                </c:pt>
                <c:pt idx="5">
                  <c:v>0.897</c:v>
                </c:pt>
                <c:pt idx="6">
                  <c:v>0.897</c:v>
                </c:pt>
                <c:pt idx="7">
                  <c:v>0.897</c:v>
                </c:pt>
                <c:pt idx="8">
                  <c:v>0.897</c:v>
                </c:pt>
                <c:pt idx="9">
                  <c:v>0.897</c:v>
                </c:pt>
                <c:pt idx="10">
                  <c:v>0.897</c:v>
                </c:pt>
                <c:pt idx="11">
                  <c:v>0.897</c:v>
                </c:pt>
                <c:pt idx="12">
                  <c:v>0.897</c:v>
                </c:pt>
                <c:pt idx="13">
                  <c:v>0.897</c:v>
                </c:pt>
                <c:pt idx="14">
                  <c:v>0.897</c:v>
                </c:pt>
                <c:pt idx="15">
                  <c:v>0.897</c:v>
                </c:pt>
                <c:pt idx="16">
                  <c:v>0.897</c:v>
                </c:pt>
                <c:pt idx="17">
                  <c:v>0.897</c:v>
                </c:pt>
                <c:pt idx="18">
                  <c:v>0.897</c:v>
                </c:pt>
                <c:pt idx="19">
                  <c:v>0.897</c:v>
                </c:pt>
                <c:pt idx="20">
                  <c:v>0.897</c:v>
                </c:pt>
                <c:pt idx="21">
                  <c:v>0.897</c:v>
                </c:pt>
                <c:pt idx="22">
                  <c:v>0.897</c:v>
                </c:pt>
                <c:pt idx="23">
                  <c:v>0.897</c:v>
                </c:pt>
                <c:pt idx="24">
                  <c:v>0.897</c:v>
                </c:pt>
                <c:pt idx="25">
                  <c:v>0.897</c:v>
                </c:pt>
                <c:pt idx="26">
                  <c:v>0.897</c:v>
                </c:pt>
                <c:pt idx="27">
                  <c:v>0.897</c:v>
                </c:pt>
                <c:pt idx="28">
                  <c:v>0.897</c:v>
                </c:pt>
                <c:pt idx="29">
                  <c:v>0.897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50" b="0" i="0" u="none" strike="noStrike">
                    <a:solidFill>
                      <a:srgbClr val="5B6B78"/>
                    </a:solidFill>
                    <a:latin typeface="Calibri"/>
                  </a:defRPr>
                </a:pPr>
                <a:r>
                  <a:rPr sz="1050" b="0" i="0" u="none" strike="noStrike">
                    <a:solidFill>
                      <a:srgbClr val="5B6B78"/>
                    </a:solidFill>
                    <a:latin typeface="Calibri"/>
                  </a:rPr>
                  <a:t>Experiments run (fixed budget of 30)</a:t>
                </a:r>
              </a:p>
            </c:rich>
          </c:tx>
          <c:layout/>
          <c:overlay val="0"/>
        </c:title>
        <c:numFmt formatCode="General" sourceLinked="1"/>
        <c:majorTickMark val="out"/>
        <c:minorTickMark val="none"/>
        <c:tickLblPos val="low"/>
        <c:spPr>
          <a:ln w="12700" cap="flat">
            <a:solidFill>
              <a:srgbClr val="D4DCE3"/>
            </a:solidFill>
            <a:prstDash val="solid"/>
            <a:round/>
          </a:ln>
        </c:spPr>
        <c:txPr>
          <a:bodyPr/>
          <a:lstStyle/>
          <a:p>
            <a:pPr>
              <a:defRPr sz="1000" b="0" i="0" u="none" strike="noStrike">
                <a:solidFill>
                  <a:srgbClr val="5B6B78"/>
                </a:solidFill>
                <a:latin typeface="Calibri"/>
              </a:defRPr>
            </a:pPr>
            <a:endParaRPr lang="en-US"/>
          </a:p>
        </c:txPr>
        <c:crossAx val="2094734552"/>
        <c:crosses val="autoZero"/>
        <c:auto val="1"/>
        <c:lblAlgn val="ctr"/>
        <c:noMultiLvlLbl val="1"/>
      </c:catAx>
      <c:valAx>
        <c:axId val="2094734552"/>
        <c:scaling>
          <c:orientation val="minMax"/>
          <c:max val="0.95"/>
          <c:min val="0.2"/>
        </c:scaling>
        <c:delete val="0"/>
        <c:axPos val="l"/>
        <c:majorGridlines>
          <c:spPr>
            <a:ln w="12700" cap="flat">
              <a:solidFill>
                <a:srgbClr val="E2E8ED"/>
              </a:solidFill>
              <a:prstDash val="solid"/>
              <a:round/>
            </a:ln>
          </c:spPr>
        </c:majorGridlines>
        <c:title>
          <c:tx>
            <c:rich>
              <a:bodyPr/>
              <a:lstStyle/>
              <a:p>
                <a:pPr>
                  <a:defRPr sz="1050" b="0" i="0" u="none" strike="noStrike">
                    <a:solidFill>
                      <a:srgbClr val="5B6B78"/>
                    </a:solidFill>
                    <a:latin typeface="Calibri"/>
                  </a:defRPr>
                </a:pPr>
                <a:r>
                  <a:rPr sz="1050" b="0" i="0" u="none" strike="noStrike">
                    <a:solidFill>
                      <a:srgbClr val="5B6B78"/>
                    </a:solidFill>
                    <a:latin typeface="Calibri"/>
                  </a:rPr>
                  <a:t>Best objective found so far</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B6B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B6B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is an operating-layer project, not a materials-modelling project. The claim I am making is about systems, data and governance judgment — and I say up front that it is not a physics simulator, because that boundary is the thing I want to be trusted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I am not claiming to out-model a computational materials scientist. I am claiming the bottleneck sits in the operational layer, and that I understand it well enough to run programmes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five: because these are the five questions that have different owners in a real lab. Instruments, scheduling, data, science strategy, and safety are not one person's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lead with if I only had one. Knowing where it is legitimate to simulate and where it is not is the judgment the role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between blocked and failed is the single detail that most reliably shows I have thought about lab economics rather than just about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I know BO is better: fixed budget, 30 seeds, median and IQR rather than a single trajectory, and common random numbers so the per-seed comparison is actually paired.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caveats are printed in the dashboard UI and the README, not just in this deck. That is the point — the honesty is in the product, not in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that the scores are not comparable across rows is the whole slide. A candidate who shows this table without that caveat has shown a bug, not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Sanna, Cerqueira, Cubuk, Errea and Fang, Communications Physics 2026. I transcribed from the preprint; the refined Tc is reported four different ways in the paper and SOURCE.md records that ambiguity rather than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technetium finding is the one to lead with in conversation: it is checkable, it is chemistry rather than modelling, and it reframes the whole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what the hardest architectural decision was: making triage an entry point into the existing loop rather than a parallel module. It is the difference between a system and a portfolio of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dwelling on in conversation: I did not design the second-order effect, I saw it by running the loop. It is the clearest evidence that this is a system with behaviour rather than a set of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Prompted by watching how an automated-lab company actually runs their floor: an operator with gloves on, working from a tablet at the bench. That fixed the form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me from a candidate who only shows what worked. The pattern across all six is the same: the failure mode that matters is the silent one, where the system looks right and is not. If time is short, tell 01 and 06 and let the slide carry the rest — 06 is the one that connects back to the honesty principle the whole project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is a judgment call I would defend. In a real programme, deciding what not to build is most of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intent, not on modesty. The seniority question is answered by saying plainly that I am optimizing for direction and team, not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22B"/>
        </a:solidFill>
      </p:bgPr>
    </p:bg>
    <p:spTree>
      <p:nvGrpSpPr>
        <p:cNvPr id="1" name=""/>
        <p:cNvGrpSpPr/>
        <p:nvPr/>
      </p:nvGrpSpPr>
      <p:grpSpPr>
        <a:xfrm>
          <a:off x="0" y="0"/>
          <a:ext cx="0" cy="0"/>
          <a:chOff x="0" y="0"/>
          <a:chExt cx="0" cy="0"/>
        </a:xfrm>
      </p:grpSpPr>
      <p:sp>
        <p:nvSpPr>
          <p:cNvPr id="2" name="Shape 0"/>
          <p:cNvSpPr/>
          <p:nvPr/>
        </p:nvSpPr>
        <p:spPr>
          <a:xfrm>
            <a:off x="566928" y="1371600"/>
            <a:ext cx="4224528" cy="292608"/>
          </a:xfrm>
          <a:prstGeom prst="roundRect">
            <a:avLst>
              <a:gd name="adj" fmla="val 50000"/>
            </a:avLst>
          </a:prstGeom>
          <a:solidFill>
            <a:srgbClr val="C2410C"/>
          </a:solidFill>
          <a:ln w="12700">
            <a:solidFill>
              <a:srgbClr val="C2410C"/>
            </a:solidFill>
            <a:prstDash val="solid"/>
          </a:ln>
        </p:spPr>
      </p:sp>
      <p:sp>
        <p:nvSpPr>
          <p:cNvPr id="3" name="Text 1"/>
          <p:cNvSpPr txBox="1"/>
          <p:nvPr/>
        </p:nvSpPr>
        <p:spPr>
          <a:xfrm>
            <a:off x="566928" y="1371600"/>
            <a:ext cx="422452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PORTFOLIO  ·  AI FOR SCIENCE</a:t>
            </a:r>
            <a:endParaRPr lang="en-US" sz="1050" dirty="0"/>
          </a:p>
        </p:txBody>
      </p:sp>
      <p:sp>
        <p:nvSpPr>
          <p:cNvPr id="4" name="Text 2"/>
          <p:cNvSpPr txBox="1"/>
          <p:nvPr/>
        </p:nvSpPr>
        <p:spPr>
          <a:xfrm>
            <a:off x="566928" y="1828800"/>
            <a:ext cx="11055096" cy="105156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AI-to-Lab Orchestrator</a:t>
            </a:r>
            <a:endParaRPr lang="en-US" sz="5200" dirty="0"/>
          </a:p>
        </p:txBody>
      </p:sp>
      <p:sp>
        <p:nvSpPr>
          <p:cNvPr id="5" name="Text 3"/>
          <p:cNvSpPr txBox="1"/>
          <p:nvPr/>
        </p:nvSpPr>
        <p:spPr>
          <a:xfrm>
            <a:off x="566928" y="2926080"/>
            <a:ext cx="8412480" cy="914400"/>
          </a:xfrm>
          <a:prstGeom prst="rect">
            <a:avLst/>
          </a:prstGeom>
          <a:noFill/>
          <a:ln/>
        </p:spPr>
        <p:txBody>
          <a:bodyPr wrap="square" lIns="0" tIns="0" rIns="0" bIns="0" rtlCol="0" anchor="t"/>
          <a:lstStyle/>
          <a:p>
            <a:pPr indent="0" marL="0">
              <a:lnSpc>
                <a:spcPts val="2700"/>
              </a:lnSpc>
              <a:buNone/>
            </a:pPr>
            <a:r>
              <a:rPr lang="en-US" sz="1800" dirty="0">
                <a:solidFill>
                  <a:srgbClr val="AEBCC8"/>
                </a:solidFill>
                <a:latin typeface="Calibri" pitchFamily="34" charset="0"/>
                <a:ea typeface="Calibri" pitchFamily="34" charset="-122"/>
                <a:cs typeface="Calibri" pitchFamily="34" charset="-120"/>
              </a:rPr>
              <a:t>The operating layer between an AI's next-experiment suggestion</a:t>
            </a:r>
            <a:endParaRPr lang="en-US" sz="1800" dirty="0"/>
          </a:p>
          <a:p>
            <a:pPr indent="0" marL="0">
              <a:lnSpc>
                <a:spcPts val="2700"/>
              </a:lnSpc>
              <a:buNone/>
            </a:pPr>
            <a:r>
              <a:rPr lang="en-US" sz="1800" dirty="0">
                <a:solidFill>
                  <a:srgbClr val="AEBCC8"/>
                </a:solidFill>
                <a:latin typeface="Calibri" pitchFamily="34" charset="0"/>
                <a:ea typeface="Calibri" pitchFamily="34" charset="-122"/>
                <a:cs typeface="Calibri" pitchFamily="34" charset="-120"/>
              </a:rPr>
              <a:t>and the evidence that it actually ran.</a:t>
            </a:r>
            <a:endParaRPr lang="en-US" sz="1800" dirty="0"/>
          </a:p>
        </p:txBody>
      </p:sp>
      <p:sp>
        <p:nvSpPr>
          <p:cNvPr id="6" name="Text 4"/>
          <p:cNvSpPr txBox="1"/>
          <p:nvPr/>
        </p:nvSpPr>
        <p:spPr>
          <a:xfrm>
            <a:off x="566928" y="4343400"/>
            <a:ext cx="3474720" cy="502920"/>
          </a:xfrm>
          <a:prstGeom prst="rect">
            <a:avLst/>
          </a:prstGeom>
          <a:noFill/>
          <a:ln/>
        </p:spPr>
        <p:txBody>
          <a:bodyPr wrap="square" lIns="0" tIns="0" rIns="0" bIns="0" rtlCol="0" anchor="ctr"/>
          <a:lstStyle/>
          <a:p>
            <a:pPr indent="0" marL="0">
              <a:buNone/>
            </a:pPr>
            <a:r>
              <a:rPr lang="en-US" sz="3000" b="1" dirty="0">
                <a:solidFill>
                  <a:srgbClr val="6FA8CE"/>
                </a:solidFill>
                <a:latin typeface="Cambria" pitchFamily="34" charset="0"/>
                <a:ea typeface="Cambria" pitchFamily="34" charset="-122"/>
                <a:cs typeface="Cambria" pitchFamily="34" charset="-120"/>
              </a:rPr>
              <a:t>2</a:t>
            </a:r>
            <a:endParaRPr lang="en-US" sz="3000" dirty="0"/>
          </a:p>
        </p:txBody>
      </p:sp>
      <p:sp>
        <p:nvSpPr>
          <p:cNvPr id="7" name="Text 5"/>
          <p:cNvSpPr txBox="1"/>
          <p:nvPr/>
        </p:nvSpPr>
        <p:spPr>
          <a:xfrm>
            <a:off x="566928" y="4846320"/>
            <a:ext cx="3474720" cy="457200"/>
          </a:xfrm>
          <a:prstGeom prst="rect">
            <a:avLst/>
          </a:prstGeom>
          <a:noFill/>
          <a:ln/>
        </p:spPr>
        <p:txBody>
          <a:bodyPr wrap="square" lIns="0" tIns="0" rIns="0" bIns="0" rtlCol="0" anchor="t"/>
          <a:lstStyle/>
          <a:p>
            <a:pPr indent="0" marL="0">
              <a:buNone/>
            </a:pPr>
            <a:r>
              <a:rPr lang="en-US" sz="1150" dirty="0">
                <a:solidFill>
                  <a:srgbClr val="8A9AA8"/>
                </a:solidFill>
                <a:latin typeface="Calibri" pitchFamily="34" charset="0"/>
                <a:ea typeface="Calibri" pitchFamily="34" charset="-122"/>
                <a:cs typeface="Calibri" pitchFamily="34" charset="-120"/>
              </a:rPr>
              <a:t>use cases, both defensible</a:t>
            </a:r>
            <a:endParaRPr lang="en-US" sz="1150" dirty="0"/>
          </a:p>
        </p:txBody>
      </p:sp>
      <p:sp>
        <p:nvSpPr>
          <p:cNvPr id="8" name="Text 6"/>
          <p:cNvSpPr txBox="1"/>
          <p:nvPr/>
        </p:nvSpPr>
        <p:spPr>
          <a:xfrm>
            <a:off x="4270248" y="4343400"/>
            <a:ext cx="3474720" cy="502920"/>
          </a:xfrm>
          <a:prstGeom prst="rect">
            <a:avLst/>
          </a:prstGeom>
          <a:noFill/>
          <a:ln/>
        </p:spPr>
        <p:txBody>
          <a:bodyPr wrap="square" lIns="0" tIns="0" rIns="0" bIns="0" rtlCol="0" anchor="ctr"/>
          <a:lstStyle/>
          <a:p>
            <a:pPr indent="0" marL="0">
              <a:buNone/>
            </a:pPr>
            <a:r>
              <a:rPr lang="en-US" sz="3000" b="1" dirty="0">
                <a:solidFill>
                  <a:srgbClr val="6FA8CE"/>
                </a:solidFill>
                <a:latin typeface="Cambria" pitchFamily="34" charset="0"/>
                <a:ea typeface="Cambria" pitchFamily="34" charset="-122"/>
                <a:cs typeface="Cambria" pitchFamily="34" charset="-120"/>
              </a:rPr>
              <a:t>65</a:t>
            </a:r>
            <a:endParaRPr lang="en-US" sz="3000" dirty="0"/>
          </a:p>
        </p:txBody>
      </p:sp>
      <p:sp>
        <p:nvSpPr>
          <p:cNvPr id="9" name="Text 7"/>
          <p:cNvSpPr txBox="1"/>
          <p:nvPr/>
        </p:nvSpPr>
        <p:spPr>
          <a:xfrm>
            <a:off x="4270248" y="4846320"/>
            <a:ext cx="3474720" cy="457200"/>
          </a:xfrm>
          <a:prstGeom prst="rect">
            <a:avLst/>
          </a:prstGeom>
          <a:noFill/>
          <a:ln/>
        </p:spPr>
        <p:txBody>
          <a:bodyPr wrap="square" lIns="0" tIns="0" rIns="0" bIns="0" rtlCol="0" anchor="t"/>
          <a:lstStyle/>
          <a:p>
            <a:pPr indent="0" marL="0">
              <a:buNone/>
            </a:pPr>
            <a:r>
              <a:rPr lang="en-US" sz="1150" dirty="0">
                <a:solidFill>
                  <a:srgbClr val="8A9AA8"/>
                </a:solidFill>
                <a:latin typeface="Calibri" pitchFamily="34" charset="0"/>
                <a:ea typeface="Calibri" pitchFamily="34" charset="-122"/>
                <a:cs typeface="Calibri" pitchFamily="34" charset="-120"/>
              </a:rPr>
              <a:t>tests, including the governance and evidence layers</a:t>
            </a:r>
            <a:endParaRPr lang="en-US" sz="1150" dirty="0"/>
          </a:p>
        </p:txBody>
      </p:sp>
      <p:sp>
        <p:nvSpPr>
          <p:cNvPr id="10" name="Text 8"/>
          <p:cNvSpPr txBox="1"/>
          <p:nvPr/>
        </p:nvSpPr>
        <p:spPr>
          <a:xfrm>
            <a:off x="7973568" y="4343400"/>
            <a:ext cx="3474720" cy="502920"/>
          </a:xfrm>
          <a:prstGeom prst="rect">
            <a:avLst/>
          </a:prstGeom>
          <a:noFill/>
          <a:ln/>
        </p:spPr>
        <p:txBody>
          <a:bodyPr wrap="square" lIns="0" tIns="0" rIns="0" bIns="0" rtlCol="0" anchor="ctr"/>
          <a:lstStyle/>
          <a:p>
            <a:pPr indent="0" marL="0">
              <a:buNone/>
            </a:pPr>
            <a:r>
              <a:rPr lang="en-US" sz="3000" b="1" dirty="0">
                <a:solidFill>
                  <a:srgbClr val="6FA8CE"/>
                </a:solidFill>
                <a:latin typeface="Cambria" pitchFamily="34" charset="0"/>
                <a:ea typeface="Cambria" pitchFamily="34" charset="-122"/>
                <a:cs typeface="Cambria" pitchFamily="34" charset="-120"/>
              </a:rPr>
              <a:t>30 x 30</a:t>
            </a:r>
            <a:endParaRPr lang="en-US" sz="3000" dirty="0"/>
          </a:p>
        </p:txBody>
      </p:sp>
      <p:sp>
        <p:nvSpPr>
          <p:cNvPr id="11" name="Text 9"/>
          <p:cNvSpPr txBox="1"/>
          <p:nvPr/>
        </p:nvSpPr>
        <p:spPr>
          <a:xfrm>
            <a:off x="7973568" y="4846320"/>
            <a:ext cx="3474720" cy="457200"/>
          </a:xfrm>
          <a:prstGeom prst="rect">
            <a:avLst/>
          </a:prstGeom>
          <a:noFill/>
          <a:ln/>
        </p:spPr>
        <p:txBody>
          <a:bodyPr wrap="square" lIns="0" tIns="0" rIns="0" bIns="0" rtlCol="0" anchor="t"/>
          <a:lstStyle/>
          <a:p>
            <a:pPr indent="0" marL="0">
              <a:buNone/>
            </a:pPr>
            <a:r>
              <a:rPr lang="en-US" sz="1150" dirty="0">
                <a:solidFill>
                  <a:srgbClr val="8A9AA8"/>
                </a:solidFill>
                <a:latin typeface="Calibri" pitchFamily="34" charset="0"/>
                <a:ea typeface="Calibri" pitchFamily="34" charset="-122"/>
                <a:cs typeface="Calibri" pitchFamily="34" charset="-120"/>
              </a:rPr>
              <a:t>seed benchmark, reproducible from one script</a:t>
            </a:r>
            <a:endParaRPr lang="en-US" sz="1150" dirty="0"/>
          </a:p>
        </p:txBody>
      </p:sp>
      <p:sp>
        <p:nvSpPr>
          <p:cNvPr id="12" name="Text 10"/>
          <p:cNvSpPr txBox="1"/>
          <p:nvPr/>
        </p:nvSpPr>
        <p:spPr>
          <a:xfrm>
            <a:off x="566928" y="5989320"/>
            <a:ext cx="11055096" cy="320040"/>
          </a:xfrm>
          <a:prstGeom prst="rect">
            <a:avLst/>
          </a:prstGeom>
          <a:noFill/>
          <a:ln/>
        </p:spPr>
        <p:txBody>
          <a:bodyPr wrap="square" lIns="0" tIns="0" rIns="0" bIns="0" rtlCol="0" anchor="ctr"/>
          <a:lstStyle/>
          <a:p>
            <a:pPr indent="0" marL="0">
              <a:buNone/>
            </a:pPr>
            <a:r>
              <a:rPr lang="en-US" sz="1100" i="1" dirty="0">
                <a:solidFill>
                  <a:srgbClr val="6B7C8A"/>
                </a:solidFill>
                <a:latin typeface="Calibri" pitchFamily="34" charset="0"/>
                <a:ea typeface="Calibri" pitchFamily="34" charset="-122"/>
                <a:cs typeface="Calibri" pitchFamily="34" charset="-120"/>
              </a:rPr>
              <a:t>A self-driving-lab orchestration prototype for materials discovery  ·  not a physics simulator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2852928" cy="292608"/>
          </a:xfrm>
          <a:prstGeom prst="roundRect">
            <a:avLst>
              <a:gd name="adj" fmla="val 50000"/>
            </a:avLst>
          </a:prstGeom>
          <a:solidFill>
            <a:srgbClr val="1F5F8B"/>
          </a:solidFill>
          <a:ln w="12700">
            <a:solidFill>
              <a:srgbClr val="1F5F8B"/>
            </a:solidFill>
            <a:prstDash val="solid"/>
          </a:ln>
        </p:spPr>
      </p:sp>
      <p:sp>
        <p:nvSpPr>
          <p:cNvPr id="3" name="Text 1"/>
          <p:cNvSpPr txBox="1"/>
          <p:nvPr/>
        </p:nvSpPr>
        <p:spPr>
          <a:xfrm>
            <a:off x="566928" y="384048"/>
            <a:ext cx="285292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01  ·  THE PROBLEM</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Predictions outpace validation</a:t>
            </a:r>
            <a:endParaRPr lang="en-US" sz="3400" dirty="0"/>
          </a:p>
        </p:txBody>
      </p:sp>
      <p:sp>
        <p:nvSpPr>
          <p:cNvPr id="5" name="Text 3"/>
          <p:cNvSpPr txBox="1"/>
          <p:nvPr/>
        </p:nvSpPr>
        <p:spPr>
          <a:xfrm>
            <a:off x="566928" y="1572768"/>
            <a:ext cx="11055096" cy="420624"/>
          </a:xfrm>
          <a:prstGeom prst="rect">
            <a:avLst/>
          </a:prstGeom>
          <a:noFill/>
          <a:ln/>
        </p:spPr>
        <p:txBody>
          <a:bodyPr wrap="square" lIns="0" tIns="0" rIns="0" bIns="0" rtlCol="0" anchor="t"/>
          <a:lstStyle/>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Models propose candidates far faster than labs can evaluate them. The bottleneck is not model</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accuracy — it is that a prediction does not automatically become an experiment, an experiment does not</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automatically become trustworthy data, and trustworthy data does not automatically become a decision.</a:t>
            </a:r>
            <a:endParaRPr lang="en-US" sz="1450" dirty="0"/>
          </a:p>
        </p:txBody>
      </p:sp>
      <p:sp>
        <p:nvSpPr>
          <p:cNvPr id="6" name="Shape 4"/>
          <p:cNvSpPr/>
          <p:nvPr/>
        </p:nvSpPr>
        <p:spPr>
          <a:xfrm>
            <a:off x="566928" y="2880360"/>
            <a:ext cx="5669280" cy="603504"/>
          </a:xfrm>
          <a:prstGeom prst="roundRect">
            <a:avLst>
              <a:gd name="adj" fmla="val 12121"/>
            </a:avLst>
          </a:prstGeom>
          <a:solidFill>
            <a:srgbClr val="FFFFFF"/>
          </a:solidFill>
          <a:ln w="9525">
            <a:solidFill>
              <a:srgbClr val="D4DCE3"/>
            </a:solidFill>
            <a:prstDash val="solid"/>
          </a:ln>
        </p:spPr>
      </p:sp>
      <p:sp>
        <p:nvSpPr>
          <p:cNvPr id="7" name="Shape 5"/>
          <p:cNvSpPr/>
          <p:nvPr/>
        </p:nvSpPr>
        <p:spPr>
          <a:xfrm>
            <a:off x="731520" y="3054096"/>
            <a:ext cx="256032" cy="256032"/>
          </a:xfrm>
          <a:prstGeom prst="roundRect">
            <a:avLst>
              <a:gd name="adj" fmla="val 50000"/>
            </a:avLst>
          </a:prstGeom>
          <a:solidFill>
            <a:srgbClr val="C2410C"/>
          </a:solidFill>
          <a:ln w="12700">
            <a:solidFill>
              <a:srgbClr val="C2410C"/>
            </a:solidFill>
            <a:prstDash val="solid"/>
          </a:ln>
        </p:spPr>
      </p:sp>
      <p:sp>
        <p:nvSpPr>
          <p:cNvPr id="8" name="Text 6"/>
          <p:cNvSpPr txBox="1"/>
          <p:nvPr/>
        </p:nvSpPr>
        <p:spPr>
          <a:xfrm>
            <a:off x="1115568" y="2916936"/>
            <a:ext cx="3017520" cy="274320"/>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What should we try next?</a:t>
            </a:r>
            <a:endParaRPr lang="en-US" sz="1250" dirty="0"/>
          </a:p>
        </p:txBody>
      </p:sp>
      <p:sp>
        <p:nvSpPr>
          <p:cNvPr id="9" name="Text 7"/>
          <p:cNvSpPr txBox="1"/>
          <p:nvPr/>
        </p:nvSpPr>
        <p:spPr>
          <a:xfrm>
            <a:off x="1115568" y="3172968"/>
            <a:ext cx="4937760" cy="274320"/>
          </a:xfrm>
          <a:prstGeom prst="rect">
            <a:avLst/>
          </a:prstGeom>
          <a:noFill/>
          <a:ln/>
        </p:spPr>
        <p:txBody>
          <a:bodyPr wrap="square" lIns="0" tIns="0" rIns="0" bIns="0" rtlCol="0" anchor="ctr"/>
          <a:lstStyle/>
          <a:p>
            <a:pPr indent="0" marL="0">
              <a:buNone/>
            </a:pPr>
            <a:r>
              <a:rPr lang="en-US" sz="1050" dirty="0">
                <a:solidFill>
                  <a:srgbClr val="5B6B78"/>
                </a:solidFill>
                <a:latin typeface="Calibri" pitchFamily="34" charset="0"/>
                <a:ea typeface="Calibri" pitchFamily="34" charset="-122"/>
                <a:cs typeface="Calibri" pitchFamily="34" charset="-120"/>
              </a:rPr>
              <a:t>and by whose definition of a good result</a:t>
            </a:r>
            <a:endParaRPr lang="en-US" sz="1050" dirty="0"/>
          </a:p>
        </p:txBody>
      </p:sp>
      <p:sp>
        <p:nvSpPr>
          <p:cNvPr id="10" name="Shape 8"/>
          <p:cNvSpPr/>
          <p:nvPr/>
        </p:nvSpPr>
        <p:spPr>
          <a:xfrm>
            <a:off x="566928" y="3630168"/>
            <a:ext cx="5669280" cy="603504"/>
          </a:xfrm>
          <a:prstGeom prst="roundRect">
            <a:avLst>
              <a:gd name="adj" fmla="val 12121"/>
            </a:avLst>
          </a:prstGeom>
          <a:solidFill>
            <a:srgbClr val="FFFFFF"/>
          </a:solidFill>
          <a:ln w="9525">
            <a:solidFill>
              <a:srgbClr val="D4DCE3"/>
            </a:solidFill>
            <a:prstDash val="solid"/>
          </a:ln>
        </p:spPr>
      </p:sp>
      <p:sp>
        <p:nvSpPr>
          <p:cNvPr id="11" name="Shape 9"/>
          <p:cNvSpPr/>
          <p:nvPr/>
        </p:nvSpPr>
        <p:spPr>
          <a:xfrm>
            <a:off x="731520" y="3803904"/>
            <a:ext cx="256032" cy="256032"/>
          </a:xfrm>
          <a:prstGeom prst="roundRect">
            <a:avLst>
              <a:gd name="adj" fmla="val 50000"/>
            </a:avLst>
          </a:prstGeom>
          <a:solidFill>
            <a:srgbClr val="C2410C"/>
          </a:solidFill>
          <a:ln w="12700">
            <a:solidFill>
              <a:srgbClr val="C2410C"/>
            </a:solidFill>
            <a:prstDash val="solid"/>
          </a:ln>
        </p:spPr>
      </p:sp>
      <p:sp>
        <p:nvSpPr>
          <p:cNvPr id="12" name="Text 10"/>
          <p:cNvSpPr txBox="1"/>
          <p:nvPr/>
        </p:nvSpPr>
        <p:spPr>
          <a:xfrm>
            <a:off x="1115568" y="3666744"/>
            <a:ext cx="3017520" cy="274320"/>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Is it safe to run?</a:t>
            </a:r>
            <a:endParaRPr lang="en-US" sz="1250" dirty="0"/>
          </a:p>
        </p:txBody>
      </p:sp>
      <p:sp>
        <p:nvSpPr>
          <p:cNvPr id="13" name="Text 11"/>
          <p:cNvSpPr txBox="1"/>
          <p:nvPr/>
        </p:nvSpPr>
        <p:spPr>
          <a:xfrm>
            <a:off x="1115568" y="3922776"/>
            <a:ext cx="4937760" cy="274320"/>
          </a:xfrm>
          <a:prstGeom prst="rect">
            <a:avLst/>
          </a:prstGeom>
          <a:noFill/>
          <a:ln/>
        </p:spPr>
        <p:txBody>
          <a:bodyPr wrap="square" lIns="0" tIns="0" rIns="0" bIns="0" rtlCol="0" anchor="ctr"/>
          <a:lstStyle/>
          <a:p>
            <a:pPr indent="0" marL="0">
              <a:buNone/>
            </a:pPr>
            <a:r>
              <a:rPr lang="en-US" sz="1050" dirty="0">
                <a:solidFill>
                  <a:srgbClr val="5B6B78"/>
                </a:solidFill>
                <a:latin typeface="Calibri" pitchFamily="34" charset="0"/>
                <a:ea typeface="Calibri" pitchFamily="34" charset="-122"/>
                <a:cs typeface="Calibri" pitchFamily="34" charset="-120"/>
              </a:rPr>
              <a:t>individually legal values can be jointly unsafe</a:t>
            </a:r>
            <a:endParaRPr lang="en-US" sz="1050" dirty="0"/>
          </a:p>
        </p:txBody>
      </p:sp>
      <p:sp>
        <p:nvSpPr>
          <p:cNvPr id="14" name="Shape 12"/>
          <p:cNvSpPr/>
          <p:nvPr/>
        </p:nvSpPr>
        <p:spPr>
          <a:xfrm>
            <a:off x="566928" y="4379976"/>
            <a:ext cx="5669280" cy="603504"/>
          </a:xfrm>
          <a:prstGeom prst="roundRect">
            <a:avLst>
              <a:gd name="adj" fmla="val 12121"/>
            </a:avLst>
          </a:prstGeom>
          <a:solidFill>
            <a:srgbClr val="FFFFFF"/>
          </a:solidFill>
          <a:ln w="9525">
            <a:solidFill>
              <a:srgbClr val="D4DCE3"/>
            </a:solidFill>
            <a:prstDash val="solid"/>
          </a:ln>
        </p:spPr>
      </p:sp>
      <p:sp>
        <p:nvSpPr>
          <p:cNvPr id="15" name="Shape 13"/>
          <p:cNvSpPr/>
          <p:nvPr/>
        </p:nvSpPr>
        <p:spPr>
          <a:xfrm>
            <a:off x="731520" y="4553712"/>
            <a:ext cx="256032" cy="256032"/>
          </a:xfrm>
          <a:prstGeom prst="roundRect">
            <a:avLst>
              <a:gd name="adj" fmla="val 50000"/>
            </a:avLst>
          </a:prstGeom>
          <a:solidFill>
            <a:srgbClr val="C2410C"/>
          </a:solidFill>
          <a:ln w="12700">
            <a:solidFill>
              <a:srgbClr val="C2410C"/>
            </a:solidFill>
            <a:prstDash val="solid"/>
          </a:ln>
        </p:spPr>
      </p:sp>
      <p:sp>
        <p:nvSpPr>
          <p:cNvPr id="16" name="Text 14"/>
          <p:cNvSpPr txBox="1"/>
          <p:nvPr/>
        </p:nvSpPr>
        <p:spPr>
          <a:xfrm>
            <a:off x="1115568" y="4416552"/>
            <a:ext cx="3017520" cy="274320"/>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Did it actually run?</a:t>
            </a:r>
            <a:endParaRPr lang="en-US" sz="1250" dirty="0"/>
          </a:p>
        </p:txBody>
      </p:sp>
      <p:sp>
        <p:nvSpPr>
          <p:cNvPr id="17" name="Text 15"/>
          <p:cNvSpPr txBox="1"/>
          <p:nvPr/>
        </p:nvSpPr>
        <p:spPr>
          <a:xfrm>
            <a:off x="1115568" y="4672584"/>
            <a:ext cx="4937760" cy="274320"/>
          </a:xfrm>
          <a:prstGeom prst="rect">
            <a:avLst/>
          </a:prstGeom>
          <a:noFill/>
          <a:ln/>
        </p:spPr>
        <p:txBody>
          <a:bodyPr wrap="square" lIns="0" tIns="0" rIns="0" bIns="0" rtlCol="0" anchor="ctr"/>
          <a:lstStyle/>
          <a:p>
            <a:pPr indent="0" marL="0">
              <a:buNone/>
            </a:pPr>
            <a:r>
              <a:rPr lang="en-US" sz="1050" dirty="0">
                <a:solidFill>
                  <a:srgbClr val="5B6B78"/>
                </a:solidFill>
                <a:latin typeface="Calibri" pitchFamily="34" charset="0"/>
                <a:ea typeface="Calibri" pitchFamily="34" charset="-122"/>
                <a:cs typeface="Calibri" pitchFamily="34" charset="-120"/>
              </a:rPr>
              <a:t>or did it fail, and was the failure recorded</a:t>
            </a:r>
            <a:endParaRPr lang="en-US" sz="1050" dirty="0"/>
          </a:p>
        </p:txBody>
      </p:sp>
      <p:sp>
        <p:nvSpPr>
          <p:cNvPr id="18" name="Shape 16"/>
          <p:cNvSpPr/>
          <p:nvPr/>
        </p:nvSpPr>
        <p:spPr>
          <a:xfrm>
            <a:off x="566928" y="5129784"/>
            <a:ext cx="5669280" cy="603504"/>
          </a:xfrm>
          <a:prstGeom prst="roundRect">
            <a:avLst>
              <a:gd name="adj" fmla="val 12121"/>
            </a:avLst>
          </a:prstGeom>
          <a:solidFill>
            <a:srgbClr val="FFFFFF"/>
          </a:solidFill>
          <a:ln w="9525">
            <a:solidFill>
              <a:srgbClr val="D4DCE3"/>
            </a:solidFill>
            <a:prstDash val="solid"/>
          </a:ln>
        </p:spPr>
      </p:sp>
      <p:sp>
        <p:nvSpPr>
          <p:cNvPr id="19" name="Shape 17"/>
          <p:cNvSpPr/>
          <p:nvPr/>
        </p:nvSpPr>
        <p:spPr>
          <a:xfrm>
            <a:off x="731520" y="5303520"/>
            <a:ext cx="256032" cy="256032"/>
          </a:xfrm>
          <a:prstGeom prst="roundRect">
            <a:avLst>
              <a:gd name="adj" fmla="val 50000"/>
            </a:avLst>
          </a:prstGeom>
          <a:solidFill>
            <a:srgbClr val="C2410C"/>
          </a:solidFill>
          <a:ln w="12700">
            <a:solidFill>
              <a:srgbClr val="C2410C"/>
            </a:solidFill>
            <a:prstDash val="solid"/>
          </a:ln>
        </p:spPr>
      </p:sp>
      <p:sp>
        <p:nvSpPr>
          <p:cNvPr id="20" name="Text 18"/>
          <p:cNvSpPr txBox="1"/>
          <p:nvPr/>
        </p:nvSpPr>
        <p:spPr>
          <a:xfrm>
            <a:off x="1115568" y="5166360"/>
            <a:ext cx="3017520" cy="274320"/>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Is the data good enough?</a:t>
            </a:r>
            <a:endParaRPr lang="en-US" sz="1250" dirty="0"/>
          </a:p>
        </p:txBody>
      </p:sp>
      <p:sp>
        <p:nvSpPr>
          <p:cNvPr id="21" name="Text 19"/>
          <p:cNvSpPr txBox="1"/>
          <p:nvPr/>
        </p:nvSpPr>
        <p:spPr>
          <a:xfrm>
            <a:off x="1115568" y="5422392"/>
            <a:ext cx="4937760" cy="274320"/>
          </a:xfrm>
          <a:prstGeom prst="rect">
            <a:avLst/>
          </a:prstGeom>
          <a:noFill/>
          <a:ln/>
        </p:spPr>
        <p:txBody>
          <a:bodyPr wrap="square" lIns="0" tIns="0" rIns="0" bIns="0" rtlCol="0" anchor="ctr"/>
          <a:lstStyle/>
          <a:p>
            <a:pPr indent="0" marL="0">
              <a:buNone/>
            </a:pPr>
            <a:r>
              <a:rPr lang="en-US" sz="1050" dirty="0">
                <a:solidFill>
                  <a:srgbClr val="5B6B78"/>
                </a:solidFill>
                <a:latin typeface="Calibri" pitchFamily="34" charset="0"/>
                <a:ea typeface="Calibri" pitchFamily="34" charset="-122"/>
                <a:cs typeface="Calibri" pitchFamily="34" charset="-120"/>
              </a:rPr>
              <a:t>not every completed run deserves to be believed</a:t>
            </a:r>
            <a:endParaRPr lang="en-US" sz="1050" dirty="0"/>
          </a:p>
        </p:txBody>
      </p:sp>
      <p:sp>
        <p:nvSpPr>
          <p:cNvPr id="22" name="Shape 20"/>
          <p:cNvSpPr/>
          <p:nvPr/>
        </p:nvSpPr>
        <p:spPr>
          <a:xfrm>
            <a:off x="566928" y="5879592"/>
            <a:ext cx="5669280" cy="603504"/>
          </a:xfrm>
          <a:prstGeom prst="roundRect">
            <a:avLst>
              <a:gd name="adj" fmla="val 12121"/>
            </a:avLst>
          </a:prstGeom>
          <a:solidFill>
            <a:srgbClr val="FFFFFF"/>
          </a:solidFill>
          <a:ln w="9525">
            <a:solidFill>
              <a:srgbClr val="D4DCE3"/>
            </a:solidFill>
            <a:prstDash val="solid"/>
          </a:ln>
        </p:spPr>
      </p:sp>
      <p:sp>
        <p:nvSpPr>
          <p:cNvPr id="23" name="Shape 21"/>
          <p:cNvSpPr/>
          <p:nvPr/>
        </p:nvSpPr>
        <p:spPr>
          <a:xfrm>
            <a:off x="731520" y="6053328"/>
            <a:ext cx="256032" cy="256032"/>
          </a:xfrm>
          <a:prstGeom prst="roundRect">
            <a:avLst>
              <a:gd name="adj" fmla="val 50000"/>
            </a:avLst>
          </a:prstGeom>
          <a:solidFill>
            <a:srgbClr val="C2410C"/>
          </a:solidFill>
          <a:ln w="12700">
            <a:solidFill>
              <a:srgbClr val="C2410C"/>
            </a:solidFill>
            <a:prstDash val="solid"/>
          </a:ln>
        </p:spPr>
      </p:sp>
      <p:sp>
        <p:nvSpPr>
          <p:cNvPr id="24" name="Text 22"/>
          <p:cNvSpPr txBox="1"/>
          <p:nvPr/>
        </p:nvSpPr>
        <p:spPr>
          <a:xfrm>
            <a:off x="1115568" y="5916168"/>
            <a:ext cx="3017520" cy="274320"/>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What did we learn?</a:t>
            </a:r>
            <a:endParaRPr lang="en-US" sz="1250" dirty="0"/>
          </a:p>
        </p:txBody>
      </p:sp>
      <p:sp>
        <p:nvSpPr>
          <p:cNvPr id="25" name="Text 23"/>
          <p:cNvSpPr txBox="1"/>
          <p:nvPr/>
        </p:nvSpPr>
        <p:spPr>
          <a:xfrm>
            <a:off x="1115568" y="6172200"/>
            <a:ext cx="4937760" cy="274320"/>
          </a:xfrm>
          <a:prstGeom prst="rect">
            <a:avLst/>
          </a:prstGeom>
          <a:noFill/>
          <a:ln/>
        </p:spPr>
        <p:txBody>
          <a:bodyPr wrap="square" lIns="0" tIns="0" rIns="0" bIns="0" rtlCol="0" anchor="ctr"/>
          <a:lstStyle/>
          <a:p>
            <a:pPr indent="0" marL="0">
              <a:buNone/>
            </a:pPr>
            <a:r>
              <a:rPr lang="en-US" sz="1050" dirty="0">
                <a:solidFill>
                  <a:srgbClr val="5B6B78"/>
                </a:solidFill>
                <a:latin typeface="Calibri" pitchFamily="34" charset="0"/>
                <a:ea typeface="Calibri" pitchFamily="34" charset="-122"/>
                <a:cs typeface="Calibri" pitchFamily="34" charset="-120"/>
              </a:rPr>
              <a:t>which hypothesis did this settle, if any</a:t>
            </a:r>
            <a:endParaRPr lang="en-US" sz="1050" dirty="0"/>
          </a:p>
        </p:txBody>
      </p:sp>
      <p:sp>
        <p:nvSpPr>
          <p:cNvPr id="26" name="Shape 24"/>
          <p:cNvSpPr/>
          <p:nvPr/>
        </p:nvSpPr>
        <p:spPr>
          <a:xfrm>
            <a:off x="6675120" y="2880360"/>
            <a:ext cx="4937760" cy="3657600"/>
          </a:xfrm>
          <a:prstGeom prst="roundRect">
            <a:avLst>
              <a:gd name="adj" fmla="val 2000"/>
            </a:avLst>
          </a:prstGeom>
          <a:solidFill>
            <a:srgbClr val="18222B"/>
          </a:solidFill>
          <a:ln w="9525">
            <a:solidFill>
              <a:srgbClr val="18222B"/>
            </a:solidFill>
            <a:prstDash val="solid"/>
          </a:ln>
        </p:spPr>
      </p:sp>
      <p:sp>
        <p:nvSpPr>
          <p:cNvPr id="27" name="Text 25"/>
          <p:cNvSpPr txBox="1"/>
          <p:nvPr/>
        </p:nvSpPr>
        <p:spPr>
          <a:xfrm>
            <a:off x="6967728" y="3200400"/>
            <a:ext cx="4389120" cy="731520"/>
          </a:xfrm>
          <a:prstGeom prst="rect">
            <a:avLst/>
          </a:prstGeom>
          <a:noFill/>
          <a:ln/>
        </p:spPr>
        <p:txBody>
          <a:bodyPr wrap="square" lIns="0" tIns="0" rIns="0" bIns="0" rtlCol="0" anchor="t"/>
          <a:lstStyle/>
          <a:p>
            <a:pPr indent="0" marL="0">
              <a:lnSpc>
                <a:spcPts val="2600"/>
              </a:lnSpc>
              <a:buNone/>
            </a:pPr>
            <a:r>
              <a:rPr lang="en-US" sz="2000" b="1" dirty="0">
                <a:solidFill>
                  <a:srgbClr val="FFFFFF"/>
                </a:solidFill>
                <a:latin typeface="Cambria" pitchFamily="34" charset="0"/>
                <a:ea typeface="Cambria" pitchFamily="34" charset="-122"/>
                <a:cs typeface="Cambria" pitchFamily="34" charset="-120"/>
              </a:rPr>
              <a:t>Everything in that gap is operational.</a:t>
            </a:r>
            <a:endParaRPr lang="en-US" sz="2000" dirty="0"/>
          </a:p>
        </p:txBody>
      </p:sp>
      <p:sp>
        <p:nvSpPr>
          <p:cNvPr id="28" name="Text 26"/>
          <p:cNvSpPr txBox="1"/>
          <p:nvPr/>
        </p:nvSpPr>
        <p:spPr>
          <a:xfrm>
            <a:off x="6967728" y="4023360"/>
            <a:ext cx="4389120" cy="2286000"/>
          </a:xfrm>
          <a:prstGeom prst="rect">
            <a:avLst/>
          </a:prstGeom>
          <a:noFill/>
          <a:ln/>
        </p:spPr>
        <p:txBody>
          <a:bodyPr wrap="square" lIns="0" tIns="0" rIns="0" bIns="0" rtlCol="0" anchor="t"/>
          <a:lstStyle/>
          <a:p>
            <a:pPr indent="0" marL="0">
              <a:lnSpc>
                <a:spcPts val="1900"/>
              </a:lnSpc>
              <a:buNone/>
            </a:pPr>
            <a:r>
              <a:rPr lang="en-US" sz="1250" dirty="0">
                <a:solidFill>
                  <a:srgbClr val="C3D0DA"/>
                </a:solidFill>
                <a:latin typeface="Calibri" pitchFamily="34" charset="0"/>
                <a:ea typeface="Calibri" pitchFamily="34" charset="-122"/>
                <a:cs typeface="Calibri" pitchFamily="34" charset="-120"/>
              </a:rPr>
              <a:t>Scheduling. Validation. Safety review. Provenance. Data quality. Deciding what is even eligible to feed back into a model.</a:t>
            </a:r>
            <a:endParaRPr lang="en-US" sz="1250" dirty="0"/>
          </a:p>
          <a:p>
            <a:pPr indent="0" marL="0">
              <a:lnSpc>
                <a:spcPts val="1900"/>
              </a:lnSpc>
              <a:buNone/>
            </a:pPr>
            <a:endParaRPr lang="en-US" sz="1250" dirty="0"/>
          </a:p>
          <a:p>
            <a:pPr indent="0" marL="0">
              <a:lnSpc>
                <a:spcPts val="1900"/>
              </a:lnSpc>
              <a:buNone/>
            </a:pPr>
            <a:r>
              <a:rPr lang="en-US" sz="1250" dirty="0">
                <a:solidFill>
                  <a:srgbClr val="C3D0DA"/>
                </a:solidFill>
                <a:latin typeface="Calibri" pitchFamily="34" charset="0"/>
                <a:ea typeface="Calibri" pitchFamily="34" charset="-122"/>
                <a:cs typeface="Calibri" pitchFamily="34" charset="-120"/>
              </a:rPr>
              <a:t>None of it is a modelling problem. All of it decides how fast the loop actually turns — and the speed of that loop is the ceiling on how fast an AI-for-science programme can iterate.</a:t>
            </a:r>
            <a:endParaRPr lang="en-US" sz="1250" dirty="0"/>
          </a:p>
          <a:p>
            <a:pPr indent="0" marL="0">
              <a:lnSpc>
                <a:spcPts val="1900"/>
              </a:lnSpc>
              <a:buNone/>
            </a:pPr>
            <a:endParaRPr lang="en-US" sz="1250" dirty="0"/>
          </a:p>
          <a:p>
            <a:pPr indent="0" marL="0">
              <a:lnSpc>
                <a:spcPts val="1900"/>
              </a:lnSpc>
              <a:buNone/>
            </a:pPr>
            <a:r>
              <a:rPr lang="en-US" sz="1250" dirty="0">
                <a:solidFill>
                  <a:srgbClr val="C3D0DA"/>
                </a:solidFill>
                <a:latin typeface="Calibri" pitchFamily="34" charset="0"/>
                <a:ea typeface="Calibri" pitchFamily="34" charset="-122"/>
                <a:cs typeface="Calibri" pitchFamily="34" charset="-120"/>
              </a:rPr>
              <a:t>That gap is what I built.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2715768" cy="292608"/>
          </a:xfrm>
          <a:prstGeom prst="roundRect">
            <a:avLst>
              <a:gd name="adj" fmla="val 50000"/>
            </a:avLst>
          </a:prstGeom>
          <a:solidFill>
            <a:srgbClr val="1F5F8B"/>
          </a:solidFill>
          <a:ln w="12700">
            <a:solidFill>
              <a:srgbClr val="1F5F8B"/>
            </a:solidFill>
            <a:prstDash val="solid"/>
          </a:ln>
        </p:spPr>
      </p:sp>
      <p:sp>
        <p:nvSpPr>
          <p:cNvPr id="3" name="Text 1"/>
          <p:cNvSpPr txBox="1"/>
          <p:nvPr/>
        </p:nvSpPr>
        <p:spPr>
          <a:xfrm>
            <a:off x="566928" y="384048"/>
            <a:ext cx="271576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02  ·  THE SYSTEM</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Five layers, each answering one question</a:t>
            </a:r>
            <a:endParaRPr lang="en-US" sz="3400" dirty="0"/>
          </a:p>
        </p:txBody>
      </p:sp>
      <p:sp>
        <p:nvSpPr>
          <p:cNvPr id="5" name="Shape 3"/>
          <p:cNvSpPr/>
          <p:nvPr/>
        </p:nvSpPr>
        <p:spPr>
          <a:xfrm>
            <a:off x="566928" y="1828800"/>
            <a:ext cx="11055096" cy="749808"/>
          </a:xfrm>
          <a:prstGeom prst="roundRect">
            <a:avLst>
              <a:gd name="adj" fmla="val 9756"/>
            </a:avLst>
          </a:prstGeom>
          <a:solidFill>
            <a:srgbClr val="FFFFFF"/>
          </a:solidFill>
          <a:ln w="9525">
            <a:solidFill>
              <a:srgbClr val="D4DCE3"/>
            </a:solidFill>
            <a:prstDash val="solid"/>
          </a:ln>
        </p:spPr>
      </p:sp>
      <p:sp>
        <p:nvSpPr>
          <p:cNvPr id="6" name="Text 4"/>
          <p:cNvSpPr txBox="1"/>
          <p:nvPr/>
        </p:nvSpPr>
        <p:spPr>
          <a:xfrm>
            <a:off x="841248" y="1828800"/>
            <a:ext cx="2651760" cy="749808"/>
          </a:xfrm>
          <a:prstGeom prst="rect">
            <a:avLst/>
          </a:prstGeom>
          <a:noFill/>
          <a:ln/>
        </p:spPr>
        <p:txBody>
          <a:bodyPr wrap="square" lIns="0" tIns="0" rIns="0" bIns="0" rtlCol="0" anchor="ctr"/>
          <a:lstStyle/>
          <a:p>
            <a:pPr indent="0" marL="0">
              <a:buNone/>
            </a:pPr>
            <a:r>
              <a:rPr lang="en-US" sz="1500" b="1" dirty="0">
                <a:solidFill>
                  <a:srgbClr val="1F5F8B"/>
                </a:solidFill>
                <a:latin typeface="Cambria" pitchFamily="34" charset="0"/>
                <a:ea typeface="Cambria" pitchFamily="34" charset="-122"/>
                <a:cs typeface="Cambria" pitchFamily="34" charset="-120"/>
              </a:rPr>
              <a:t>Data contracts</a:t>
            </a:r>
            <a:endParaRPr lang="en-US" sz="1500" dirty="0"/>
          </a:p>
        </p:txBody>
      </p:sp>
      <p:sp>
        <p:nvSpPr>
          <p:cNvPr id="7" name="Text 5"/>
          <p:cNvSpPr txBox="1"/>
          <p:nvPr/>
        </p:nvSpPr>
        <p:spPr>
          <a:xfrm>
            <a:off x="3584448" y="1828800"/>
            <a:ext cx="6400800" cy="749808"/>
          </a:xfrm>
          <a:prstGeom prst="rect">
            <a:avLst/>
          </a:prstGeom>
          <a:noFill/>
          <a:ln/>
        </p:spPr>
        <p:txBody>
          <a:bodyPr wrap="square" lIns="0" tIns="0" rIns="0" bIns="0" rtlCol="0" anchor="ctr"/>
          <a:lstStyle/>
          <a:p>
            <a:pPr indent="0" marL="0">
              <a:buNone/>
            </a:pPr>
            <a:r>
              <a:rPr lang="en-US" sz="1250" dirty="0">
                <a:solidFill>
                  <a:srgbClr val="18222B"/>
                </a:solidFill>
                <a:latin typeface="Calibri" pitchFamily="34" charset="0"/>
                <a:ea typeface="Calibri" pitchFamily="34" charset="-122"/>
                <a:cs typeface="Calibri" pitchFamily="34" charset="-120"/>
              </a:rPr>
              <a:t>If a device changes its output shape, do we find out?</a:t>
            </a:r>
            <a:endParaRPr lang="en-US" sz="1250" dirty="0"/>
          </a:p>
        </p:txBody>
      </p:sp>
      <p:sp>
        <p:nvSpPr>
          <p:cNvPr id="8" name="Shape 6"/>
          <p:cNvSpPr/>
          <p:nvPr/>
        </p:nvSpPr>
        <p:spPr>
          <a:xfrm>
            <a:off x="10058400" y="2048256"/>
            <a:ext cx="914400" cy="310896"/>
          </a:xfrm>
          <a:prstGeom prst="roundRect">
            <a:avLst>
              <a:gd name="adj" fmla="val 50000"/>
            </a:avLst>
          </a:prstGeom>
          <a:solidFill>
            <a:srgbClr val="FDF3E3"/>
          </a:solidFill>
          <a:ln w="12700">
            <a:solidFill>
              <a:srgbClr val="EFD9AE"/>
            </a:solidFill>
            <a:prstDash val="solid"/>
          </a:ln>
        </p:spPr>
      </p:sp>
      <p:sp>
        <p:nvSpPr>
          <p:cNvPr id="9" name="Text 7"/>
          <p:cNvSpPr txBox="1"/>
          <p:nvPr/>
        </p:nvSpPr>
        <p:spPr>
          <a:xfrm>
            <a:off x="10058400" y="2048256"/>
            <a:ext cx="914400" cy="310896"/>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Partial</a:t>
            </a:r>
            <a:endParaRPr lang="en-US" sz="1000" dirty="0"/>
          </a:p>
        </p:txBody>
      </p:sp>
      <p:sp>
        <p:nvSpPr>
          <p:cNvPr id="10" name="Shape 8"/>
          <p:cNvSpPr/>
          <p:nvPr/>
        </p:nvSpPr>
        <p:spPr>
          <a:xfrm>
            <a:off x="566928" y="2724912"/>
            <a:ext cx="11055096" cy="749808"/>
          </a:xfrm>
          <a:prstGeom prst="roundRect">
            <a:avLst>
              <a:gd name="adj" fmla="val 9756"/>
            </a:avLst>
          </a:prstGeom>
          <a:solidFill>
            <a:srgbClr val="FFFFFF"/>
          </a:solidFill>
          <a:ln w="9525">
            <a:solidFill>
              <a:srgbClr val="D4DCE3"/>
            </a:solidFill>
            <a:prstDash val="solid"/>
          </a:ln>
        </p:spPr>
      </p:sp>
      <p:sp>
        <p:nvSpPr>
          <p:cNvPr id="11" name="Text 9"/>
          <p:cNvSpPr txBox="1"/>
          <p:nvPr/>
        </p:nvSpPr>
        <p:spPr>
          <a:xfrm>
            <a:off x="841248" y="2724912"/>
            <a:ext cx="2651760" cy="749808"/>
          </a:xfrm>
          <a:prstGeom prst="rect">
            <a:avLst/>
          </a:prstGeom>
          <a:noFill/>
          <a:ln/>
        </p:spPr>
        <p:txBody>
          <a:bodyPr wrap="square" lIns="0" tIns="0" rIns="0" bIns="0" rtlCol="0" anchor="ctr"/>
          <a:lstStyle/>
          <a:p>
            <a:pPr indent="0" marL="0">
              <a:buNone/>
            </a:pPr>
            <a:r>
              <a:rPr lang="en-US" sz="1500" b="1" dirty="0">
                <a:solidFill>
                  <a:srgbClr val="1F5F8B"/>
                </a:solidFill>
                <a:latin typeface="Cambria" pitchFamily="34" charset="0"/>
                <a:ea typeface="Cambria" pitchFamily="34" charset="-122"/>
                <a:cs typeface="Cambria" pitchFamily="34" charset="-120"/>
              </a:rPr>
              <a:t>Orchestration</a:t>
            </a:r>
            <a:endParaRPr lang="en-US" sz="1500" dirty="0"/>
          </a:p>
        </p:txBody>
      </p:sp>
      <p:sp>
        <p:nvSpPr>
          <p:cNvPr id="12" name="Text 10"/>
          <p:cNvSpPr txBox="1"/>
          <p:nvPr/>
        </p:nvSpPr>
        <p:spPr>
          <a:xfrm>
            <a:off x="3584448" y="2724912"/>
            <a:ext cx="6400800" cy="749808"/>
          </a:xfrm>
          <a:prstGeom prst="rect">
            <a:avLst/>
          </a:prstGeom>
          <a:noFill/>
          <a:ln/>
        </p:spPr>
        <p:txBody>
          <a:bodyPr wrap="square" lIns="0" tIns="0" rIns="0" bIns="0" rtlCol="0" anchor="ctr"/>
          <a:lstStyle/>
          <a:p>
            <a:pPr indent="0" marL="0">
              <a:buNone/>
            </a:pPr>
            <a:r>
              <a:rPr lang="en-US" sz="1250" dirty="0">
                <a:solidFill>
                  <a:srgbClr val="18222B"/>
                </a:solidFill>
                <a:latin typeface="Calibri" pitchFamily="34" charset="0"/>
                <a:ea typeface="Calibri" pitchFamily="34" charset="-122"/>
                <a:cs typeface="Calibri" pitchFamily="34" charset="-120"/>
              </a:rPr>
              <a:t>How does an intent become an auditable sequence of steps?</a:t>
            </a:r>
            <a:endParaRPr lang="en-US" sz="1250" dirty="0"/>
          </a:p>
        </p:txBody>
      </p:sp>
      <p:sp>
        <p:nvSpPr>
          <p:cNvPr id="13" name="Shape 11"/>
          <p:cNvSpPr/>
          <p:nvPr/>
        </p:nvSpPr>
        <p:spPr>
          <a:xfrm>
            <a:off x="10058400" y="2944368"/>
            <a:ext cx="914400" cy="310896"/>
          </a:xfrm>
          <a:prstGeom prst="roundRect">
            <a:avLst>
              <a:gd name="adj" fmla="val 50000"/>
            </a:avLst>
          </a:prstGeom>
          <a:solidFill>
            <a:srgbClr val="E6F2EA"/>
          </a:solidFill>
          <a:ln w="12700">
            <a:solidFill>
              <a:srgbClr val="BEDCC9"/>
            </a:solidFill>
            <a:prstDash val="solid"/>
          </a:ln>
        </p:spPr>
      </p:sp>
      <p:sp>
        <p:nvSpPr>
          <p:cNvPr id="14" name="Text 12"/>
          <p:cNvSpPr txBox="1"/>
          <p:nvPr/>
        </p:nvSpPr>
        <p:spPr>
          <a:xfrm>
            <a:off x="10058400" y="2944368"/>
            <a:ext cx="914400" cy="310896"/>
          </a:xfrm>
          <a:prstGeom prst="rect">
            <a:avLst/>
          </a:prstGeom>
          <a:noFill/>
          <a:ln/>
        </p:spPr>
        <p:txBody>
          <a:bodyPr wrap="square" lIns="0" tIns="0" rIns="0" bIns="0" rtlCol="0" anchor="ctr"/>
          <a:lstStyle/>
          <a:p>
            <a:pPr algn="ctr" indent="0" marL="0">
              <a:buNone/>
            </a:pPr>
            <a:r>
              <a:rPr lang="en-US" sz="1000" b="1" dirty="0">
                <a:solidFill>
                  <a:srgbClr val="15803D"/>
                </a:solidFill>
                <a:latin typeface="Calibri" pitchFamily="34" charset="0"/>
                <a:ea typeface="Calibri" pitchFamily="34" charset="-122"/>
                <a:cs typeface="Calibri" pitchFamily="34" charset="-120"/>
              </a:rPr>
              <a:t>Done</a:t>
            </a:r>
            <a:endParaRPr lang="en-US" sz="1000" dirty="0"/>
          </a:p>
        </p:txBody>
      </p:sp>
      <p:sp>
        <p:nvSpPr>
          <p:cNvPr id="15" name="Shape 13"/>
          <p:cNvSpPr/>
          <p:nvPr/>
        </p:nvSpPr>
        <p:spPr>
          <a:xfrm>
            <a:off x="566928" y="3621024"/>
            <a:ext cx="11055096" cy="749808"/>
          </a:xfrm>
          <a:prstGeom prst="roundRect">
            <a:avLst>
              <a:gd name="adj" fmla="val 9756"/>
            </a:avLst>
          </a:prstGeom>
          <a:solidFill>
            <a:srgbClr val="FFFFFF"/>
          </a:solidFill>
          <a:ln w="9525">
            <a:solidFill>
              <a:srgbClr val="D4DCE3"/>
            </a:solidFill>
            <a:prstDash val="solid"/>
          </a:ln>
        </p:spPr>
      </p:sp>
      <p:sp>
        <p:nvSpPr>
          <p:cNvPr id="16" name="Text 14"/>
          <p:cNvSpPr txBox="1"/>
          <p:nvPr/>
        </p:nvSpPr>
        <p:spPr>
          <a:xfrm>
            <a:off x="841248" y="3621024"/>
            <a:ext cx="2651760" cy="749808"/>
          </a:xfrm>
          <a:prstGeom prst="rect">
            <a:avLst/>
          </a:prstGeom>
          <a:noFill/>
          <a:ln/>
        </p:spPr>
        <p:txBody>
          <a:bodyPr wrap="square" lIns="0" tIns="0" rIns="0" bIns="0" rtlCol="0" anchor="ctr"/>
          <a:lstStyle/>
          <a:p>
            <a:pPr indent="0" marL="0">
              <a:buNone/>
            </a:pPr>
            <a:r>
              <a:rPr lang="en-US" sz="1500" b="1" dirty="0">
                <a:solidFill>
                  <a:srgbClr val="1F5F8B"/>
                </a:solidFill>
                <a:latin typeface="Cambria" pitchFamily="34" charset="0"/>
                <a:ea typeface="Cambria" pitchFamily="34" charset="-122"/>
                <a:cs typeface="Cambria" pitchFamily="34" charset="-120"/>
              </a:rPr>
              <a:t>Experiment data</a:t>
            </a:r>
            <a:endParaRPr lang="en-US" sz="1500" dirty="0"/>
          </a:p>
        </p:txBody>
      </p:sp>
      <p:sp>
        <p:nvSpPr>
          <p:cNvPr id="17" name="Text 15"/>
          <p:cNvSpPr txBox="1"/>
          <p:nvPr/>
        </p:nvSpPr>
        <p:spPr>
          <a:xfrm>
            <a:off x="3584448" y="3621024"/>
            <a:ext cx="6400800" cy="749808"/>
          </a:xfrm>
          <a:prstGeom prst="rect">
            <a:avLst/>
          </a:prstGeom>
          <a:noFill/>
          <a:ln/>
        </p:spPr>
        <p:txBody>
          <a:bodyPr wrap="square" lIns="0" tIns="0" rIns="0" bIns="0" rtlCol="0" anchor="ctr"/>
          <a:lstStyle/>
          <a:p>
            <a:pPr indent="0" marL="0">
              <a:buNone/>
            </a:pPr>
            <a:r>
              <a:rPr lang="en-US" sz="1250" dirty="0">
                <a:solidFill>
                  <a:srgbClr val="18222B"/>
                </a:solidFill>
                <a:latin typeface="Calibri" pitchFamily="34" charset="0"/>
                <a:ea typeface="Calibri" pitchFamily="34" charset="-122"/>
                <a:cs typeface="Calibri" pitchFamily="34" charset="-120"/>
              </a:rPr>
              <a:t>What is the system's memory? Do failures count as data?</a:t>
            </a:r>
            <a:endParaRPr lang="en-US" sz="1250" dirty="0"/>
          </a:p>
        </p:txBody>
      </p:sp>
      <p:sp>
        <p:nvSpPr>
          <p:cNvPr id="18" name="Shape 16"/>
          <p:cNvSpPr/>
          <p:nvPr/>
        </p:nvSpPr>
        <p:spPr>
          <a:xfrm>
            <a:off x="10058400" y="3840480"/>
            <a:ext cx="914400" cy="310896"/>
          </a:xfrm>
          <a:prstGeom prst="roundRect">
            <a:avLst>
              <a:gd name="adj" fmla="val 50000"/>
            </a:avLst>
          </a:prstGeom>
          <a:solidFill>
            <a:srgbClr val="FDF3E3"/>
          </a:solidFill>
          <a:ln w="12700">
            <a:solidFill>
              <a:srgbClr val="EFD9AE"/>
            </a:solidFill>
            <a:prstDash val="solid"/>
          </a:ln>
        </p:spPr>
      </p:sp>
      <p:sp>
        <p:nvSpPr>
          <p:cNvPr id="19" name="Text 17"/>
          <p:cNvSpPr txBox="1"/>
          <p:nvPr/>
        </p:nvSpPr>
        <p:spPr>
          <a:xfrm>
            <a:off x="10058400" y="3840480"/>
            <a:ext cx="914400" cy="310896"/>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Partial</a:t>
            </a:r>
            <a:endParaRPr lang="en-US" sz="1000" dirty="0"/>
          </a:p>
        </p:txBody>
      </p:sp>
      <p:sp>
        <p:nvSpPr>
          <p:cNvPr id="20" name="Shape 18"/>
          <p:cNvSpPr/>
          <p:nvPr/>
        </p:nvSpPr>
        <p:spPr>
          <a:xfrm>
            <a:off x="566928" y="4517136"/>
            <a:ext cx="11055096" cy="749808"/>
          </a:xfrm>
          <a:prstGeom prst="roundRect">
            <a:avLst>
              <a:gd name="adj" fmla="val 9756"/>
            </a:avLst>
          </a:prstGeom>
          <a:solidFill>
            <a:srgbClr val="FFFFFF"/>
          </a:solidFill>
          <a:ln w="9525">
            <a:solidFill>
              <a:srgbClr val="D4DCE3"/>
            </a:solidFill>
            <a:prstDash val="solid"/>
          </a:ln>
        </p:spPr>
      </p:sp>
      <p:sp>
        <p:nvSpPr>
          <p:cNvPr id="21" name="Text 19"/>
          <p:cNvSpPr txBox="1"/>
          <p:nvPr/>
        </p:nvSpPr>
        <p:spPr>
          <a:xfrm>
            <a:off x="841248" y="4517136"/>
            <a:ext cx="2651760" cy="749808"/>
          </a:xfrm>
          <a:prstGeom prst="rect">
            <a:avLst/>
          </a:prstGeom>
          <a:noFill/>
          <a:ln/>
        </p:spPr>
        <p:txBody>
          <a:bodyPr wrap="square" lIns="0" tIns="0" rIns="0" bIns="0" rtlCol="0" anchor="ctr"/>
          <a:lstStyle/>
          <a:p>
            <a:pPr indent="0" marL="0">
              <a:buNone/>
            </a:pPr>
            <a:r>
              <a:rPr lang="en-US" sz="1500" b="1" dirty="0">
                <a:solidFill>
                  <a:srgbClr val="1F5F8B"/>
                </a:solidFill>
                <a:latin typeface="Cambria" pitchFamily="34" charset="0"/>
                <a:ea typeface="Cambria" pitchFamily="34" charset="-122"/>
                <a:cs typeface="Cambria" pitchFamily="34" charset="-120"/>
              </a:rPr>
              <a:t>Decision</a:t>
            </a:r>
            <a:endParaRPr lang="en-US" sz="1500" dirty="0"/>
          </a:p>
        </p:txBody>
      </p:sp>
      <p:sp>
        <p:nvSpPr>
          <p:cNvPr id="22" name="Text 20"/>
          <p:cNvSpPr txBox="1"/>
          <p:nvPr/>
        </p:nvSpPr>
        <p:spPr>
          <a:xfrm>
            <a:off x="3584448" y="4517136"/>
            <a:ext cx="6400800" cy="749808"/>
          </a:xfrm>
          <a:prstGeom prst="rect">
            <a:avLst/>
          </a:prstGeom>
          <a:noFill/>
          <a:ln/>
        </p:spPr>
        <p:txBody>
          <a:bodyPr wrap="square" lIns="0" tIns="0" rIns="0" bIns="0" rtlCol="0" anchor="ctr"/>
          <a:lstStyle/>
          <a:p>
            <a:pPr indent="0" marL="0">
              <a:buNone/>
            </a:pPr>
            <a:r>
              <a:rPr lang="en-US" sz="1250" dirty="0">
                <a:solidFill>
                  <a:srgbClr val="18222B"/>
                </a:solidFill>
                <a:latin typeface="Calibri" pitchFamily="34" charset="0"/>
                <a:ea typeface="Calibri" pitchFamily="34" charset="-122"/>
                <a:cs typeface="Calibri" pitchFamily="34" charset="-120"/>
              </a:rPr>
              <a:t>What next, and by whose definition of “good”?</a:t>
            </a:r>
            <a:endParaRPr lang="en-US" sz="1250" dirty="0"/>
          </a:p>
        </p:txBody>
      </p:sp>
      <p:sp>
        <p:nvSpPr>
          <p:cNvPr id="23" name="Shape 21"/>
          <p:cNvSpPr/>
          <p:nvPr/>
        </p:nvSpPr>
        <p:spPr>
          <a:xfrm>
            <a:off x="10058400" y="4736592"/>
            <a:ext cx="914400" cy="310896"/>
          </a:xfrm>
          <a:prstGeom prst="roundRect">
            <a:avLst>
              <a:gd name="adj" fmla="val 50000"/>
            </a:avLst>
          </a:prstGeom>
          <a:solidFill>
            <a:srgbClr val="E6F2EA"/>
          </a:solidFill>
          <a:ln w="12700">
            <a:solidFill>
              <a:srgbClr val="BEDCC9"/>
            </a:solidFill>
            <a:prstDash val="solid"/>
          </a:ln>
        </p:spPr>
      </p:sp>
      <p:sp>
        <p:nvSpPr>
          <p:cNvPr id="24" name="Text 22"/>
          <p:cNvSpPr txBox="1"/>
          <p:nvPr/>
        </p:nvSpPr>
        <p:spPr>
          <a:xfrm>
            <a:off x="10058400" y="4736592"/>
            <a:ext cx="914400" cy="310896"/>
          </a:xfrm>
          <a:prstGeom prst="rect">
            <a:avLst/>
          </a:prstGeom>
          <a:noFill/>
          <a:ln/>
        </p:spPr>
        <p:txBody>
          <a:bodyPr wrap="square" lIns="0" tIns="0" rIns="0" bIns="0" rtlCol="0" anchor="ctr"/>
          <a:lstStyle/>
          <a:p>
            <a:pPr algn="ctr" indent="0" marL="0">
              <a:buNone/>
            </a:pPr>
            <a:r>
              <a:rPr lang="en-US" sz="1000" b="1" dirty="0">
                <a:solidFill>
                  <a:srgbClr val="15803D"/>
                </a:solidFill>
                <a:latin typeface="Calibri" pitchFamily="34" charset="0"/>
                <a:ea typeface="Calibri" pitchFamily="34" charset="-122"/>
                <a:cs typeface="Calibri" pitchFamily="34" charset="-120"/>
              </a:rPr>
              <a:t>Done</a:t>
            </a:r>
            <a:endParaRPr lang="en-US" sz="1000" dirty="0"/>
          </a:p>
        </p:txBody>
      </p:sp>
      <p:sp>
        <p:nvSpPr>
          <p:cNvPr id="25" name="Shape 23"/>
          <p:cNvSpPr/>
          <p:nvPr/>
        </p:nvSpPr>
        <p:spPr>
          <a:xfrm>
            <a:off x="566928" y="5413248"/>
            <a:ext cx="11055096" cy="749808"/>
          </a:xfrm>
          <a:prstGeom prst="roundRect">
            <a:avLst>
              <a:gd name="adj" fmla="val 9756"/>
            </a:avLst>
          </a:prstGeom>
          <a:solidFill>
            <a:srgbClr val="FFFFFF"/>
          </a:solidFill>
          <a:ln w="9525">
            <a:solidFill>
              <a:srgbClr val="D4DCE3"/>
            </a:solidFill>
            <a:prstDash val="solid"/>
          </a:ln>
        </p:spPr>
      </p:sp>
      <p:sp>
        <p:nvSpPr>
          <p:cNvPr id="26" name="Text 24"/>
          <p:cNvSpPr txBox="1"/>
          <p:nvPr/>
        </p:nvSpPr>
        <p:spPr>
          <a:xfrm>
            <a:off x="841248" y="5413248"/>
            <a:ext cx="2651760" cy="749808"/>
          </a:xfrm>
          <a:prstGeom prst="rect">
            <a:avLst/>
          </a:prstGeom>
          <a:noFill/>
          <a:ln/>
        </p:spPr>
        <p:txBody>
          <a:bodyPr wrap="square" lIns="0" tIns="0" rIns="0" bIns="0" rtlCol="0" anchor="ctr"/>
          <a:lstStyle/>
          <a:p>
            <a:pPr indent="0" marL="0">
              <a:buNone/>
            </a:pPr>
            <a:r>
              <a:rPr lang="en-US" sz="1500" b="1" dirty="0">
                <a:solidFill>
                  <a:srgbClr val="1F5F8B"/>
                </a:solidFill>
                <a:latin typeface="Cambria" pitchFamily="34" charset="0"/>
                <a:ea typeface="Cambria" pitchFamily="34" charset="-122"/>
                <a:cs typeface="Cambria" pitchFamily="34" charset="-120"/>
              </a:rPr>
              <a:t>Governance</a:t>
            </a:r>
            <a:endParaRPr lang="en-US" sz="1500" dirty="0"/>
          </a:p>
        </p:txBody>
      </p:sp>
      <p:sp>
        <p:nvSpPr>
          <p:cNvPr id="27" name="Text 25"/>
          <p:cNvSpPr txBox="1"/>
          <p:nvPr/>
        </p:nvSpPr>
        <p:spPr>
          <a:xfrm>
            <a:off x="3584448" y="5413248"/>
            <a:ext cx="6400800" cy="749808"/>
          </a:xfrm>
          <a:prstGeom prst="rect">
            <a:avLst/>
          </a:prstGeom>
          <a:noFill/>
          <a:ln/>
        </p:spPr>
        <p:txBody>
          <a:bodyPr wrap="square" lIns="0" tIns="0" rIns="0" bIns="0" rtlCol="0" anchor="ctr"/>
          <a:lstStyle/>
          <a:p>
            <a:pPr indent="0" marL="0">
              <a:buNone/>
            </a:pPr>
            <a:r>
              <a:rPr lang="en-US" sz="1250" dirty="0">
                <a:solidFill>
                  <a:srgbClr val="18222B"/>
                </a:solidFill>
                <a:latin typeface="Calibri" pitchFamily="34" charset="0"/>
                <a:ea typeface="Calibri" pitchFamily="34" charset="-122"/>
                <a:cs typeface="Calibri" pitchFamily="34" charset="-120"/>
              </a:rPr>
              <a:t>Who approved this, and which data may train a model?</a:t>
            </a:r>
            <a:endParaRPr lang="en-US" sz="1250" dirty="0"/>
          </a:p>
        </p:txBody>
      </p:sp>
      <p:sp>
        <p:nvSpPr>
          <p:cNvPr id="28" name="Shape 26"/>
          <p:cNvSpPr/>
          <p:nvPr/>
        </p:nvSpPr>
        <p:spPr>
          <a:xfrm>
            <a:off x="10058400" y="5632704"/>
            <a:ext cx="914400" cy="310896"/>
          </a:xfrm>
          <a:prstGeom prst="roundRect">
            <a:avLst>
              <a:gd name="adj" fmla="val 50000"/>
            </a:avLst>
          </a:prstGeom>
          <a:solidFill>
            <a:srgbClr val="E6F2EA"/>
          </a:solidFill>
          <a:ln w="12700">
            <a:solidFill>
              <a:srgbClr val="BEDCC9"/>
            </a:solidFill>
            <a:prstDash val="solid"/>
          </a:ln>
        </p:spPr>
      </p:sp>
      <p:sp>
        <p:nvSpPr>
          <p:cNvPr id="29" name="Text 27"/>
          <p:cNvSpPr txBox="1"/>
          <p:nvPr/>
        </p:nvSpPr>
        <p:spPr>
          <a:xfrm>
            <a:off x="10058400" y="5632704"/>
            <a:ext cx="914400" cy="310896"/>
          </a:xfrm>
          <a:prstGeom prst="rect">
            <a:avLst/>
          </a:prstGeom>
          <a:noFill/>
          <a:ln/>
        </p:spPr>
        <p:txBody>
          <a:bodyPr wrap="square" lIns="0" tIns="0" rIns="0" bIns="0" rtlCol="0" anchor="ctr"/>
          <a:lstStyle/>
          <a:p>
            <a:pPr algn="ctr" indent="0" marL="0">
              <a:buNone/>
            </a:pPr>
            <a:r>
              <a:rPr lang="en-US" sz="1000" b="1" dirty="0">
                <a:solidFill>
                  <a:srgbClr val="15803D"/>
                </a:solidFill>
                <a:latin typeface="Calibri" pitchFamily="34" charset="0"/>
                <a:ea typeface="Calibri" pitchFamily="34" charset="-122"/>
                <a:cs typeface="Calibri" pitchFamily="34" charset="-120"/>
              </a:rPr>
              <a:t>Done</a:t>
            </a:r>
            <a:endParaRPr lang="en-US" sz="1000" dirty="0"/>
          </a:p>
        </p:txBody>
      </p:sp>
      <p:sp>
        <p:nvSpPr>
          <p:cNvPr id="30" name="Text 28"/>
          <p:cNvSpPr txBox="1"/>
          <p:nvPr/>
        </p:nvSpPr>
        <p:spPr>
          <a:xfrm>
            <a:off x="566928" y="6309360"/>
            <a:ext cx="10972800" cy="914400"/>
          </a:xfrm>
          <a:prstGeom prst="rect">
            <a:avLst/>
          </a:prstGeom>
          <a:noFill/>
          <a:ln/>
        </p:spPr>
        <p:txBody>
          <a:bodyPr wrap="square" lIns="0" tIns="0" rIns="0" bIns="0" rtlCol="0" anchor="t"/>
          <a:lstStyle/>
          <a:p>
            <a:pPr algn="l" indent="0" marL="0">
              <a:lnSpc>
                <a:spcPts val="1900"/>
              </a:lnSpc>
              <a:buNone/>
            </a:pPr>
            <a:r>
              <a:rPr lang="en-US" sz="1150" dirty="0">
                <a:solidFill>
                  <a:srgbClr val="5B6B78"/>
                </a:solidFill>
                <a:latin typeface="Calibri" pitchFamily="34" charset="0"/>
                <a:ea typeface="Calibri" pitchFamily="34" charset="-122"/>
                <a:cs typeface="Calibri" pitchFamily="34" charset="-120"/>
              </a:rPr>
              <a:t>Separated so each can be reasoned about — and swapped — on its own. The optimizer sits behind a two-method interface; the dashboard renders state and owns no workflow logic; orchestration and decisions run headless without importing Streamlit.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3538728" cy="292608"/>
          </a:xfrm>
          <a:prstGeom prst="roundRect">
            <a:avLst>
              <a:gd name="adj" fmla="val 50000"/>
            </a:avLst>
          </a:prstGeom>
          <a:solidFill>
            <a:srgbClr val="C2410C"/>
          </a:solidFill>
          <a:ln w="12700">
            <a:solidFill>
              <a:srgbClr val="C2410C"/>
            </a:solidFill>
            <a:prstDash val="solid"/>
          </a:ln>
        </p:spPr>
      </p:sp>
      <p:sp>
        <p:nvSpPr>
          <p:cNvPr id="3" name="Text 1"/>
          <p:cNvSpPr txBox="1"/>
          <p:nvPr/>
        </p:nvSpPr>
        <p:spPr>
          <a:xfrm>
            <a:off x="566928" y="384048"/>
            <a:ext cx="353872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03  ·  DESIGN PRINCIPLE</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Scientific honesty over fake physics</a:t>
            </a:r>
            <a:endParaRPr lang="en-US" sz="3400" dirty="0"/>
          </a:p>
        </p:txBody>
      </p:sp>
      <p:sp>
        <p:nvSpPr>
          <p:cNvPr id="5" name="Text 3"/>
          <p:cNvSpPr txBox="1"/>
          <p:nvPr/>
        </p:nvSpPr>
        <p:spPr>
          <a:xfrm>
            <a:off x="566928" y="1572768"/>
            <a:ext cx="11055096" cy="420624"/>
          </a:xfrm>
          <a:prstGeom prst="rect">
            <a:avLst/>
          </a:prstGeom>
          <a:noFill/>
          <a:ln/>
        </p:spPr>
        <p:txBody>
          <a:bodyPr wrap="square" lIns="0" tIns="0" rIns="0" bIns="0" rtlCol="0" anchor="t"/>
          <a:lstStyle/>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Where physical fidelity matters, use published data. Where systems benchmarking matters, use a</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transparent surrogate that is honest about being one. The two use cases were chosen to sit on</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opposite sides of that line.</a:t>
            </a:r>
            <a:endParaRPr lang="en-US" sz="1450" dirty="0"/>
          </a:p>
        </p:txBody>
      </p:sp>
      <p:sp>
        <p:nvSpPr>
          <p:cNvPr id="6" name="Shape 4"/>
          <p:cNvSpPr/>
          <p:nvPr/>
        </p:nvSpPr>
        <p:spPr>
          <a:xfrm>
            <a:off x="566928" y="2834640"/>
            <a:ext cx="5212080" cy="3337560"/>
          </a:xfrm>
          <a:prstGeom prst="roundRect">
            <a:avLst>
              <a:gd name="adj" fmla="val 2192"/>
            </a:avLst>
          </a:prstGeom>
          <a:solidFill>
            <a:srgbClr val="FFFFFF"/>
          </a:solidFill>
          <a:ln w="9525">
            <a:solidFill>
              <a:srgbClr val="D4DCE3"/>
            </a:solidFill>
            <a:prstDash val="solid"/>
          </a:ln>
        </p:spPr>
      </p:sp>
      <p:sp>
        <p:nvSpPr>
          <p:cNvPr id="7" name="Shape 5"/>
          <p:cNvSpPr/>
          <p:nvPr/>
        </p:nvSpPr>
        <p:spPr>
          <a:xfrm>
            <a:off x="841248" y="3063240"/>
            <a:ext cx="2103120" cy="274320"/>
          </a:xfrm>
          <a:prstGeom prst="roundRect">
            <a:avLst>
              <a:gd name="adj" fmla="val 50000"/>
            </a:avLst>
          </a:prstGeom>
          <a:solidFill>
            <a:srgbClr val="1F5F8B"/>
          </a:solidFill>
          <a:ln w="12700">
            <a:solidFill>
              <a:srgbClr val="1F5F8B"/>
            </a:solidFill>
            <a:prstDash val="solid"/>
          </a:ln>
        </p:spPr>
      </p:sp>
      <p:sp>
        <p:nvSpPr>
          <p:cNvPr id="8" name="Text 6"/>
          <p:cNvSpPr txBox="1"/>
          <p:nvPr/>
        </p:nvSpPr>
        <p:spPr>
          <a:xfrm>
            <a:off x="841248" y="3063240"/>
            <a:ext cx="2103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TRANSPARENT SURROGATE</a:t>
            </a:r>
            <a:endParaRPr lang="en-US" sz="850" dirty="0"/>
          </a:p>
        </p:txBody>
      </p:sp>
      <p:sp>
        <p:nvSpPr>
          <p:cNvPr id="9" name="Text 7"/>
          <p:cNvSpPr txBox="1"/>
          <p:nvPr/>
        </p:nvSpPr>
        <p:spPr>
          <a:xfrm>
            <a:off x="841248" y="3429000"/>
            <a:ext cx="4663440" cy="365760"/>
          </a:xfrm>
          <a:prstGeom prst="rect">
            <a:avLst/>
          </a:prstGeom>
          <a:noFill/>
          <a:ln/>
        </p:spPr>
        <p:txBody>
          <a:bodyPr wrap="square" lIns="0" tIns="0" rIns="0" bIns="0" rtlCol="0" anchor="ctr"/>
          <a:lstStyle/>
          <a:p>
            <a:pPr indent="0" marL="0">
              <a:buNone/>
            </a:pPr>
            <a:r>
              <a:rPr lang="en-US" sz="1700" b="1" dirty="0">
                <a:solidFill>
                  <a:srgbClr val="18222B"/>
                </a:solidFill>
                <a:latin typeface="Cambria" pitchFamily="34" charset="0"/>
                <a:ea typeface="Cambria" pitchFamily="34" charset="-122"/>
                <a:cs typeface="Cambria" pitchFamily="34" charset="-120"/>
              </a:rPr>
              <a:t>CdTe thin-film process</a:t>
            </a:r>
            <a:endParaRPr lang="en-US" sz="1700" dirty="0"/>
          </a:p>
        </p:txBody>
      </p:sp>
      <p:sp>
        <p:nvSpPr>
          <p:cNvPr id="10" name="Text 8"/>
          <p:cNvSpPr txBox="1"/>
          <p:nvPr/>
        </p:nvSpPr>
        <p:spPr>
          <a:xfrm>
            <a:off x="841248" y="3886200"/>
            <a:ext cx="4663440" cy="132588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050" dirty="0">
                <a:solidFill>
                  <a:srgbClr val="18222B"/>
                </a:solidFill>
                <a:latin typeface="Calibri" pitchFamily="34" charset="0"/>
                <a:ea typeface="Calibri" pitchFamily="34" charset="-122"/>
                <a:cs typeface="Calibri" pitchFamily="34" charset="-120"/>
              </a:rPr>
              <a:t>A benchmark environment for orchestration and optimization</a:t>
            </a:r>
            <a:endParaRPr lang="en-US" sz="1050" dirty="0"/>
          </a:p>
          <a:p>
            <a:pPr marL="342900" indent="-342900">
              <a:lnSpc>
                <a:spcPts val="1400"/>
              </a:lnSpc>
              <a:spcAft>
                <a:spcPts val="500"/>
              </a:spcAft>
              <a:buSzPct val="100000"/>
              <a:buChar char="•"/>
            </a:pPr>
            <a:r>
              <a:rPr lang="en-US" sz="1050" dirty="0">
                <a:solidFill>
                  <a:srgbClr val="18222B"/>
                </a:solidFill>
                <a:latin typeface="Calibri" pitchFamily="34" charset="0"/>
                <a:ea typeface="Calibri" pitchFamily="34" charset="-122"/>
                <a:cs typeface="Calibri" pitchFamily="34" charset="-120"/>
              </a:rPr>
              <a:t>Deliberately hard: observation noise, a narrow non-smooth treatment window, an over-treatment cliff, parameter interactions, outright failures</a:t>
            </a:r>
            <a:endParaRPr lang="en-US" sz="1050" dirty="0"/>
          </a:p>
          <a:p>
            <a:pPr marL="342900" indent="-342900">
              <a:lnSpc>
                <a:spcPts val="1400"/>
              </a:lnSpc>
              <a:spcAft>
                <a:spcPts val="500"/>
              </a:spcAft>
              <a:buSzPct val="100000"/>
              <a:buChar char="•"/>
            </a:pPr>
            <a:r>
              <a:rPr lang="en-US" sz="1050" dirty="0">
                <a:solidFill>
                  <a:srgbClr val="18222B"/>
                </a:solidFill>
                <a:latin typeface="Calibri" pitchFamily="34" charset="0"/>
                <a:ea typeface="Calibri" pitchFamily="34" charset="-122"/>
                <a:cs typeface="Calibri" pitchFamily="34" charset="-120"/>
              </a:rPr>
              <a:t>Literature-inspired in qualitative behaviour only</a:t>
            </a:r>
            <a:endParaRPr lang="en-US" sz="1050" dirty="0"/>
          </a:p>
        </p:txBody>
      </p:sp>
      <p:sp>
        <p:nvSpPr>
          <p:cNvPr id="11" name="Text 9"/>
          <p:cNvSpPr txBox="1"/>
          <p:nvPr/>
        </p:nvSpPr>
        <p:spPr>
          <a:xfrm>
            <a:off x="841248" y="5257800"/>
            <a:ext cx="4663440" cy="228600"/>
          </a:xfrm>
          <a:prstGeom prst="rect">
            <a:avLst/>
          </a:prstGeom>
          <a:noFill/>
          <a:ln/>
        </p:spPr>
        <p:txBody>
          <a:bodyPr wrap="square" lIns="0" tIns="0" rIns="0" bIns="0" rtlCol="0" anchor="ctr"/>
          <a:lstStyle/>
          <a:p>
            <a:pPr indent="0" marL="0">
              <a:buNone/>
            </a:pPr>
            <a:r>
              <a:rPr lang="en-US" sz="1000" b="1" spc="60" kern="0" dirty="0">
                <a:solidFill>
                  <a:srgbClr val="C2410C"/>
                </a:solidFill>
                <a:latin typeface="Calibri" pitchFamily="34" charset="0"/>
                <a:ea typeface="Calibri" pitchFamily="34" charset="-122"/>
                <a:cs typeface="Calibri" pitchFamily="34" charset="-120"/>
              </a:rPr>
              <a:t>What it is not</a:t>
            </a:r>
            <a:endParaRPr lang="en-US" sz="1000" dirty="0"/>
          </a:p>
        </p:txBody>
      </p:sp>
      <p:sp>
        <p:nvSpPr>
          <p:cNvPr id="12" name="Text 10"/>
          <p:cNvSpPr txBox="1"/>
          <p:nvPr/>
        </p:nvSpPr>
        <p:spPr>
          <a:xfrm>
            <a:off x="841248" y="5504688"/>
            <a:ext cx="4663440" cy="566928"/>
          </a:xfrm>
          <a:prstGeom prst="rect">
            <a:avLst/>
          </a:prstGeom>
          <a:noFill/>
          <a:ln/>
        </p:spPr>
        <p:txBody>
          <a:bodyPr wrap="square" lIns="0" tIns="0" rIns="0" bIns="0" rtlCol="0" anchor="t"/>
          <a:lstStyle/>
          <a:p>
            <a:pPr marL="342900" indent="-342900">
              <a:lnSpc>
                <a:spcPts val="1400"/>
              </a:lnSpc>
              <a:spcAft>
                <a:spcPts val="300"/>
              </a:spcAft>
              <a:buSzPct val="100000"/>
              <a:buChar char="•"/>
            </a:pPr>
            <a:r>
              <a:rPr lang="en-US" sz="1050" dirty="0">
                <a:solidFill>
                  <a:srgbClr val="5B6B78"/>
                </a:solidFill>
                <a:latin typeface="Calibri" pitchFamily="34" charset="0"/>
                <a:ea typeface="Calibri" pitchFamily="34" charset="-122"/>
                <a:cs typeface="Calibri" pitchFamily="34" charset="-120"/>
              </a:rPr>
              <a:t>A physically accurate CdTe simulator</a:t>
            </a:r>
            <a:endParaRPr lang="en-US" sz="1050" dirty="0"/>
          </a:p>
          <a:p>
            <a:pPr marL="342900" indent="-342900">
              <a:lnSpc>
                <a:spcPts val="1400"/>
              </a:lnSpc>
              <a:spcAft>
                <a:spcPts val="300"/>
              </a:spcAft>
              <a:buSzPct val="100000"/>
              <a:buChar char="•"/>
            </a:pPr>
            <a:r>
              <a:rPr lang="en-US" sz="1050" dirty="0">
                <a:solidFill>
                  <a:srgbClr val="5B6B78"/>
                </a:solidFill>
                <a:latin typeface="Calibri" pitchFamily="34" charset="0"/>
                <a:ea typeface="Calibri" pitchFamily="34" charset="-122"/>
                <a:cs typeface="Calibri" pitchFamily="34" charset="-120"/>
              </a:rPr>
              <a:t>Any claim about real device efficiency</a:t>
            </a:r>
            <a:endParaRPr lang="en-US" sz="1050" dirty="0"/>
          </a:p>
        </p:txBody>
      </p:sp>
      <p:sp>
        <p:nvSpPr>
          <p:cNvPr id="13" name="Shape 11"/>
          <p:cNvSpPr/>
          <p:nvPr/>
        </p:nvSpPr>
        <p:spPr>
          <a:xfrm>
            <a:off x="6400800" y="2834640"/>
            <a:ext cx="5212080" cy="3337560"/>
          </a:xfrm>
          <a:prstGeom prst="roundRect">
            <a:avLst>
              <a:gd name="adj" fmla="val 2192"/>
            </a:avLst>
          </a:prstGeom>
          <a:solidFill>
            <a:srgbClr val="FFFFFF"/>
          </a:solidFill>
          <a:ln w="9525">
            <a:solidFill>
              <a:srgbClr val="D4DCE3"/>
            </a:solidFill>
            <a:prstDash val="solid"/>
          </a:ln>
        </p:spPr>
      </p:sp>
      <p:sp>
        <p:nvSpPr>
          <p:cNvPr id="14" name="Shape 12"/>
          <p:cNvSpPr/>
          <p:nvPr/>
        </p:nvSpPr>
        <p:spPr>
          <a:xfrm>
            <a:off x="6675120" y="3063240"/>
            <a:ext cx="2103120" cy="274320"/>
          </a:xfrm>
          <a:prstGeom prst="roundRect">
            <a:avLst>
              <a:gd name="adj" fmla="val 50000"/>
            </a:avLst>
          </a:prstGeom>
          <a:solidFill>
            <a:srgbClr val="C2410C"/>
          </a:solidFill>
          <a:ln w="12700">
            <a:solidFill>
              <a:srgbClr val="C2410C"/>
            </a:solidFill>
            <a:prstDash val="solid"/>
          </a:ln>
        </p:spPr>
      </p:sp>
      <p:sp>
        <p:nvSpPr>
          <p:cNvPr id="15" name="Text 13"/>
          <p:cNvSpPr txBox="1"/>
          <p:nvPr/>
        </p:nvSpPr>
        <p:spPr>
          <a:xfrm>
            <a:off x="6675120" y="3063240"/>
            <a:ext cx="2103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PUBLISHED DATA</a:t>
            </a:r>
            <a:endParaRPr lang="en-US" sz="850" dirty="0"/>
          </a:p>
        </p:txBody>
      </p:sp>
      <p:sp>
        <p:nvSpPr>
          <p:cNvPr id="16" name="Text 14"/>
          <p:cNvSpPr txBox="1"/>
          <p:nvPr/>
        </p:nvSpPr>
        <p:spPr>
          <a:xfrm>
            <a:off x="6675120" y="3429000"/>
            <a:ext cx="4663440" cy="365760"/>
          </a:xfrm>
          <a:prstGeom prst="rect">
            <a:avLst/>
          </a:prstGeom>
          <a:noFill/>
          <a:ln/>
        </p:spPr>
        <p:txBody>
          <a:bodyPr wrap="square" lIns="0" tIns="0" rIns="0" bIns="0" rtlCol="0" anchor="ctr"/>
          <a:lstStyle/>
          <a:p>
            <a:pPr indent="0" marL="0">
              <a:buNone/>
            </a:pPr>
            <a:r>
              <a:rPr lang="en-US" sz="1700" b="1" dirty="0">
                <a:solidFill>
                  <a:srgbClr val="18222B"/>
                </a:solidFill>
                <a:latin typeface="Cambria" pitchFamily="34" charset="0"/>
                <a:ea typeface="Cambria" pitchFamily="34" charset="-122"/>
                <a:cs typeface="Cambria" pitchFamily="34" charset="-120"/>
              </a:rPr>
              <a:t>Hydride superconductors</a:t>
            </a:r>
            <a:endParaRPr lang="en-US" sz="1700" dirty="0"/>
          </a:p>
        </p:txBody>
      </p:sp>
      <p:sp>
        <p:nvSpPr>
          <p:cNvPr id="17" name="Text 15"/>
          <p:cNvSpPr txBox="1"/>
          <p:nvPr/>
        </p:nvSpPr>
        <p:spPr>
          <a:xfrm>
            <a:off x="6675120" y="3886200"/>
            <a:ext cx="4663440" cy="132588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050" dirty="0">
                <a:solidFill>
                  <a:srgbClr val="18222B"/>
                </a:solidFill>
                <a:latin typeface="Calibri" pitchFamily="34" charset="0"/>
                <a:ea typeface="Calibri" pitchFamily="34" charset="-122"/>
                <a:cs typeface="Calibri" pitchFamily="34" charset="-120"/>
              </a:rPr>
              <a:t>22 candidates transcribed verbatim from Sanna et al., Communications Physics (2026)</a:t>
            </a:r>
            <a:endParaRPr lang="en-US" sz="1050" dirty="0"/>
          </a:p>
          <a:p>
            <a:pPr marL="342900" indent="-342900">
              <a:lnSpc>
                <a:spcPts val="1400"/>
              </a:lnSpc>
              <a:spcAft>
                <a:spcPts val="500"/>
              </a:spcAft>
              <a:buSzPct val="100000"/>
              <a:buChar char="•"/>
            </a:pPr>
            <a:r>
              <a:rPr lang="en-US" sz="1050" dirty="0">
                <a:solidFill>
                  <a:srgbClr val="18222B"/>
                </a:solidFill>
                <a:latin typeface="Calibri" pitchFamily="34" charset="0"/>
                <a:ea typeface="Calibri" pitchFamily="34" charset="-122"/>
                <a:cs typeface="Calibri" pitchFamily="34" charset="-120"/>
              </a:rPr>
              <a:t>Triage, decision policy and validation planning built on top of published values</a:t>
            </a:r>
            <a:endParaRPr lang="en-US" sz="1050" dirty="0"/>
          </a:p>
          <a:p>
            <a:pPr marL="342900" indent="-342900">
              <a:lnSpc>
                <a:spcPts val="1400"/>
              </a:lnSpc>
              <a:spcAft>
                <a:spcPts val="500"/>
              </a:spcAft>
              <a:buSzPct val="100000"/>
              <a:buChar char="•"/>
            </a:pPr>
            <a:r>
              <a:rPr lang="en-US" sz="1050" dirty="0">
                <a:solidFill>
                  <a:srgbClr val="18222B"/>
                </a:solidFill>
                <a:latin typeface="Calibri" pitchFamily="34" charset="0"/>
                <a:ea typeface="Calibri" pitchFamily="34" charset="-122"/>
                <a:cs typeface="Calibri" pitchFamily="34" charset="-120"/>
              </a:rPr>
              <a:t>Provenance enforced as a file boundary, with a test to hold it</a:t>
            </a:r>
            <a:endParaRPr lang="en-US" sz="1050" dirty="0"/>
          </a:p>
        </p:txBody>
      </p:sp>
      <p:sp>
        <p:nvSpPr>
          <p:cNvPr id="18" name="Text 16"/>
          <p:cNvSpPr txBox="1"/>
          <p:nvPr/>
        </p:nvSpPr>
        <p:spPr>
          <a:xfrm>
            <a:off x="6675120" y="5257800"/>
            <a:ext cx="4663440" cy="228600"/>
          </a:xfrm>
          <a:prstGeom prst="rect">
            <a:avLst/>
          </a:prstGeom>
          <a:noFill/>
          <a:ln/>
        </p:spPr>
        <p:txBody>
          <a:bodyPr wrap="square" lIns="0" tIns="0" rIns="0" bIns="0" rtlCol="0" anchor="ctr"/>
          <a:lstStyle/>
          <a:p>
            <a:pPr indent="0" marL="0">
              <a:buNone/>
            </a:pPr>
            <a:r>
              <a:rPr lang="en-US" sz="1000" b="1" spc="60" kern="0" dirty="0">
                <a:solidFill>
                  <a:srgbClr val="C2410C"/>
                </a:solidFill>
                <a:latin typeface="Calibri" pitchFamily="34" charset="0"/>
                <a:ea typeface="Calibri" pitchFamily="34" charset="-122"/>
                <a:cs typeface="Calibri" pitchFamily="34" charset="-120"/>
              </a:rPr>
              <a:t>What it is not</a:t>
            </a:r>
            <a:endParaRPr lang="en-US" sz="1000" dirty="0"/>
          </a:p>
        </p:txBody>
      </p:sp>
      <p:sp>
        <p:nvSpPr>
          <p:cNvPr id="19" name="Text 17"/>
          <p:cNvSpPr txBox="1"/>
          <p:nvPr/>
        </p:nvSpPr>
        <p:spPr>
          <a:xfrm>
            <a:off x="6675120" y="5504688"/>
            <a:ext cx="4663440" cy="566928"/>
          </a:xfrm>
          <a:prstGeom prst="rect">
            <a:avLst/>
          </a:prstGeom>
          <a:noFill/>
          <a:ln/>
        </p:spPr>
        <p:txBody>
          <a:bodyPr wrap="square" lIns="0" tIns="0" rIns="0" bIns="0" rtlCol="0" anchor="t"/>
          <a:lstStyle/>
          <a:p>
            <a:pPr marL="342900" indent="-342900">
              <a:lnSpc>
                <a:spcPts val="1400"/>
              </a:lnSpc>
              <a:spcAft>
                <a:spcPts val="300"/>
              </a:spcAft>
              <a:buSzPct val="100000"/>
              <a:buChar char="•"/>
            </a:pPr>
            <a:r>
              <a:rPr lang="en-US" sz="1050" dirty="0">
                <a:solidFill>
                  <a:srgbClr val="5B6B78"/>
                </a:solidFill>
                <a:latin typeface="Calibri" pitchFamily="34" charset="0"/>
                <a:ea typeface="Calibri" pitchFamily="34" charset="-122"/>
                <a:cs typeface="Calibri" pitchFamily="34" charset="-120"/>
              </a:rPr>
              <a:t>Any simulation of DFPT, electron-phonon coupling or Tc</a:t>
            </a:r>
            <a:endParaRPr lang="en-US" sz="1050" dirty="0"/>
          </a:p>
          <a:p>
            <a:pPr marL="342900" indent="-342900">
              <a:lnSpc>
                <a:spcPts val="1400"/>
              </a:lnSpc>
              <a:spcAft>
                <a:spcPts val="300"/>
              </a:spcAft>
              <a:buSzPct val="100000"/>
              <a:buChar char="•"/>
            </a:pPr>
            <a:r>
              <a:rPr lang="en-US" sz="1050" dirty="0">
                <a:solidFill>
                  <a:srgbClr val="5B6B78"/>
                </a:solidFill>
                <a:latin typeface="Calibri" pitchFamily="34" charset="0"/>
                <a:ea typeface="Calibri" pitchFamily="34" charset="-122"/>
                <a:cs typeface="Calibri" pitchFamily="34" charset="-120"/>
              </a:rPr>
              <a:t>Any score the paper did not publish, presented as though it had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2715768" cy="292608"/>
          </a:xfrm>
          <a:prstGeom prst="roundRect">
            <a:avLst>
              <a:gd name="adj" fmla="val 50000"/>
            </a:avLst>
          </a:prstGeom>
          <a:solidFill>
            <a:srgbClr val="1F5F8B"/>
          </a:solidFill>
          <a:ln w="12700">
            <a:solidFill>
              <a:srgbClr val="1F5F8B"/>
            </a:solidFill>
            <a:prstDash val="solid"/>
          </a:ln>
        </p:spPr>
      </p:sp>
      <p:sp>
        <p:nvSpPr>
          <p:cNvPr id="3" name="Text 1"/>
          <p:cNvSpPr txBox="1"/>
          <p:nvPr/>
        </p:nvSpPr>
        <p:spPr>
          <a:xfrm>
            <a:off x="566928" y="384048"/>
            <a:ext cx="271576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04  ·  USE CASE 1</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The closed loop, and what it refuses to do</a:t>
            </a:r>
            <a:endParaRPr lang="en-US" sz="3400" dirty="0"/>
          </a:p>
        </p:txBody>
      </p:sp>
      <p:sp>
        <p:nvSpPr>
          <p:cNvPr id="5" name="Shape 3"/>
          <p:cNvSpPr/>
          <p:nvPr/>
        </p:nvSpPr>
        <p:spPr>
          <a:xfrm>
            <a:off x="566928" y="1920240"/>
            <a:ext cx="1984248" cy="1572768"/>
          </a:xfrm>
          <a:prstGeom prst="roundRect">
            <a:avLst>
              <a:gd name="adj" fmla="val 4651"/>
            </a:avLst>
          </a:prstGeom>
          <a:solidFill>
            <a:srgbClr val="FFFFFF"/>
          </a:solidFill>
          <a:ln w="9525">
            <a:solidFill>
              <a:srgbClr val="D4DCE3"/>
            </a:solidFill>
            <a:prstDash val="solid"/>
          </a:ln>
        </p:spPr>
      </p:sp>
      <p:sp>
        <p:nvSpPr>
          <p:cNvPr id="6" name="Text 4"/>
          <p:cNvSpPr txBox="1"/>
          <p:nvPr/>
        </p:nvSpPr>
        <p:spPr>
          <a:xfrm>
            <a:off x="768096" y="2066544"/>
            <a:ext cx="365760" cy="274320"/>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133856" y="2066544"/>
            <a:ext cx="1371600" cy="274320"/>
          </a:xfrm>
          <a:prstGeom prst="rect">
            <a:avLst/>
          </a:prstGeom>
          <a:noFill/>
          <a:ln/>
        </p:spPr>
        <p:txBody>
          <a:bodyPr wrap="square" lIns="0" tIns="0" rIns="0" bIns="0" rtlCol="0" anchor="ctr"/>
          <a:lstStyle/>
          <a:p>
            <a:pPr indent="0" marL="0">
              <a:buNone/>
            </a:pPr>
            <a:r>
              <a:rPr lang="en-US" sz="1500" b="1" dirty="0">
                <a:solidFill>
                  <a:srgbClr val="18222B"/>
                </a:solidFill>
                <a:latin typeface="Cambria" pitchFamily="34" charset="0"/>
                <a:ea typeface="Cambria" pitchFamily="34" charset="-122"/>
                <a:cs typeface="Cambria" pitchFamily="34" charset="-120"/>
              </a:rPr>
              <a:t>Propose</a:t>
            </a:r>
            <a:endParaRPr lang="en-US" sz="1500" dirty="0"/>
          </a:p>
        </p:txBody>
      </p:sp>
      <p:sp>
        <p:nvSpPr>
          <p:cNvPr id="8" name="Text 6"/>
          <p:cNvSpPr txBox="1"/>
          <p:nvPr/>
        </p:nvSpPr>
        <p:spPr>
          <a:xfrm>
            <a:off x="768096" y="2487168"/>
            <a:ext cx="1581912" cy="868680"/>
          </a:xfrm>
          <a:prstGeom prst="rect">
            <a:avLst/>
          </a:prstGeom>
          <a:noFill/>
          <a:ln/>
        </p:spPr>
        <p:txBody>
          <a:bodyPr wrap="square" lIns="0" tIns="0" rIns="0" bIns="0" rtlCol="0" anchor="t"/>
          <a:lstStyle/>
          <a:p>
            <a:pPr indent="0" marL="0">
              <a:lnSpc>
                <a:spcPts val="1400"/>
              </a:lnSpc>
              <a:buNone/>
            </a:pPr>
            <a:r>
              <a:rPr lang="en-US" sz="1050" dirty="0">
                <a:solidFill>
                  <a:srgbClr val="5B6B78"/>
                </a:solidFill>
                <a:latin typeface="Calibri" pitchFamily="34" charset="0"/>
                <a:ea typeface="Calibri" pitchFamily="34" charset="-122"/>
                <a:cs typeface="Calibri" pitchFamily="34" charset="-120"/>
              </a:rPr>
              <a:t>optimizer suggests</a:t>
            </a:r>
            <a:endParaRPr lang="en-US" sz="1050" dirty="0"/>
          </a:p>
          <a:p>
            <a:pPr indent="0" marL="0">
              <a:lnSpc>
                <a:spcPts val="1400"/>
              </a:lnSpc>
              <a:buNone/>
            </a:pPr>
            <a:r>
              <a:rPr lang="en-US" sz="1050" dirty="0">
                <a:solidFill>
                  <a:srgbClr val="5B6B78"/>
                </a:solidFill>
                <a:latin typeface="Calibri" pitchFamily="34" charset="0"/>
                <a:ea typeface="Calibri" pitchFamily="34" charset="-122"/>
                <a:cs typeface="Calibri" pitchFamily="34" charset="-120"/>
              </a:rPr>
              <a:t>the next parameters</a:t>
            </a:r>
            <a:endParaRPr lang="en-US" sz="1050" dirty="0"/>
          </a:p>
        </p:txBody>
      </p:sp>
      <p:sp>
        <p:nvSpPr>
          <p:cNvPr id="9" name="Text 7"/>
          <p:cNvSpPr txBox="1"/>
          <p:nvPr/>
        </p:nvSpPr>
        <p:spPr>
          <a:xfrm>
            <a:off x="2569464" y="2468880"/>
            <a:ext cx="246888" cy="365760"/>
          </a:xfrm>
          <a:prstGeom prst="rect">
            <a:avLst/>
          </a:prstGeom>
          <a:noFill/>
          <a:ln/>
        </p:spPr>
        <p:txBody>
          <a:bodyPr wrap="square" lIns="0" tIns="0" rIns="0" bIns="0" rtlCol="0" anchor="ctr"/>
          <a:lstStyle/>
          <a:p>
            <a:pPr algn="ctr" indent="0" marL="0">
              <a:buNone/>
            </a:pPr>
            <a:r>
              <a:rPr lang="en-US" sz="1500" dirty="0">
                <a:solidFill>
                  <a:srgbClr val="D4DCE3"/>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2834640" y="1920240"/>
            <a:ext cx="1984248" cy="1572768"/>
          </a:xfrm>
          <a:prstGeom prst="roundRect">
            <a:avLst>
              <a:gd name="adj" fmla="val 4651"/>
            </a:avLst>
          </a:prstGeom>
          <a:solidFill>
            <a:srgbClr val="FFFFFF"/>
          </a:solidFill>
          <a:ln w="9525">
            <a:solidFill>
              <a:srgbClr val="D4DCE3"/>
            </a:solidFill>
            <a:prstDash val="solid"/>
          </a:ln>
        </p:spPr>
      </p:sp>
      <p:sp>
        <p:nvSpPr>
          <p:cNvPr id="11" name="Text 9"/>
          <p:cNvSpPr txBox="1"/>
          <p:nvPr/>
        </p:nvSpPr>
        <p:spPr>
          <a:xfrm>
            <a:off x="3035808" y="2066544"/>
            <a:ext cx="365760" cy="274320"/>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3401568" y="2066544"/>
            <a:ext cx="1371600" cy="274320"/>
          </a:xfrm>
          <a:prstGeom prst="rect">
            <a:avLst/>
          </a:prstGeom>
          <a:noFill/>
          <a:ln/>
        </p:spPr>
        <p:txBody>
          <a:bodyPr wrap="square" lIns="0" tIns="0" rIns="0" bIns="0" rtlCol="0" anchor="ctr"/>
          <a:lstStyle/>
          <a:p>
            <a:pPr indent="0" marL="0">
              <a:buNone/>
            </a:pPr>
            <a:r>
              <a:rPr lang="en-US" sz="1500" b="1" dirty="0">
                <a:solidFill>
                  <a:srgbClr val="18222B"/>
                </a:solidFill>
                <a:latin typeface="Cambria" pitchFamily="34" charset="0"/>
                <a:ea typeface="Cambria" pitchFamily="34" charset="-122"/>
                <a:cs typeface="Cambria" pitchFamily="34" charset="-120"/>
              </a:rPr>
              <a:t>Review</a:t>
            </a:r>
            <a:endParaRPr lang="en-US" sz="1500" dirty="0"/>
          </a:p>
        </p:txBody>
      </p:sp>
      <p:sp>
        <p:nvSpPr>
          <p:cNvPr id="13" name="Text 11"/>
          <p:cNvSpPr txBox="1"/>
          <p:nvPr/>
        </p:nvSpPr>
        <p:spPr>
          <a:xfrm>
            <a:off x="3035808" y="2487168"/>
            <a:ext cx="1581912" cy="868680"/>
          </a:xfrm>
          <a:prstGeom prst="rect">
            <a:avLst/>
          </a:prstGeom>
          <a:noFill/>
          <a:ln/>
        </p:spPr>
        <p:txBody>
          <a:bodyPr wrap="square" lIns="0" tIns="0" rIns="0" bIns="0" rtlCol="0" anchor="t"/>
          <a:lstStyle/>
          <a:p>
            <a:pPr indent="0" marL="0">
              <a:lnSpc>
                <a:spcPts val="1400"/>
              </a:lnSpc>
              <a:buNone/>
            </a:pPr>
            <a:r>
              <a:rPr lang="en-US" sz="1050" dirty="0">
                <a:solidFill>
                  <a:srgbClr val="5B6B78"/>
                </a:solidFill>
                <a:latin typeface="Calibri" pitchFamily="34" charset="0"/>
                <a:ea typeface="Calibri" pitchFamily="34" charset="-122"/>
                <a:cs typeface="Calibri" pitchFamily="34" charset="-120"/>
              </a:rPr>
              <a:t>bounds, then hazard</a:t>
            </a:r>
            <a:endParaRPr lang="en-US" sz="1050" dirty="0"/>
          </a:p>
          <a:p>
            <a:pPr indent="0" marL="0">
              <a:lnSpc>
                <a:spcPts val="1400"/>
              </a:lnSpc>
              <a:buNone/>
            </a:pPr>
            <a:r>
              <a:rPr lang="en-US" sz="1050" dirty="0">
                <a:solidFill>
                  <a:srgbClr val="5B6B78"/>
                </a:solidFill>
                <a:latin typeface="Calibri" pitchFamily="34" charset="0"/>
                <a:ea typeface="Calibri" pitchFamily="34" charset="-122"/>
                <a:cs typeface="Calibri" pitchFamily="34" charset="-120"/>
              </a:rPr>
              <a:t>rules on combinations</a:t>
            </a:r>
            <a:endParaRPr lang="en-US" sz="1050" dirty="0"/>
          </a:p>
        </p:txBody>
      </p:sp>
      <p:sp>
        <p:nvSpPr>
          <p:cNvPr id="14" name="Text 12"/>
          <p:cNvSpPr txBox="1"/>
          <p:nvPr/>
        </p:nvSpPr>
        <p:spPr>
          <a:xfrm>
            <a:off x="4837176" y="2468880"/>
            <a:ext cx="246888" cy="365760"/>
          </a:xfrm>
          <a:prstGeom prst="rect">
            <a:avLst/>
          </a:prstGeom>
          <a:noFill/>
          <a:ln/>
        </p:spPr>
        <p:txBody>
          <a:bodyPr wrap="square" lIns="0" tIns="0" rIns="0" bIns="0" rtlCol="0" anchor="ctr"/>
          <a:lstStyle/>
          <a:p>
            <a:pPr algn="ctr" indent="0" marL="0">
              <a:buNone/>
            </a:pPr>
            <a:r>
              <a:rPr lang="en-US" sz="1500" dirty="0">
                <a:solidFill>
                  <a:srgbClr val="D4DCE3"/>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5102352" y="1920240"/>
            <a:ext cx="1984248" cy="1572768"/>
          </a:xfrm>
          <a:prstGeom prst="roundRect">
            <a:avLst>
              <a:gd name="adj" fmla="val 4651"/>
            </a:avLst>
          </a:prstGeom>
          <a:solidFill>
            <a:srgbClr val="FFFFFF"/>
          </a:solidFill>
          <a:ln w="9525">
            <a:solidFill>
              <a:srgbClr val="D4DCE3"/>
            </a:solidFill>
            <a:prstDash val="solid"/>
          </a:ln>
        </p:spPr>
      </p:sp>
      <p:sp>
        <p:nvSpPr>
          <p:cNvPr id="16" name="Text 14"/>
          <p:cNvSpPr txBox="1"/>
          <p:nvPr/>
        </p:nvSpPr>
        <p:spPr>
          <a:xfrm>
            <a:off x="5303520" y="2066544"/>
            <a:ext cx="365760" cy="274320"/>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5669280" y="2066544"/>
            <a:ext cx="1371600" cy="274320"/>
          </a:xfrm>
          <a:prstGeom prst="rect">
            <a:avLst/>
          </a:prstGeom>
          <a:noFill/>
          <a:ln/>
        </p:spPr>
        <p:txBody>
          <a:bodyPr wrap="square" lIns="0" tIns="0" rIns="0" bIns="0" rtlCol="0" anchor="ctr"/>
          <a:lstStyle/>
          <a:p>
            <a:pPr indent="0" marL="0">
              <a:buNone/>
            </a:pPr>
            <a:r>
              <a:rPr lang="en-US" sz="1500" b="1" dirty="0">
                <a:solidFill>
                  <a:srgbClr val="18222B"/>
                </a:solidFill>
                <a:latin typeface="Cambria" pitchFamily="34" charset="0"/>
                <a:ea typeface="Cambria" pitchFamily="34" charset="-122"/>
                <a:cs typeface="Cambria" pitchFamily="34" charset="-120"/>
              </a:rPr>
              <a:t>Execute</a:t>
            </a:r>
            <a:endParaRPr lang="en-US" sz="1500" dirty="0"/>
          </a:p>
        </p:txBody>
      </p:sp>
      <p:sp>
        <p:nvSpPr>
          <p:cNvPr id="18" name="Text 16"/>
          <p:cNvSpPr txBox="1"/>
          <p:nvPr/>
        </p:nvSpPr>
        <p:spPr>
          <a:xfrm>
            <a:off x="5303520" y="2487168"/>
            <a:ext cx="1581912" cy="868680"/>
          </a:xfrm>
          <a:prstGeom prst="rect">
            <a:avLst/>
          </a:prstGeom>
          <a:noFill/>
          <a:ln/>
        </p:spPr>
        <p:txBody>
          <a:bodyPr wrap="square" lIns="0" tIns="0" rIns="0" bIns="0" rtlCol="0" anchor="t"/>
          <a:lstStyle/>
          <a:p>
            <a:pPr indent="0" marL="0">
              <a:lnSpc>
                <a:spcPts val="1400"/>
              </a:lnSpc>
              <a:buNone/>
            </a:pPr>
            <a:r>
              <a:rPr lang="en-US" sz="1050" dirty="0">
                <a:solidFill>
                  <a:srgbClr val="5B6B78"/>
                </a:solidFill>
                <a:latin typeface="Calibri" pitchFamily="34" charset="0"/>
                <a:ea typeface="Calibri" pitchFamily="34" charset="-122"/>
                <a:cs typeface="Calibri" pitchFamily="34" charset="-120"/>
              </a:rPr>
              <a:t>six virtual instruments,</a:t>
            </a:r>
            <a:endParaRPr lang="en-US" sz="1050" dirty="0"/>
          </a:p>
          <a:p>
            <a:pPr indent="0" marL="0">
              <a:lnSpc>
                <a:spcPts val="1400"/>
              </a:lnSpc>
              <a:buNone/>
            </a:pPr>
            <a:r>
              <a:rPr lang="en-US" sz="1050" dirty="0">
                <a:solidFill>
                  <a:srgbClr val="5B6B78"/>
                </a:solidFill>
                <a:latin typeface="Calibri" pitchFamily="34" charset="0"/>
                <a:ea typeface="Calibri" pitchFamily="34" charset="-122"/>
                <a:cs typeface="Calibri" pitchFamily="34" charset="-120"/>
              </a:rPr>
              <a:t>in YAML order</a:t>
            </a:r>
            <a:endParaRPr lang="en-US" sz="1050" dirty="0"/>
          </a:p>
        </p:txBody>
      </p:sp>
      <p:sp>
        <p:nvSpPr>
          <p:cNvPr id="19" name="Text 17"/>
          <p:cNvSpPr txBox="1"/>
          <p:nvPr/>
        </p:nvSpPr>
        <p:spPr>
          <a:xfrm>
            <a:off x="7104888" y="2468880"/>
            <a:ext cx="246888" cy="365760"/>
          </a:xfrm>
          <a:prstGeom prst="rect">
            <a:avLst/>
          </a:prstGeom>
          <a:noFill/>
          <a:ln/>
        </p:spPr>
        <p:txBody>
          <a:bodyPr wrap="square" lIns="0" tIns="0" rIns="0" bIns="0" rtlCol="0" anchor="ctr"/>
          <a:lstStyle/>
          <a:p>
            <a:pPr algn="ctr" indent="0" marL="0">
              <a:buNone/>
            </a:pPr>
            <a:r>
              <a:rPr lang="en-US" sz="1500" dirty="0">
                <a:solidFill>
                  <a:srgbClr val="D4DCE3"/>
                </a:solidFill>
                <a:latin typeface="Calibri" pitchFamily="34" charset="0"/>
                <a:ea typeface="Calibri" pitchFamily="34" charset="-122"/>
                <a:cs typeface="Calibri" pitchFamily="34" charset="-120"/>
              </a:rPr>
              <a:t>→</a:t>
            </a:r>
            <a:endParaRPr lang="en-US" sz="1500" dirty="0"/>
          </a:p>
        </p:txBody>
      </p:sp>
      <p:sp>
        <p:nvSpPr>
          <p:cNvPr id="20" name="Shape 18"/>
          <p:cNvSpPr/>
          <p:nvPr/>
        </p:nvSpPr>
        <p:spPr>
          <a:xfrm>
            <a:off x="7370064" y="1920240"/>
            <a:ext cx="1984248" cy="1572768"/>
          </a:xfrm>
          <a:prstGeom prst="roundRect">
            <a:avLst>
              <a:gd name="adj" fmla="val 4651"/>
            </a:avLst>
          </a:prstGeom>
          <a:solidFill>
            <a:srgbClr val="FFFFFF"/>
          </a:solidFill>
          <a:ln w="9525">
            <a:solidFill>
              <a:srgbClr val="D4DCE3"/>
            </a:solidFill>
            <a:prstDash val="solid"/>
          </a:ln>
        </p:spPr>
      </p:sp>
      <p:sp>
        <p:nvSpPr>
          <p:cNvPr id="21" name="Text 19"/>
          <p:cNvSpPr txBox="1"/>
          <p:nvPr/>
        </p:nvSpPr>
        <p:spPr>
          <a:xfrm>
            <a:off x="7571232" y="2066544"/>
            <a:ext cx="365760" cy="274320"/>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936992" y="2066544"/>
            <a:ext cx="1371600" cy="274320"/>
          </a:xfrm>
          <a:prstGeom prst="rect">
            <a:avLst/>
          </a:prstGeom>
          <a:noFill/>
          <a:ln/>
        </p:spPr>
        <p:txBody>
          <a:bodyPr wrap="square" lIns="0" tIns="0" rIns="0" bIns="0" rtlCol="0" anchor="ctr"/>
          <a:lstStyle/>
          <a:p>
            <a:pPr indent="0" marL="0">
              <a:buNone/>
            </a:pPr>
            <a:r>
              <a:rPr lang="en-US" sz="1500" b="1" dirty="0">
                <a:solidFill>
                  <a:srgbClr val="18222B"/>
                </a:solidFill>
                <a:latin typeface="Cambria" pitchFamily="34" charset="0"/>
                <a:ea typeface="Cambria" pitchFamily="34" charset="-122"/>
                <a:cs typeface="Cambria" pitchFamily="34" charset="-120"/>
              </a:rPr>
              <a:t>Score</a:t>
            </a:r>
            <a:endParaRPr lang="en-US" sz="1500" dirty="0"/>
          </a:p>
        </p:txBody>
      </p:sp>
      <p:sp>
        <p:nvSpPr>
          <p:cNvPr id="23" name="Text 21"/>
          <p:cNvSpPr txBox="1"/>
          <p:nvPr/>
        </p:nvSpPr>
        <p:spPr>
          <a:xfrm>
            <a:off x="7571232" y="2487168"/>
            <a:ext cx="1581912" cy="868680"/>
          </a:xfrm>
          <a:prstGeom prst="rect">
            <a:avLst/>
          </a:prstGeom>
          <a:noFill/>
          <a:ln/>
        </p:spPr>
        <p:txBody>
          <a:bodyPr wrap="square" lIns="0" tIns="0" rIns="0" bIns="0" rtlCol="0" anchor="t"/>
          <a:lstStyle/>
          <a:p>
            <a:pPr indent="0" marL="0">
              <a:lnSpc>
                <a:spcPts val="1400"/>
              </a:lnSpc>
              <a:buNone/>
            </a:pPr>
            <a:r>
              <a:rPr lang="en-US" sz="1050" dirty="0">
                <a:solidFill>
                  <a:srgbClr val="5B6B78"/>
                </a:solidFill>
                <a:latin typeface="Calibri" pitchFamily="34" charset="0"/>
                <a:ea typeface="Calibri" pitchFamily="34" charset="-122"/>
                <a:cs typeface="Calibri" pitchFamily="34" charset="-120"/>
              </a:rPr>
              <a:t>measurements become</a:t>
            </a:r>
            <a:endParaRPr lang="en-US" sz="1050" dirty="0"/>
          </a:p>
          <a:p>
            <a:pPr indent="0" marL="0">
              <a:lnSpc>
                <a:spcPts val="1400"/>
              </a:lnSpc>
              <a:buNone/>
            </a:pPr>
            <a:r>
              <a:rPr lang="en-US" sz="1050" dirty="0">
                <a:solidFill>
                  <a:srgbClr val="5B6B78"/>
                </a:solidFill>
                <a:latin typeface="Calibri" pitchFamily="34" charset="0"/>
                <a:ea typeface="Calibri" pitchFamily="34" charset="-122"/>
                <a:cs typeface="Calibri" pitchFamily="34" charset="-120"/>
              </a:rPr>
              <a:t>one number, via policy</a:t>
            </a:r>
            <a:endParaRPr lang="en-US" sz="1050" dirty="0"/>
          </a:p>
        </p:txBody>
      </p:sp>
      <p:sp>
        <p:nvSpPr>
          <p:cNvPr id="24" name="Text 22"/>
          <p:cNvSpPr txBox="1"/>
          <p:nvPr/>
        </p:nvSpPr>
        <p:spPr>
          <a:xfrm>
            <a:off x="9372600" y="2468880"/>
            <a:ext cx="246888" cy="365760"/>
          </a:xfrm>
          <a:prstGeom prst="rect">
            <a:avLst/>
          </a:prstGeom>
          <a:noFill/>
          <a:ln/>
        </p:spPr>
        <p:txBody>
          <a:bodyPr wrap="square" lIns="0" tIns="0" rIns="0" bIns="0" rtlCol="0" anchor="ctr"/>
          <a:lstStyle/>
          <a:p>
            <a:pPr algn="ctr" indent="0" marL="0">
              <a:buNone/>
            </a:pPr>
            <a:r>
              <a:rPr lang="en-US" sz="1500" dirty="0">
                <a:solidFill>
                  <a:srgbClr val="D4DCE3"/>
                </a:solidFill>
                <a:latin typeface="Calibri" pitchFamily="34" charset="0"/>
                <a:ea typeface="Calibri" pitchFamily="34" charset="-122"/>
                <a:cs typeface="Calibri" pitchFamily="34" charset="-120"/>
              </a:rPr>
              <a:t>→</a:t>
            </a:r>
            <a:endParaRPr lang="en-US" sz="1500" dirty="0"/>
          </a:p>
        </p:txBody>
      </p:sp>
      <p:sp>
        <p:nvSpPr>
          <p:cNvPr id="25" name="Shape 23"/>
          <p:cNvSpPr/>
          <p:nvPr/>
        </p:nvSpPr>
        <p:spPr>
          <a:xfrm>
            <a:off x="9637776" y="1920240"/>
            <a:ext cx="1984248" cy="1572768"/>
          </a:xfrm>
          <a:prstGeom prst="roundRect">
            <a:avLst>
              <a:gd name="adj" fmla="val 4651"/>
            </a:avLst>
          </a:prstGeom>
          <a:solidFill>
            <a:srgbClr val="FFFFFF"/>
          </a:solidFill>
          <a:ln w="9525">
            <a:solidFill>
              <a:srgbClr val="D4DCE3"/>
            </a:solidFill>
            <a:prstDash val="solid"/>
          </a:ln>
        </p:spPr>
      </p:sp>
      <p:sp>
        <p:nvSpPr>
          <p:cNvPr id="26" name="Text 24"/>
          <p:cNvSpPr txBox="1"/>
          <p:nvPr/>
        </p:nvSpPr>
        <p:spPr>
          <a:xfrm>
            <a:off x="9838944" y="2066544"/>
            <a:ext cx="365760" cy="274320"/>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10204704" y="2066544"/>
            <a:ext cx="1371600" cy="274320"/>
          </a:xfrm>
          <a:prstGeom prst="rect">
            <a:avLst/>
          </a:prstGeom>
          <a:noFill/>
          <a:ln/>
        </p:spPr>
        <p:txBody>
          <a:bodyPr wrap="square" lIns="0" tIns="0" rIns="0" bIns="0" rtlCol="0" anchor="ctr"/>
          <a:lstStyle/>
          <a:p>
            <a:pPr indent="0" marL="0">
              <a:buNone/>
            </a:pPr>
            <a:r>
              <a:rPr lang="en-US" sz="1500" b="1" dirty="0">
                <a:solidFill>
                  <a:srgbClr val="18222B"/>
                </a:solidFill>
                <a:latin typeface="Cambria" pitchFamily="34" charset="0"/>
                <a:ea typeface="Cambria" pitchFamily="34" charset="-122"/>
                <a:cs typeface="Cambria" pitchFamily="34" charset="-120"/>
              </a:rPr>
              <a:t>Gate</a:t>
            </a:r>
            <a:endParaRPr lang="en-US" sz="1500" dirty="0"/>
          </a:p>
        </p:txBody>
      </p:sp>
      <p:sp>
        <p:nvSpPr>
          <p:cNvPr id="28" name="Text 26"/>
          <p:cNvSpPr txBox="1"/>
          <p:nvPr/>
        </p:nvSpPr>
        <p:spPr>
          <a:xfrm>
            <a:off x="9838944" y="2487168"/>
            <a:ext cx="1581912" cy="868680"/>
          </a:xfrm>
          <a:prstGeom prst="rect">
            <a:avLst/>
          </a:prstGeom>
          <a:noFill/>
          <a:ln/>
        </p:spPr>
        <p:txBody>
          <a:bodyPr wrap="square" lIns="0" tIns="0" rIns="0" bIns="0" rtlCol="0" anchor="t"/>
          <a:lstStyle/>
          <a:p>
            <a:pPr indent="0" marL="0">
              <a:lnSpc>
                <a:spcPts val="1400"/>
              </a:lnSpc>
              <a:buNone/>
            </a:pPr>
            <a:r>
              <a:rPr lang="en-US" sz="1050" dirty="0">
                <a:solidFill>
                  <a:srgbClr val="5B6B78"/>
                </a:solidFill>
                <a:latin typeface="Calibri" pitchFamily="34" charset="0"/>
                <a:ea typeface="Calibri" pitchFamily="34" charset="-122"/>
                <a:cs typeface="Calibri" pitchFamily="34" charset="-120"/>
              </a:rPr>
              <a:t>only clean, successful</a:t>
            </a:r>
            <a:endParaRPr lang="en-US" sz="1050" dirty="0"/>
          </a:p>
          <a:p>
            <a:pPr indent="0" marL="0">
              <a:lnSpc>
                <a:spcPts val="1400"/>
              </a:lnSpc>
              <a:buNone/>
            </a:pPr>
            <a:r>
              <a:rPr lang="en-US" sz="1050" dirty="0">
                <a:solidFill>
                  <a:srgbClr val="5B6B78"/>
                </a:solidFill>
                <a:latin typeface="Calibri" pitchFamily="34" charset="0"/>
                <a:ea typeface="Calibri" pitchFamily="34" charset="-122"/>
                <a:cs typeface="Calibri" pitchFamily="34" charset="-120"/>
              </a:rPr>
              <a:t>runs feed back</a:t>
            </a:r>
            <a:endParaRPr lang="en-US" sz="1050" dirty="0"/>
          </a:p>
        </p:txBody>
      </p:sp>
      <p:sp>
        <p:nvSpPr>
          <p:cNvPr id="29" name="Shape 27"/>
          <p:cNvSpPr/>
          <p:nvPr/>
        </p:nvSpPr>
        <p:spPr>
          <a:xfrm>
            <a:off x="566928" y="3840480"/>
            <a:ext cx="5669280" cy="2240280"/>
          </a:xfrm>
          <a:prstGeom prst="roundRect">
            <a:avLst>
              <a:gd name="adj" fmla="val 3265"/>
            </a:avLst>
          </a:prstGeom>
          <a:solidFill>
            <a:srgbClr val="FDEEE6"/>
          </a:solidFill>
          <a:ln w="9525">
            <a:solidFill>
              <a:srgbClr val="F0C4AE"/>
            </a:solidFill>
            <a:prstDash val="solid"/>
          </a:ln>
        </p:spPr>
      </p:sp>
      <p:sp>
        <p:nvSpPr>
          <p:cNvPr id="30" name="Text 28"/>
          <p:cNvSpPr txBox="1"/>
          <p:nvPr/>
        </p:nvSpPr>
        <p:spPr>
          <a:xfrm>
            <a:off x="859536" y="4069080"/>
            <a:ext cx="5120640" cy="384048"/>
          </a:xfrm>
          <a:prstGeom prst="rect">
            <a:avLst/>
          </a:prstGeom>
          <a:noFill/>
          <a:ln/>
        </p:spPr>
        <p:txBody>
          <a:bodyPr wrap="square" lIns="0" tIns="0" rIns="0" bIns="0" rtlCol="0" anchor="ctr"/>
          <a:lstStyle/>
          <a:p>
            <a:pPr indent="0" marL="0">
              <a:buNone/>
            </a:pPr>
            <a:r>
              <a:rPr lang="en-US" sz="1900" b="1" dirty="0">
                <a:solidFill>
                  <a:srgbClr val="C2410C"/>
                </a:solidFill>
                <a:latin typeface="Courier New" pitchFamily="34" charset="0"/>
                <a:ea typeface="Courier New" pitchFamily="34" charset="-122"/>
                <a:cs typeface="Courier New" pitchFamily="34" charset="-120"/>
              </a:rPr>
              <a:t>blocked  ≠  failed</a:t>
            </a:r>
            <a:endParaRPr lang="en-US" sz="1900" dirty="0"/>
          </a:p>
        </p:txBody>
      </p:sp>
      <p:sp>
        <p:nvSpPr>
          <p:cNvPr id="31" name="Text 29"/>
          <p:cNvSpPr txBox="1"/>
          <p:nvPr/>
        </p:nvSpPr>
        <p:spPr>
          <a:xfrm>
            <a:off x="859536" y="4526280"/>
            <a:ext cx="5120640" cy="1463040"/>
          </a:xfrm>
          <a:prstGeom prst="rect">
            <a:avLst/>
          </a:prstGeom>
          <a:noFill/>
          <a:ln/>
        </p:spPr>
        <p:txBody>
          <a:bodyPr wrap="square" lIns="0" tIns="0" rIns="0" bIns="0" rtlCol="0" anchor="t"/>
          <a:lstStyle/>
          <a:p>
            <a:pPr algn="l" indent="0" marL="0">
              <a:lnSpc>
                <a:spcPts val="1600"/>
              </a:lnSpc>
              <a:buNone/>
            </a:pPr>
            <a:r>
              <a:rPr lang="en-US" sz="1150" dirty="0">
                <a:solidFill>
                  <a:srgbClr val="18222B"/>
                </a:solidFill>
                <a:latin typeface="Calibri" pitchFamily="34" charset="0"/>
                <a:ea typeface="Calibri" pitchFamily="34" charset="-122"/>
                <a:cs typeface="Calibri" pitchFamily="34" charset="-120"/>
              </a:rPr>
              <a:t>A failure means a sample was consumed and produced nothing. A block means the gate refused to consume one at all. They cost a real lab completely different amounts, so they are separate statuses and the benchmark reports them separately.</a:t>
            </a:r>
            <a:endParaRPr lang="en-US" sz="1150" dirty="0"/>
          </a:p>
          <a:p>
            <a:pPr algn="l" indent="0" marL="0">
              <a:lnSpc>
                <a:spcPts val="1600"/>
              </a:lnSpc>
              <a:buNone/>
            </a:pPr>
            <a:endParaRPr lang="en-US" sz="1150" dirty="0"/>
          </a:p>
          <a:p>
            <a:pPr algn="l" indent="0" marL="0">
              <a:lnSpc>
                <a:spcPts val="1600"/>
              </a:lnSpc>
              <a:buNone/>
            </a:pPr>
            <a:r>
              <a:rPr lang="en-US" sz="1150" dirty="0">
                <a:solidFill>
                  <a:srgbClr val="18222B"/>
                </a:solidFill>
                <a:latin typeface="Calibri" pitchFamily="34" charset="0"/>
                <a:ea typeface="Calibri" pitchFamily="34" charset="-122"/>
                <a:cs typeface="Calibri" pitchFamily="34" charset="-120"/>
              </a:rPr>
              <a:t>A blocked experiment runs zero devices.</a:t>
            </a:r>
            <a:endParaRPr lang="en-US" sz="1150" dirty="0"/>
          </a:p>
        </p:txBody>
      </p:sp>
      <p:sp>
        <p:nvSpPr>
          <p:cNvPr id="32" name="Shape 30"/>
          <p:cNvSpPr/>
          <p:nvPr/>
        </p:nvSpPr>
        <p:spPr>
          <a:xfrm>
            <a:off x="6492240" y="3840480"/>
            <a:ext cx="5120640" cy="2240280"/>
          </a:xfrm>
          <a:prstGeom prst="roundRect">
            <a:avLst>
              <a:gd name="adj" fmla="val 3265"/>
            </a:avLst>
          </a:prstGeom>
          <a:solidFill>
            <a:srgbClr val="FFFFFF"/>
          </a:solidFill>
          <a:ln w="9525">
            <a:solidFill>
              <a:srgbClr val="D4DCE3"/>
            </a:solidFill>
            <a:prstDash val="solid"/>
          </a:ln>
        </p:spPr>
      </p:sp>
      <p:sp>
        <p:nvSpPr>
          <p:cNvPr id="33" name="Text 31"/>
          <p:cNvSpPr txBox="1"/>
          <p:nvPr/>
        </p:nvSpPr>
        <p:spPr>
          <a:xfrm>
            <a:off x="6784848" y="4041648"/>
            <a:ext cx="4572000" cy="457200"/>
          </a:xfrm>
          <a:prstGeom prst="rect">
            <a:avLst/>
          </a:prstGeom>
          <a:noFill/>
          <a:ln/>
        </p:spPr>
        <p:txBody>
          <a:bodyPr wrap="square" lIns="0" tIns="0" rIns="0" bIns="0" rtlCol="0" anchor="ctr"/>
          <a:lstStyle/>
          <a:p>
            <a:pPr indent="0" marL="0">
              <a:lnSpc>
                <a:spcPts val="1900"/>
              </a:lnSpc>
              <a:buNone/>
            </a:pPr>
            <a:r>
              <a:rPr lang="en-US" sz="1500" b="1" dirty="0">
                <a:solidFill>
                  <a:srgbClr val="18222B"/>
                </a:solidFill>
                <a:latin typeface="Cambria" pitchFamily="34" charset="0"/>
                <a:ea typeface="Cambria" pitchFamily="34" charset="-122"/>
                <a:cs typeface="Cambria" pitchFamily="34" charset="-120"/>
              </a:rPr>
              <a:t>The guardrail is set inside the uncertainty band</a:t>
            </a:r>
            <a:endParaRPr lang="en-US" sz="1500" dirty="0"/>
          </a:p>
        </p:txBody>
      </p:sp>
      <p:sp>
        <p:nvSpPr>
          <p:cNvPr id="34" name="Text 32"/>
          <p:cNvSpPr txBox="1"/>
          <p:nvPr/>
        </p:nvSpPr>
        <p:spPr>
          <a:xfrm>
            <a:off x="6784848" y="4553712"/>
            <a:ext cx="4572000" cy="566928"/>
          </a:xfrm>
          <a:prstGeom prst="rect">
            <a:avLst/>
          </a:prstGeom>
          <a:noFill/>
          <a:ln/>
        </p:spPr>
        <p:txBody>
          <a:bodyPr wrap="square" lIns="0" tIns="0" rIns="0" bIns="0" rtlCol="0" anchor="t"/>
          <a:lstStyle/>
          <a:p>
            <a:pPr indent="0" marL="0">
              <a:lnSpc>
                <a:spcPts val="1700"/>
              </a:lnSpc>
              <a:buNone/>
            </a:pPr>
            <a:r>
              <a:rPr lang="en-US" sz="1250" dirty="0">
                <a:solidFill>
                  <a:srgbClr val="1F5F8B"/>
                </a:solidFill>
                <a:latin typeface="Courier New" pitchFamily="34" charset="0"/>
                <a:ea typeface="Courier New" pitchFamily="34" charset="-122"/>
                <a:cs typeface="Courier New" pitchFamily="34" charset="-120"/>
              </a:rPr>
              <a:t>blocks at  440 °C / 40 min</a:t>
            </a:r>
            <a:endParaRPr lang="en-US" sz="1250" dirty="0"/>
          </a:p>
          <a:p>
            <a:pPr indent="0" marL="0">
              <a:lnSpc>
                <a:spcPts val="1700"/>
              </a:lnSpc>
              <a:buNone/>
            </a:pPr>
            <a:r>
              <a:rPr lang="en-US" sz="1250" dirty="0">
                <a:solidFill>
                  <a:srgbClr val="1F5F8B"/>
                </a:solidFill>
                <a:latin typeface="Courier New" pitchFamily="34" charset="0"/>
                <a:ea typeface="Courier New" pitchFamily="34" charset="-122"/>
                <a:cs typeface="Courier New" pitchFamily="34" charset="-120"/>
              </a:rPr>
              <a:t>degrades at  450 °C / 45 min</a:t>
            </a:r>
            <a:endParaRPr lang="en-US" sz="1250" dirty="0"/>
          </a:p>
        </p:txBody>
      </p:sp>
      <p:sp>
        <p:nvSpPr>
          <p:cNvPr id="35" name="Text 33"/>
          <p:cNvSpPr txBox="1"/>
          <p:nvPr/>
        </p:nvSpPr>
        <p:spPr>
          <a:xfrm>
            <a:off x="6784848" y="5230368"/>
            <a:ext cx="4572000" cy="777240"/>
          </a:xfrm>
          <a:prstGeom prst="rect">
            <a:avLst/>
          </a:prstGeom>
          <a:noFill/>
          <a:ln/>
        </p:spPr>
        <p:txBody>
          <a:bodyPr wrap="square" lIns="0" tIns="0" rIns="0" bIns="0" rtlCol="0" anchor="t"/>
          <a:lstStyle/>
          <a:p>
            <a:pPr algn="l" indent="0" marL="0">
              <a:lnSpc>
                <a:spcPts val="1500"/>
              </a:lnSpc>
              <a:buNone/>
            </a:pPr>
            <a:r>
              <a:rPr lang="en-US" sz="1100" dirty="0">
                <a:solidFill>
                  <a:srgbClr val="5B6B78"/>
                </a:solidFill>
                <a:latin typeface="Calibri" pitchFamily="34" charset="0"/>
                <a:ea typeface="Calibri" pitchFamily="34" charset="-122"/>
                <a:cs typeface="Calibri" pitchFamily="34" charset="-120"/>
              </a:rPr>
              <a:t>A real lab does not know exactly where the cliff is, so the rule fires before the sample is destroyed. This costs reachable search space — which is why blocked is reported as its own rate. Governance is not free, and the system shows its price.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4224528" cy="292608"/>
          </a:xfrm>
          <a:prstGeom prst="roundRect">
            <a:avLst>
              <a:gd name="adj" fmla="val 50000"/>
            </a:avLst>
          </a:prstGeom>
          <a:solidFill>
            <a:srgbClr val="1F5F8B"/>
          </a:solidFill>
          <a:ln w="12700">
            <a:solidFill>
              <a:srgbClr val="1F5F8B"/>
            </a:solidFill>
            <a:prstDash val="solid"/>
          </a:ln>
        </p:spPr>
      </p:sp>
      <p:sp>
        <p:nvSpPr>
          <p:cNvPr id="3" name="Text 1"/>
          <p:cNvSpPr txBox="1"/>
          <p:nvPr/>
        </p:nvSpPr>
        <p:spPr>
          <a:xfrm>
            <a:off x="566928" y="384048"/>
            <a:ext cx="422452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05  ·  DOES IT ACTUALLY WORK</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Bayesian optimization vs random, 30 seeds</a:t>
            </a:r>
            <a:endParaRPr lang="en-US" sz="3400" dirty="0"/>
          </a:p>
        </p:txBody>
      </p:sp>
      <p:graphicFrame>
        <p:nvGraphicFramePr>
          <p:cNvPr id="5" name="Chart 0" descr=""/>
          <p:cNvGraphicFramePr/>
          <p:nvPr/>
        </p:nvGraphicFramePr>
        <p:xfrm>
          <a:off x="566928"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321040" y="1828800"/>
            <a:ext cx="3291840" cy="603504"/>
          </a:xfrm>
          <a:prstGeom prst="rect">
            <a:avLst/>
          </a:prstGeom>
          <a:noFill/>
          <a:ln/>
        </p:spPr>
        <p:txBody>
          <a:bodyPr wrap="square" lIns="0" tIns="0" rIns="0" bIns="0" rtlCol="0" anchor="ctr"/>
          <a:lstStyle/>
          <a:p>
            <a:pPr indent="0" marL="0">
              <a:buNone/>
            </a:pPr>
            <a:r>
              <a:rPr lang="en-US" sz="4000" b="1" dirty="0">
                <a:solidFill>
                  <a:srgbClr val="1F5F8B"/>
                </a:solidFill>
                <a:latin typeface="Cambria" pitchFamily="34" charset="0"/>
                <a:ea typeface="Cambria" pitchFamily="34" charset="-122"/>
                <a:cs typeface="Cambria" pitchFamily="34" charset="-120"/>
              </a:rPr>
              <a:t>0.818</a:t>
            </a:r>
            <a:endParaRPr lang="en-US" sz="4000" dirty="0"/>
          </a:p>
        </p:txBody>
      </p:sp>
      <p:sp>
        <p:nvSpPr>
          <p:cNvPr id="7" name="Text 4"/>
          <p:cNvSpPr txBox="1"/>
          <p:nvPr/>
        </p:nvSpPr>
        <p:spPr>
          <a:xfrm>
            <a:off x="8321040" y="2414016"/>
            <a:ext cx="3291840" cy="457200"/>
          </a:xfrm>
          <a:prstGeom prst="rect">
            <a:avLst/>
          </a:prstGeom>
          <a:noFill/>
          <a:ln/>
        </p:spPr>
        <p:txBody>
          <a:bodyPr wrap="square" lIns="0" tIns="0" rIns="0" bIns="0" rtlCol="0" anchor="t"/>
          <a:lstStyle/>
          <a:p>
            <a:pPr indent="0" marL="0">
              <a:lnSpc>
                <a:spcPts val="1400"/>
              </a:lnSpc>
              <a:buNone/>
            </a:pPr>
            <a:r>
              <a:rPr lang="en-US" sz="1100" dirty="0">
                <a:solidFill>
                  <a:srgbClr val="5B6B78"/>
                </a:solidFill>
                <a:latin typeface="Calibri" pitchFamily="34" charset="0"/>
                <a:ea typeface="Calibri" pitchFamily="34" charset="-122"/>
                <a:cs typeface="Calibri" pitchFamily="34" charset="-120"/>
              </a:rPr>
              <a:t>Bayesian optimization, median best</a:t>
            </a:r>
            <a:endParaRPr lang="en-US" sz="1100" dirty="0"/>
          </a:p>
          <a:p>
            <a:pPr indent="0" marL="0">
              <a:lnSpc>
                <a:spcPts val="1400"/>
              </a:lnSpc>
              <a:buNone/>
            </a:pPr>
            <a:r>
              <a:rPr lang="en-US" sz="1100" dirty="0">
                <a:solidFill>
                  <a:srgbClr val="5B6B78"/>
                </a:solidFill>
                <a:latin typeface="Calibri" pitchFamily="34" charset="0"/>
                <a:ea typeface="Calibri" pitchFamily="34" charset="-122"/>
                <a:cs typeface="Calibri" pitchFamily="34" charset="-120"/>
              </a:rPr>
              <a:t>IQR [0.723, 0.855]</a:t>
            </a:r>
            <a:endParaRPr lang="en-US" sz="1100" dirty="0"/>
          </a:p>
        </p:txBody>
      </p:sp>
      <p:sp>
        <p:nvSpPr>
          <p:cNvPr id="8" name="Text 5"/>
          <p:cNvSpPr txBox="1"/>
          <p:nvPr/>
        </p:nvSpPr>
        <p:spPr>
          <a:xfrm>
            <a:off x="8321040" y="3063240"/>
            <a:ext cx="3291840" cy="603504"/>
          </a:xfrm>
          <a:prstGeom prst="rect">
            <a:avLst/>
          </a:prstGeom>
          <a:noFill/>
          <a:ln/>
        </p:spPr>
        <p:txBody>
          <a:bodyPr wrap="square" lIns="0" tIns="0" rIns="0" bIns="0" rtlCol="0" anchor="ctr"/>
          <a:lstStyle/>
          <a:p>
            <a:pPr indent="0" marL="0">
              <a:buNone/>
            </a:pPr>
            <a:r>
              <a:rPr lang="en-US" sz="4000" b="1" dirty="0">
                <a:solidFill>
                  <a:srgbClr val="7A8894"/>
                </a:solidFill>
                <a:latin typeface="Cambria" pitchFamily="34" charset="0"/>
                <a:ea typeface="Cambria" pitchFamily="34" charset="-122"/>
                <a:cs typeface="Cambria" pitchFamily="34" charset="-120"/>
              </a:rPr>
              <a:t>0.724</a:t>
            </a:r>
            <a:endParaRPr lang="en-US" sz="4000" dirty="0"/>
          </a:p>
        </p:txBody>
      </p:sp>
      <p:sp>
        <p:nvSpPr>
          <p:cNvPr id="9" name="Text 6"/>
          <p:cNvSpPr txBox="1"/>
          <p:nvPr/>
        </p:nvSpPr>
        <p:spPr>
          <a:xfrm>
            <a:off x="8321040" y="3648456"/>
            <a:ext cx="3291840" cy="457200"/>
          </a:xfrm>
          <a:prstGeom prst="rect">
            <a:avLst/>
          </a:prstGeom>
          <a:noFill/>
          <a:ln/>
        </p:spPr>
        <p:txBody>
          <a:bodyPr wrap="square" lIns="0" tIns="0" rIns="0" bIns="0" rtlCol="0" anchor="t"/>
          <a:lstStyle/>
          <a:p>
            <a:pPr indent="0" marL="0">
              <a:lnSpc>
                <a:spcPts val="1400"/>
              </a:lnSpc>
              <a:buNone/>
            </a:pPr>
            <a:r>
              <a:rPr lang="en-US" sz="1100" dirty="0">
                <a:solidFill>
                  <a:srgbClr val="5B6B78"/>
                </a:solidFill>
                <a:latin typeface="Calibri" pitchFamily="34" charset="0"/>
                <a:ea typeface="Calibri" pitchFamily="34" charset="-122"/>
                <a:cs typeface="Calibri" pitchFamily="34" charset="-120"/>
              </a:rPr>
              <a:t>Random search, median best</a:t>
            </a:r>
            <a:endParaRPr lang="en-US" sz="1100" dirty="0"/>
          </a:p>
          <a:p>
            <a:pPr indent="0" marL="0">
              <a:lnSpc>
                <a:spcPts val="1400"/>
              </a:lnSpc>
              <a:buNone/>
            </a:pPr>
            <a:r>
              <a:rPr lang="en-US" sz="1100" dirty="0">
                <a:solidFill>
                  <a:srgbClr val="5B6B78"/>
                </a:solidFill>
                <a:latin typeface="Calibri" pitchFamily="34" charset="0"/>
                <a:ea typeface="Calibri" pitchFamily="34" charset="-122"/>
                <a:cs typeface="Calibri" pitchFamily="34" charset="-120"/>
              </a:rPr>
              <a:t>IQR [0.663, 0.806]</a:t>
            </a:r>
            <a:endParaRPr lang="en-US" sz="1100" dirty="0"/>
          </a:p>
        </p:txBody>
      </p:sp>
      <p:sp>
        <p:nvSpPr>
          <p:cNvPr id="10" name="Text 7"/>
          <p:cNvSpPr txBox="1"/>
          <p:nvPr/>
        </p:nvSpPr>
        <p:spPr>
          <a:xfrm>
            <a:off x="8321040" y="4297680"/>
            <a:ext cx="3291840" cy="603504"/>
          </a:xfrm>
          <a:prstGeom prst="rect">
            <a:avLst/>
          </a:prstGeom>
          <a:noFill/>
          <a:ln/>
        </p:spPr>
        <p:txBody>
          <a:bodyPr wrap="square" lIns="0" tIns="0" rIns="0" bIns="0" rtlCol="0" anchor="ctr"/>
          <a:lstStyle/>
          <a:p>
            <a:pPr indent="0" marL="0">
              <a:buNone/>
            </a:pPr>
            <a:r>
              <a:rPr lang="en-US" sz="4000" b="1" dirty="0">
                <a:solidFill>
                  <a:srgbClr val="C2410C"/>
                </a:solidFill>
                <a:latin typeface="Cambria" pitchFamily="34" charset="0"/>
                <a:ea typeface="Cambria" pitchFamily="34" charset="-122"/>
                <a:cs typeface="Cambria" pitchFamily="34" charset="-120"/>
              </a:rPr>
              <a:t>20 / 30</a:t>
            </a:r>
            <a:endParaRPr lang="en-US" sz="4000" dirty="0"/>
          </a:p>
        </p:txBody>
      </p:sp>
      <p:sp>
        <p:nvSpPr>
          <p:cNvPr id="11" name="Text 8"/>
          <p:cNvSpPr txBox="1"/>
          <p:nvPr/>
        </p:nvSpPr>
        <p:spPr>
          <a:xfrm>
            <a:off x="8321040" y="4882896"/>
            <a:ext cx="3291840" cy="457200"/>
          </a:xfrm>
          <a:prstGeom prst="rect">
            <a:avLst/>
          </a:prstGeom>
          <a:noFill/>
          <a:ln/>
        </p:spPr>
        <p:txBody>
          <a:bodyPr wrap="square" lIns="0" tIns="0" rIns="0" bIns="0" rtlCol="0" anchor="t"/>
          <a:lstStyle/>
          <a:p>
            <a:pPr indent="0" marL="0">
              <a:lnSpc>
                <a:spcPts val="1400"/>
              </a:lnSpc>
              <a:buNone/>
            </a:pPr>
            <a:r>
              <a:rPr lang="en-US" sz="1100" dirty="0">
                <a:solidFill>
                  <a:srgbClr val="5B6B78"/>
                </a:solidFill>
                <a:latin typeface="Calibri" pitchFamily="34" charset="0"/>
                <a:ea typeface="Calibri" pitchFamily="34" charset="-122"/>
                <a:cs typeface="Calibri" pitchFamily="34" charset="-120"/>
              </a:rPr>
              <a:t>seeds where BO won, median gap +0.093</a:t>
            </a:r>
            <a:endParaRPr lang="en-US" sz="1100" dirty="0"/>
          </a:p>
          <a:p>
            <a:pPr indent="0" marL="0">
              <a:lnSpc>
                <a:spcPts val="1400"/>
              </a:lnSpc>
              <a:buNone/>
            </a:pPr>
            <a:r>
              <a:rPr lang="en-US" sz="1100" dirty="0">
                <a:solidFill>
                  <a:srgbClr val="5B6B78"/>
                </a:solidFill>
                <a:latin typeface="Calibri" pitchFamily="34" charset="0"/>
                <a:ea typeface="Calibri" pitchFamily="34" charset="-122"/>
                <a:cs typeface="Calibri" pitchFamily="34" charset="-120"/>
              </a:rPr>
              <a:t>Paired comparison is valid because both</a:t>
            </a:r>
            <a:endParaRPr lang="en-US" sz="1100" dirty="0"/>
          </a:p>
          <a:p>
            <a:pPr indent="0" marL="0">
              <a:lnSpc>
                <a:spcPts val="1400"/>
              </a:lnSpc>
              <a:buNone/>
            </a:pPr>
            <a:r>
              <a:rPr lang="en-US" sz="1100" dirty="0">
                <a:solidFill>
                  <a:srgbClr val="5B6B78"/>
                </a:solidFill>
                <a:latin typeface="Calibri" pitchFamily="34" charset="0"/>
                <a:ea typeface="Calibri" pitchFamily="34" charset="-122"/>
                <a:cs typeface="Calibri" pitchFamily="34" charset="-120"/>
              </a:rPr>
              <a:t>methods meet the same lab noise.</a:t>
            </a:r>
            <a:endParaRPr lang="en-US" sz="1100" dirty="0"/>
          </a:p>
        </p:txBody>
      </p:sp>
      <p:sp>
        <p:nvSpPr>
          <p:cNvPr id="12" name="Text 9"/>
          <p:cNvSpPr txBox="1"/>
          <p:nvPr/>
        </p:nvSpPr>
        <p:spPr>
          <a:xfrm>
            <a:off x="566928" y="6144768"/>
            <a:ext cx="10972800" cy="914400"/>
          </a:xfrm>
          <a:prstGeom prst="rect">
            <a:avLst/>
          </a:prstGeom>
          <a:noFill/>
          <a:ln/>
        </p:spPr>
        <p:txBody>
          <a:bodyPr wrap="square" lIns="0" tIns="0" rIns="0" bIns="0" rtlCol="0" anchor="t"/>
          <a:lstStyle/>
          <a:p>
            <a:pPr algn="l" indent="0" marL="0">
              <a:lnSpc>
                <a:spcPts val="1900"/>
              </a:lnSpc>
              <a:buNone/>
            </a:pPr>
            <a:r>
              <a:rPr lang="en-US" sz="1100" dirty="0">
                <a:solidFill>
                  <a:srgbClr val="5B6B78"/>
                </a:solidFill>
                <a:latin typeface="Calibri" pitchFamily="34" charset="0"/>
                <a:ea typeface="Calibri" pitchFamily="34" charset="-122"/>
                <a:cs typeface="Calibri" pitchFamily="34" charset="-120"/>
              </a:rPr>
              <a:t>Every figure on this slide is produced by scripts/run_cdte_benchmark.py and written to artifacts/. Nothing is hand-entered — the deck reads the same JSON the dashboard does.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3950208" cy="292608"/>
          </a:xfrm>
          <a:prstGeom prst="roundRect">
            <a:avLst>
              <a:gd name="adj" fmla="val 50000"/>
            </a:avLst>
          </a:prstGeom>
          <a:solidFill>
            <a:srgbClr val="C2410C"/>
          </a:solidFill>
          <a:ln w="12700">
            <a:solidFill>
              <a:srgbClr val="C2410C"/>
            </a:solidFill>
            <a:prstDash val="solid"/>
          </a:ln>
        </p:spPr>
      </p:sp>
      <p:sp>
        <p:nvSpPr>
          <p:cNvPr id="3" name="Text 1"/>
          <p:cNvSpPr txBox="1"/>
          <p:nvPr/>
        </p:nvSpPr>
        <p:spPr>
          <a:xfrm>
            <a:off x="566928" y="384048"/>
            <a:ext cx="395020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06  ·  READING IT HONESTLY</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Three things I say before I am asked</a:t>
            </a:r>
            <a:endParaRPr lang="en-US" sz="3400" dirty="0"/>
          </a:p>
        </p:txBody>
      </p:sp>
      <p:sp>
        <p:nvSpPr>
          <p:cNvPr id="5" name="Shape 3"/>
          <p:cNvSpPr/>
          <p:nvPr/>
        </p:nvSpPr>
        <p:spPr>
          <a:xfrm>
            <a:off x="566928" y="1920240"/>
            <a:ext cx="3502152" cy="3200400"/>
          </a:xfrm>
          <a:prstGeom prst="roundRect">
            <a:avLst>
              <a:gd name="adj" fmla="val 2286"/>
            </a:avLst>
          </a:prstGeom>
          <a:solidFill>
            <a:srgbClr val="FFFFFF"/>
          </a:solidFill>
          <a:ln w="9525">
            <a:solidFill>
              <a:srgbClr val="D4DCE3"/>
            </a:solidFill>
            <a:prstDash val="solid"/>
          </a:ln>
        </p:spPr>
      </p:sp>
      <p:sp>
        <p:nvSpPr>
          <p:cNvPr id="6" name="Shape 4"/>
          <p:cNvSpPr/>
          <p:nvPr/>
        </p:nvSpPr>
        <p:spPr>
          <a:xfrm>
            <a:off x="841248" y="2176272"/>
            <a:ext cx="310896" cy="310896"/>
          </a:xfrm>
          <a:prstGeom prst="roundRect">
            <a:avLst>
              <a:gd name="adj" fmla="val 50000"/>
            </a:avLst>
          </a:prstGeom>
          <a:solidFill>
            <a:srgbClr val="C2410C"/>
          </a:solidFill>
          <a:ln w="12700">
            <a:solidFill>
              <a:srgbClr val="C2410C"/>
            </a:solidFill>
            <a:prstDash val="solid"/>
          </a:ln>
        </p:spPr>
      </p:sp>
      <p:sp>
        <p:nvSpPr>
          <p:cNvPr id="7" name="Text 5"/>
          <p:cNvSpPr txBox="1"/>
          <p:nvPr/>
        </p:nvSpPr>
        <p:spPr>
          <a:xfrm>
            <a:off x="841248" y="2176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841248" y="2606040"/>
            <a:ext cx="2953512" cy="402336"/>
          </a:xfrm>
          <a:prstGeom prst="rect">
            <a:avLst/>
          </a:prstGeom>
          <a:noFill/>
          <a:ln/>
        </p:spPr>
        <p:txBody>
          <a:bodyPr wrap="square" lIns="0" tIns="0" rIns="0" bIns="0" rtlCol="0" anchor="ctr"/>
          <a:lstStyle/>
          <a:p>
            <a:pPr indent="0" marL="0">
              <a:buNone/>
            </a:pPr>
            <a:r>
              <a:rPr lang="en-US" sz="1600" b="1" dirty="0">
                <a:solidFill>
                  <a:srgbClr val="18222B"/>
                </a:solidFill>
                <a:latin typeface="Cambria" pitchFamily="34" charset="0"/>
                <a:ea typeface="Cambria" pitchFamily="34" charset="-122"/>
                <a:cs typeface="Cambria" pitchFamily="34" charset="-120"/>
              </a:rPr>
              <a:t>The bands overlap</a:t>
            </a:r>
            <a:endParaRPr lang="en-US" sz="1600" dirty="0"/>
          </a:p>
        </p:txBody>
      </p:sp>
      <p:sp>
        <p:nvSpPr>
          <p:cNvPr id="9" name="Text 7"/>
          <p:cNvSpPr txBox="1"/>
          <p:nvPr/>
        </p:nvSpPr>
        <p:spPr>
          <a:xfrm>
            <a:off x="841248" y="3063240"/>
            <a:ext cx="2953512" cy="2011680"/>
          </a:xfrm>
          <a:prstGeom prst="rect">
            <a:avLst/>
          </a:prstGeom>
          <a:noFill/>
          <a:ln/>
        </p:spPr>
        <p:txBody>
          <a:bodyPr wrap="square" lIns="0" tIns="0" rIns="0" bIns="0" rtlCol="0" anchor="t"/>
          <a:lstStyle/>
          <a:p>
            <a:pPr indent="0" marL="0">
              <a:lnSpc>
                <a:spcPts val="1550"/>
              </a:lnSpc>
              <a:buNone/>
            </a:pPr>
            <a:r>
              <a:rPr lang="en-US" sz="1100" dirty="0">
                <a:solidFill>
                  <a:srgbClr val="5B6B78"/>
                </a:solidFill>
                <a:latin typeface="Calibri" pitchFamily="34" charset="0"/>
                <a:ea typeface="Calibri" pitchFamily="34" charset="-122"/>
                <a:cs typeface="Calibri" pitchFamily="34" charset="-120"/>
              </a:rPr>
              <a:t>BO wins in the median and on two seeds in three, but it does not dominate. On a five-dimensional landscape with a 30-experiment budget, clean separation would be evidence the benchmark was too easy — not evidence the optimizer is good.</a:t>
            </a:r>
            <a:endParaRPr lang="en-US" sz="1100" dirty="0"/>
          </a:p>
        </p:txBody>
      </p:sp>
      <p:sp>
        <p:nvSpPr>
          <p:cNvPr id="10" name="Shape 8"/>
          <p:cNvSpPr/>
          <p:nvPr/>
        </p:nvSpPr>
        <p:spPr>
          <a:xfrm>
            <a:off x="4343400" y="1920240"/>
            <a:ext cx="3502152" cy="3200400"/>
          </a:xfrm>
          <a:prstGeom prst="roundRect">
            <a:avLst>
              <a:gd name="adj" fmla="val 2286"/>
            </a:avLst>
          </a:prstGeom>
          <a:solidFill>
            <a:srgbClr val="FFFFFF"/>
          </a:solidFill>
          <a:ln w="9525">
            <a:solidFill>
              <a:srgbClr val="D4DCE3"/>
            </a:solidFill>
            <a:prstDash val="solid"/>
          </a:ln>
        </p:spPr>
      </p:sp>
      <p:sp>
        <p:nvSpPr>
          <p:cNvPr id="11" name="Shape 9"/>
          <p:cNvSpPr/>
          <p:nvPr/>
        </p:nvSpPr>
        <p:spPr>
          <a:xfrm>
            <a:off x="4617720" y="2176272"/>
            <a:ext cx="310896" cy="310896"/>
          </a:xfrm>
          <a:prstGeom prst="roundRect">
            <a:avLst>
              <a:gd name="adj" fmla="val 50000"/>
            </a:avLst>
          </a:prstGeom>
          <a:solidFill>
            <a:srgbClr val="C2410C"/>
          </a:solidFill>
          <a:ln w="12700">
            <a:solidFill>
              <a:srgbClr val="C2410C"/>
            </a:solidFill>
            <a:prstDash val="solid"/>
          </a:ln>
        </p:spPr>
      </p:sp>
      <p:sp>
        <p:nvSpPr>
          <p:cNvPr id="12" name="Text 10"/>
          <p:cNvSpPr txBox="1"/>
          <p:nvPr/>
        </p:nvSpPr>
        <p:spPr>
          <a:xfrm>
            <a:off x="4617720" y="2176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4617720" y="2606040"/>
            <a:ext cx="2953512" cy="402336"/>
          </a:xfrm>
          <a:prstGeom prst="rect">
            <a:avLst/>
          </a:prstGeom>
          <a:noFill/>
          <a:ln/>
        </p:spPr>
        <p:txBody>
          <a:bodyPr wrap="square" lIns="0" tIns="0" rIns="0" bIns="0" rtlCol="0" anchor="ctr"/>
          <a:lstStyle/>
          <a:p>
            <a:pPr indent="0" marL="0">
              <a:buNone/>
            </a:pPr>
            <a:r>
              <a:rPr lang="en-US" sz="1600" b="1" dirty="0">
                <a:solidFill>
                  <a:srgbClr val="18222B"/>
                </a:solidFill>
                <a:latin typeface="Cambria" pitchFamily="34" charset="0"/>
                <a:ea typeface="Cambria" pitchFamily="34" charset="-122"/>
                <a:cs typeface="Cambria" pitchFamily="34" charset="-120"/>
              </a:rPr>
              <a:t>BO is behind early</a:t>
            </a:r>
            <a:endParaRPr lang="en-US" sz="1600" dirty="0"/>
          </a:p>
        </p:txBody>
      </p:sp>
      <p:sp>
        <p:nvSpPr>
          <p:cNvPr id="14" name="Text 12"/>
          <p:cNvSpPr txBox="1"/>
          <p:nvPr/>
        </p:nvSpPr>
        <p:spPr>
          <a:xfrm>
            <a:off x="4617720" y="3063240"/>
            <a:ext cx="2953512" cy="2011680"/>
          </a:xfrm>
          <a:prstGeom prst="rect">
            <a:avLst/>
          </a:prstGeom>
          <a:noFill/>
          <a:ln/>
        </p:spPr>
        <p:txBody>
          <a:bodyPr wrap="square" lIns="0" tIns="0" rIns="0" bIns="0" rtlCol="0" anchor="t"/>
          <a:lstStyle/>
          <a:p>
            <a:pPr indent="0" marL="0">
              <a:lnSpc>
                <a:spcPts val="1550"/>
              </a:lnSpc>
              <a:buNone/>
            </a:pPr>
            <a:r>
              <a:rPr lang="en-US" sz="1100" dirty="0">
                <a:solidFill>
                  <a:srgbClr val="5B6B78"/>
                </a:solidFill>
                <a:latin typeface="Calibri" pitchFamily="34" charset="0"/>
                <a:ea typeface="Calibri" pitchFamily="34" charset="-122"/>
                <a:cs typeface="Calibri" pitchFamily="34" charset="-120"/>
              </a:rPr>
              <a:t>It runs an initial design first, so it trails random search for roughly the first ten experiments. The advantage is sample efficiency later in the budget, not from experiment one. A chart cropped at 10 would tell the opposite story.</a:t>
            </a:r>
            <a:endParaRPr lang="en-US" sz="1100" dirty="0"/>
          </a:p>
        </p:txBody>
      </p:sp>
      <p:sp>
        <p:nvSpPr>
          <p:cNvPr id="15" name="Shape 13"/>
          <p:cNvSpPr/>
          <p:nvPr/>
        </p:nvSpPr>
        <p:spPr>
          <a:xfrm>
            <a:off x="8119872" y="1920240"/>
            <a:ext cx="3502152" cy="3200400"/>
          </a:xfrm>
          <a:prstGeom prst="roundRect">
            <a:avLst>
              <a:gd name="adj" fmla="val 2286"/>
            </a:avLst>
          </a:prstGeom>
          <a:solidFill>
            <a:srgbClr val="FFFFFF"/>
          </a:solidFill>
          <a:ln w="9525">
            <a:solidFill>
              <a:srgbClr val="D4DCE3"/>
            </a:solidFill>
            <a:prstDash val="solid"/>
          </a:ln>
        </p:spPr>
      </p:sp>
      <p:sp>
        <p:nvSpPr>
          <p:cNvPr id="16" name="Shape 14"/>
          <p:cNvSpPr/>
          <p:nvPr/>
        </p:nvSpPr>
        <p:spPr>
          <a:xfrm>
            <a:off x="8394192" y="2176272"/>
            <a:ext cx="310896" cy="310896"/>
          </a:xfrm>
          <a:prstGeom prst="roundRect">
            <a:avLst>
              <a:gd name="adj" fmla="val 50000"/>
            </a:avLst>
          </a:prstGeom>
          <a:solidFill>
            <a:srgbClr val="C2410C"/>
          </a:solidFill>
          <a:ln w="12700">
            <a:solidFill>
              <a:srgbClr val="C2410C"/>
            </a:solidFill>
            <a:prstDash val="solid"/>
          </a:ln>
        </p:spPr>
      </p:sp>
      <p:sp>
        <p:nvSpPr>
          <p:cNvPr id="17" name="Text 15"/>
          <p:cNvSpPr txBox="1"/>
          <p:nvPr/>
        </p:nvSpPr>
        <p:spPr>
          <a:xfrm>
            <a:off x="8394192" y="2176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394192" y="2606040"/>
            <a:ext cx="2953512" cy="402336"/>
          </a:xfrm>
          <a:prstGeom prst="rect">
            <a:avLst/>
          </a:prstGeom>
          <a:noFill/>
          <a:ln/>
        </p:spPr>
        <p:txBody>
          <a:bodyPr wrap="square" lIns="0" tIns="0" rIns="0" bIns="0" rtlCol="0" anchor="ctr"/>
          <a:lstStyle/>
          <a:p>
            <a:pPr indent="0" marL="0">
              <a:buNone/>
            </a:pPr>
            <a:r>
              <a:rPr lang="en-US" sz="1600" b="1" dirty="0">
                <a:solidFill>
                  <a:srgbClr val="18222B"/>
                </a:solidFill>
                <a:latin typeface="Cambria" pitchFamily="34" charset="0"/>
                <a:ea typeface="Cambria" pitchFamily="34" charset="-122"/>
                <a:cs typeface="Cambria" pitchFamily="34" charset="-120"/>
              </a:rPr>
              <a:t>Runs exceed the ceiling</a:t>
            </a:r>
            <a:endParaRPr lang="en-US" sz="1600" dirty="0"/>
          </a:p>
        </p:txBody>
      </p:sp>
      <p:sp>
        <p:nvSpPr>
          <p:cNvPr id="19" name="Text 17"/>
          <p:cNvSpPr txBox="1"/>
          <p:nvPr/>
        </p:nvSpPr>
        <p:spPr>
          <a:xfrm>
            <a:off x="8394192" y="3063240"/>
            <a:ext cx="2953512" cy="2011680"/>
          </a:xfrm>
          <a:prstGeom prst="rect">
            <a:avLst/>
          </a:prstGeom>
          <a:noFill/>
          <a:ln/>
        </p:spPr>
        <p:txBody>
          <a:bodyPr wrap="square" lIns="0" tIns="0" rIns="0" bIns="0" rtlCol="0" anchor="t"/>
          <a:lstStyle/>
          <a:p>
            <a:pPr indent="0" marL="0">
              <a:lnSpc>
                <a:spcPts val="1550"/>
              </a:lnSpc>
              <a:buNone/>
            </a:pPr>
            <a:r>
              <a:rPr lang="en-US" sz="1100" dirty="0">
                <a:solidFill>
                  <a:srgbClr val="5B6B78"/>
                </a:solidFill>
                <a:latin typeface="Calibri" pitchFamily="34" charset="0"/>
                <a:ea typeface="Calibri" pitchFamily="34" charset="-122"/>
                <a:cs typeface="Calibri" pitchFamily="34" charset="-120"/>
              </a:rPr>
              <a:t>The dashed line is the noise-free maximum, but the reported score is a noisy observation — so best-found is an optimistically biased estimator. Taking a max over noisy draws captures luck. Any lab ranking candidates on a single best-observed inherits this, which is why replication is a governance concern.</a:t>
            </a:r>
            <a:endParaRPr lang="en-US" sz="1100" dirty="0"/>
          </a:p>
        </p:txBody>
      </p:sp>
      <p:sp>
        <p:nvSpPr>
          <p:cNvPr id="20" name="Shape 18"/>
          <p:cNvSpPr/>
          <p:nvPr/>
        </p:nvSpPr>
        <p:spPr>
          <a:xfrm>
            <a:off x="566928" y="5349240"/>
            <a:ext cx="11055096" cy="914400"/>
          </a:xfrm>
          <a:prstGeom prst="roundRect">
            <a:avLst>
              <a:gd name="adj" fmla="val 8000"/>
            </a:avLst>
          </a:prstGeom>
          <a:solidFill>
            <a:srgbClr val="18222B"/>
          </a:solidFill>
          <a:ln w="9525">
            <a:solidFill>
              <a:srgbClr val="18222B"/>
            </a:solidFill>
            <a:prstDash val="solid"/>
          </a:ln>
        </p:spPr>
      </p:sp>
      <p:sp>
        <p:nvSpPr>
          <p:cNvPr id="21" name="Text 19"/>
          <p:cNvSpPr txBox="1"/>
          <p:nvPr/>
        </p:nvSpPr>
        <p:spPr>
          <a:xfrm>
            <a:off x="932688" y="5349240"/>
            <a:ext cx="10323576" cy="914400"/>
          </a:xfrm>
          <a:prstGeom prst="rect">
            <a:avLst/>
          </a:prstGeom>
          <a:noFill/>
          <a:ln/>
        </p:spPr>
        <p:txBody>
          <a:bodyPr wrap="square" lIns="0" tIns="0" rIns="0" bIns="0" rtlCol="0" anchor="ctr"/>
          <a:lstStyle/>
          <a:p>
            <a:pPr indent="0" marL="0">
              <a:buNone/>
            </a:pPr>
            <a:r>
              <a:rPr lang="en-US" sz="1300" i="1" dirty="0">
                <a:solidFill>
                  <a:srgbClr val="C3D0DA"/>
                </a:solidFill>
                <a:latin typeface="Calibri" pitchFamily="34" charset="0"/>
                <a:ea typeface="Calibri" pitchFamily="34" charset="-122"/>
                <a:cs typeface="Calibri" pitchFamily="34" charset="-120"/>
              </a:rPr>
              <a:t>A portfolio that only shows what worked is asking to be caught. Putting the weaknesses in the product surface itself — they are printed in the dashboard and the README — is cheaper than being asked.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4224528" cy="292608"/>
          </a:xfrm>
          <a:prstGeom prst="roundRect">
            <a:avLst>
              <a:gd name="adj" fmla="val 50000"/>
            </a:avLst>
          </a:prstGeom>
          <a:solidFill>
            <a:srgbClr val="1F5F8B"/>
          </a:solidFill>
          <a:ln w="12700">
            <a:solidFill>
              <a:srgbClr val="1F5F8B"/>
            </a:solidFill>
            <a:prstDash val="solid"/>
          </a:ln>
        </p:spPr>
      </p:sp>
      <p:sp>
        <p:nvSpPr>
          <p:cNvPr id="3" name="Text 1"/>
          <p:cNvSpPr txBox="1"/>
          <p:nvPr/>
        </p:nvSpPr>
        <p:spPr>
          <a:xfrm>
            <a:off x="566928" y="384048"/>
            <a:ext cx="422452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07  ·  DECISION TRANSPARENCY</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The weights are a policy, not a constant</a:t>
            </a:r>
            <a:endParaRPr lang="en-US" sz="3400" dirty="0"/>
          </a:p>
        </p:txBody>
      </p:sp>
      <p:sp>
        <p:nvSpPr>
          <p:cNvPr id="5" name="Text 3"/>
          <p:cNvSpPr txBox="1"/>
          <p:nvPr/>
        </p:nvSpPr>
        <p:spPr>
          <a:xfrm>
            <a:off x="566928" y="1572768"/>
            <a:ext cx="11055096" cy="420624"/>
          </a:xfrm>
          <a:prstGeom prst="rect">
            <a:avLst/>
          </a:prstGeom>
          <a:noFill/>
          <a:ln/>
        </p:spPr>
        <p:txBody>
          <a:bodyPr wrap="square" lIns="0" tIns="0" rIns="0" bIns="0" rtlCol="0" anchor="t"/>
          <a:lstStyle/>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How much is phase purity worth relative to efficiency? That is a research-strategy question, not a</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property of an XRD machine. So the weights live in versioned policy files, every experiment records</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which policy scored it, and the same mechanism drives hydride triage.</a:t>
            </a:r>
            <a:endParaRPr lang="en-US" sz="1450" dirty="0"/>
          </a:p>
        </p:txBody>
      </p:sp>
      <p:sp>
        <p:nvSpPr>
          <p:cNvPr id="6" name="Text 4"/>
          <p:cNvSpPr txBox="1"/>
          <p:nvPr/>
        </p:nvSpPr>
        <p:spPr>
          <a:xfrm>
            <a:off x="566928" y="2926080"/>
            <a:ext cx="3657600" cy="310896"/>
          </a:xfrm>
          <a:prstGeom prst="rect">
            <a:avLst/>
          </a:prstGeom>
          <a:noFill/>
          <a:ln/>
        </p:spPr>
        <p:txBody>
          <a:bodyPr wrap="square" lIns="0" tIns="0" rIns="0" bIns="0" rtlCol="0" anchor="ctr"/>
          <a:lstStyle/>
          <a:p>
            <a:pPr indent="0" marL="0">
              <a:buNone/>
            </a:pPr>
            <a:r>
              <a:rPr lang="en-US" sz="1050" b="1" spc="80" kern="0" dirty="0">
                <a:solidFill>
                  <a:srgbClr val="5B6B78"/>
                </a:solidFill>
                <a:latin typeface="Calibri" pitchFamily="34" charset="0"/>
                <a:ea typeface="Calibri" pitchFamily="34" charset="-122"/>
                <a:cs typeface="Calibri" pitchFamily="34" charset="-120"/>
              </a:rPr>
              <a:t>Policy</a:t>
            </a:r>
            <a:endParaRPr lang="en-US" sz="1050" dirty="0"/>
          </a:p>
        </p:txBody>
      </p:sp>
      <p:sp>
        <p:nvSpPr>
          <p:cNvPr id="7" name="Text 5"/>
          <p:cNvSpPr txBox="1"/>
          <p:nvPr/>
        </p:nvSpPr>
        <p:spPr>
          <a:xfrm>
            <a:off x="4297680" y="2926080"/>
            <a:ext cx="1737360" cy="310896"/>
          </a:xfrm>
          <a:prstGeom prst="rect">
            <a:avLst/>
          </a:prstGeom>
          <a:noFill/>
          <a:ln/>
        </p:spPr>
        <p:txBody>
          <a:bodyPr wrap="square" lIns="0" tIns="0" rIns="0" bIns="0" rtlCol="0" anchor="ctr"/>
          <a:lstStyle/>
          <a:p>
            <a:pPr indent="0" marL="0">
              <a:buNone/>
            </a:pPr>
            <a:r>
              <a:rPr lang="en-US" sz="1050" b="1" spc="80" kern="0" dirty="0">
                <a:solidFill>
                  <a:srgbClr val="5B6B78"/>
                </a:solidFill>
                <a:latin typeface="Calibri" pitchFamily="34" charset="0"/>
                <a:ea typeface="Calibri" pitchFamily="34" charset="-122"/>
                <a:cs typeface="Calibri" pitchFamily="34" charset="-120"/>
              </a:rPr>
              <a:t>Median best</a:t>
            </a:r>
            <a:endParaRPr lang="en-US" sz="1050" dirty="0"/>
          </a:p>
        </p:txBody>
      </p:sp>
      <p:sp>
        <p:nvSpPr>
          <p:cNvPr id="8" name="Text 6"/>
          <p:cNvSpPr txBox="1"/>
          <p:nvPr/>
        </p:nvSpPr>
        <p:spPr>
          <a:xfrm>
            <a:off x="6126480" y="2926080"/>
            <a:ext cx="1920240" cy="310896"/>
          </a:xfrm>
          <a:prstGeom prst="rect">
            <a:avLst/>
          </a:prstGeom>
          <a:noFill/>
          <a:ln/>
        </p:spPr>
        <p:txBody>
          <a:bodyPr wrap="square" lIns="0" tIns="0" rIns="0" bIns="0" rtlCol="0" anchor="ctr"/>
          <a:lstStyle/>
          <a:p>
            <a:pPr indent="0" marL="0">
              <a:buNone/>
            </a:pPr>
            <a:r>
              <a:rPr lang="en-US" sz="1050" b="1" spc="80" kern="0" dirty="0">
                <a:solidFill>
                  <a:srgbClr val="5B6B78"/>
                </a:solidFill>
                <a:latin typeface="Calibri" pitchFamily="34" charset="0"/>
                <a:ea typeface="Calibri" pitchFamily="34" charset="-122"/>
                <a:cs typeface="Calibri" pitchFamily="34" charset="-120"/>
              </a:rPr>
              <a:t>Treatment time</a:t>
            </a:r>
            <a:endParaRPr lang="en-US" sz="1050" dirty="0"/>
          </a:p>
        </p:txBody>
      </p:sp>
      <p:sp>
        <p:nvSpPr>
          <p:cNvPr id="9" name="Text 7"/>
          <p:cNvSpPr txBox="1"/>
          <p:nvPr/>
        </p:nvSpPr>
        <p:spPr>
          <a:xfrm>
            <a:off x="8138160" y="2926080"/>
            <a:ext cx="1920240" cy="310896"/>
          </a:xfrm>
          <a:prstGeom prst="rect">
            <a:avLst/>
          </a:prstGeom>
          <a:noFill/>
          <a:ln/>
        </p:spPr>
        <p:txBody>
          <a:bodyPr wrap="square" lIns="0" tIns="0" rIns="0" bIns="0" rtlCol="0" anchor="ctr"/>
          <a:lstStyle/>
          <a:p>
            <a:pPr indent="0" marL="0">
              <a:buNone/>
            </a:pPr>
            <a:r>
              <a:rPr lang="en-US" sz="1050" b="1" spc="80" kern="0" dirty="0">
                <a:solidFill>
                  <a:srgbClr val="5B6B78"/>
                </a:solidFill>
                <a:latin typeface="Calibri" pitchFamily="34" charset="0"/>
                <a:ea typeface="Calibri" pitchFamily="34" charset="-122"/>
                <a:cs typeface="Calibri" pitchFamily="34" charset="-120"/>
              </a:rPr>
              <a:t>Treatment temp</a:t>
            </a:r>
            <a:endParaRPr lang="en-US" sz="1050" dirty="0"/>
          </a:p>
        </p:txBody>
      </p:sp>
      <p:sp>
        <p:nvSpPr>
          <p:cNvPr id="10" name="Text 8"/>
          <p:cNvSpPr txBox="1"/>
          <p:nvPr/>
        </p:nvSpPr>
        <p:spPr>
          <a:xfrm>
            <a:off x="10149840" y="2926080"/>
            <a:ext cx="1463040" cy="310896"/>
          </a:xfrm>
          <a:prstGeom prst="rect">
            <a:avLst/>
          </a:prstGeom>
          <a:noFill/>
          <a:ln/>
        </p:spPr>
        <p:txBody>
          <a:bodyPr wrap="square" lIns="0" tIns="0" rIns="0" bIns="0" rtlCol="0" anchor="ctr"/>
          <a:lstStyle/>
          <a:p>
            <a:pPr indent="0" marL="0">
              <a:buNone/>
            </a:pPr>
            <a:r>
              <a:rPr lang="en-US" sz="1050" b="1" spc="80" kern="0" dirty="0">
                <a:solidFill>
                  <a:srgbClr val="5B6B78"/>
                </a:solidFill>
                <a:latin typeface="Calibri" pitchFamily="34" charset="0"/>
                <a:ea typeface="Calibri" pitchFamily="34" charset="-122"/>
                <a:cs typeface="Calibri" pitchFamily="34" charset="-120"/>
              </a:rPr>
              <a:t>Dopant</a:t>
            </a:r>
            <a:endParaRPr lang="en-US" sz="1050" dirty="0"/>
          </a:p>
        </p:txBody>
      </p:sp>
      <p:sp>
        <p:nvSpPr>
          <p:cNvPr id="11" name="Shape 9"/>
          <p:cNvSpPr/>
          <p:nvPr/>
        </p:nvSpPr>
        <p:spPr>
          <a:xfrm>
            <a:off x="438912" y="3310128"/>
            <a:ext cx="11311128" cy="566928"/>
          </a:xfrm>
          <a:prstGeom prst="roundRect">
            <a:avLst>
              <a:gd name="adj" fmla="val 12903"/>
            </a:avLst>
          </a:prstGeom>
          <a:solidFill>
            <a:srgbClr val="FFFFFF"/>
          </a:solidFill>
          <a:ln w="9525">
            <a:solidFill>
              <a:srgbClr val="D4DCE3"/>
            </a:solidFill>
            <a:prstDash val="solid"/>
          </a:ln>
        </p:spPr>
      </p:sp>
      <p:sp>
        <p:nvSpPr>
          <p:cNvPr id="12" name="Text 10"/>
          <p:cNvSpPr txBox="1"/>
          <p:nvPr/>
        </p:nvSpPr>
        <p:spPr>
          <a:xfrm>
            <a:off x="566928" y="3310128"/>
            <a:ext cx="3657600" cy="566928"/>
          </a:xfrm>
          <a:prstGeom prst="rect">
            <a:avLst/>
          </a:prstGeom>
          <a:noFill/>
          <a:ln/>
        </p:spPr>
        <p:txBody>
          <a:bodyPr wrap="square" lIns="0" tIns="0" rIns="0" bIns="0" rtlCol="0" anchor="ctr"/>
          <a:lstStyle/>
          <a:p>
            <a:pPr indent="0" marL="0">
              <a:buNone/>
            </a:pPr>
            <a:r>
              <a:rPr lang="en-US" sz="1300" b="1" dirty="0">
                <a:solidFill>
                  <a:srgbClr val="18222B"/>
                </a:solidFill>
                <a:latin typeface="Calibri" pitchFamily="34" charset="0"/>
                <a:ea typeface="Calibri" pitchFamily="34" charset="-122"/>
                <a:cs typeface="Calibri" pitchFamily="34" charset="-120"/>
              </a:rPr>
              <a:t>Performance first</a:t>
            </a:r>
            <a:endParaRPr lang="en-US" sz="1300" dirty="0"/>
          </a:p>
        </p:txBody>
      </p:sp>
      <p:sp>
        <p:nvSpPr>
          <p:cNvPr id="13" name="Text 11"/>
          <p:cNvSpPr txBox="1"/>
          <p:nvPr/>
        </p:nvSpPr>
        <p:spPr>
          <a:xfrm>
            <a:off x="4297680" y="3310128"/>
            <a:ext cx="1737360" cy="566928"/>
          </a:xfrm>
          <a:prstGeom prst="rect">
            <a:avLst/>
          </a:prstGeom>
          <a:noFill/>
          <a:ln/>
        </p:spPr>
        <p:txBody>
          <a:bodyPr wrap="square" lIns="0" tIns="0" rIns="0" bIns="0" rtlCol="0" anchor="ctr"/>
          <a:lstStyle/>
          <a:p>
            <a:pPr indent="0" marL="0">
              <a:buNone/>
            </a:pPr>
            <a:r>
              <a:rPr lang="en-US" sz="1250" dirty="0">
                <a:solidFill>
                  <a:srgbClr val="5B6B78"/>
                </a:solidFill>
                <a:latin typeface="Courier New" pitchFamily="34" charset="0"/>
                <a:ea typeface="Courier New" pitchFamily="34" charset="-122"/>
                <a:cs typeface="Courier New" pitchFamily="34" charset="-120"/>
              </a:rPr>
              <a:t>0.773</a:t>
            </a:r>
            <a:endParaRPr lang="en-US" sz="1250" dirty="0"/>
          </a:p>
        </p:txBody>
      </p:sp>
      <p:sp>
        <p:nvSpPr>
          <p:cNvPr id="14" name="Text 12"/>
          <p:cNvSpPr txBox="1"/>
          <p:nvPr/>
        </p:nvSpPr>
        <p:spPr>
          <a:xfrm>
            <a:off x="6126480" y="3310128"/>
            <a:ext cx="1920240" cy="566928"/>
          </a:xfrm>
          <a:prstGeom prst="rect">
            <a:avLst/>
          </a:prstGeom>
          <a:noFill/>
          <a:ln/>
        </p:spPr>
        <p:txBody>
          <a:bodyPr wrap="square" lIns="0" tIns="0" rIns="0" bIns="0" rtlCol="0" anchor="ctr"/>
          <a:lstStyle/>
          <a:p>
            <a:pPr indent="0" marL="0">
              <a:buNone/>
            </a:pPr>
            <a:r>
              <a:rPr lang="en-US" sz="1250" dirty="0">
                <a:solidFill>
                  <a:srgbClr val="5B6B78"/>
                </a:solidFill>
                <a:latin typeface="Courier New" pitchFamily="34" charset="0"/>
                <a:ea typeface="Courier New" pitchFamily="34" charset="-122"/>
                <a:cs typeface="Courier New" pitchFamily="34" charset="-120"/>
              </a:rPr>
              <a:t>35.9 min</a:t>
            </a:r>
            <a:endParaRPr lang="en-US" sz="1250" dirty="0"/>
          </a:p>
        </p:txBody>
      </p:sp>
      <p:sp>
        <p:nvSpPr>
          <p:cNvPr id="15" name="Text 13"/>
          <p:cNvSpPr txBox="1"/>
          <p:nvPr/>
        </p:nvSpPr>
        <p:spPr>
          <a:xfrm>
            <a:off x="8138160" y="3310128"/>
            <a:ext cx="1920240" cy="566928"/>
          </a:xfrm>
          <a:prstGeom prst="rect">
            <a:avLst/>
          </a:prstGeom>
          <a:noFill/>
          <a:ln/>
        </p:spPr>
        <p:txBody>
          <a:bodyPr wrap="square" lIns="0" tIns="0" rIns="0" bIns="0" rtlCol="0" anchor="ctr"/>
          <a:lstStyle/>
          <a:p>
            <a:pPr indent="0" marL="0">
              <a:buNone/>
            </a:pPr>
            <a:r>
              <a:rPr lang="en-US" sz="1250" dirty="0">
                <a:solidFill>
                  <a:srgbClr val="5B6B78"/>
                </a:solidFill>
                <a:latin typeface="Courier New" pitchFamily="34" charset="0"/>
                <a:ea typeface="Courier New" pitchFamily="34" charset="-122"/>
                <a:cs typeface="Courier New" pitchFamily="34" charset="-120"/>
              </a:rPr>
              <a:t>387.4 °C</a:t>
            </a:r>
            <a:endParaRPr lang="en-US" sz="1250" dirty="0"/>
          </a:p>
        </p:txBody>
      </p:sp>
      <p:sp>
        <p:nvSpPr>
          <p:cNvPr id="16" name="Text 14"/>
          <p:cNvSpPr txBox="1"/>
          <p:nvPr/>
        </p:nvSpPr>
        <p:spPr>
          <a:xfrm>
            <a:off x="10149840" y="3310128"/>
            <a:ext cx="1463040" cy="566928"/>
          </a:xfrm>
          <a:prstGeom prst="rect">
            <a:avLst/>
          </a:prstGeom>
          <a:noFill/>
          <a:ln/>
        </p:spPr>
        <p:txBody>
          <a:bodyPr wrap="square" lIns="0" tIns="0" rIns="0" bIns="0" rtlCol="0" anchor="ctr"/>
          <a:lstStyle/>
          <a:p>
            <a:pPr indent="0" marL="0">
              <a:buNone/>
            </a:pPr>
            <a:r>
              <a:rPr lang="en-US" sz="1250" dirty="0">
                <a:solidFill>
                  <a:srgbClr val="5B6B78"/>
                </a:solidFill>
                <a:latin typeface="Courier New" pitchFamily="34" charset="0"/>
                <a:ea typeface="Courier New" pitchFamily="34" charset="-122"/>
                <a:cs typeface="Courier New" pitchFamily="34" charset="-120"/>
              </a:rPr>
              <a:t>1.2 %</a:t>
            </a:r>
            <a:endParaRPr lang="en-US" sz="1250" dirty="0"/>
          </a:p>
        </p:txBody>
      </p:sp>
      <p:sp>
        <p:nvSpPr>
          <p:cNvPr id="17" name="Shape 15"/>
          <p:cNvSpPr/>
          <p:nvPr/>
        </p:nvSpPr>
        <p:spPr>
          <a:xfrm>
            <a:off x="438912" y="3968496"/>
            <a:ext cx="11311128" cy="566928"/>
          </a:xfrm>
          <a:prstGeom prst="roundRect">
            <a:avLst>
              <a:gd name="adj" fmla="val 12903"/>
            </a:avLst>
          </a:prstGeom>
          <a:solidFill>
            <a:srgbClr val="FFFFFF"/>
          </a:solidFill>
          <a:ln w="9525">
            <a:solidFill>
              <a:srgbClr val="D4DCE3"/>
            </a:solidFill>
            <a:prstDash val="solid"/>
          </a:ln>
        </p:spPr>
      </p:sp>
      <p:sp>
        <p:nvSpPr>
          <p:cNvPr id="18" name="Text 16"/>
          <p:cNvSpPr txBox="1"/>
          <p:nvPr/>
        </p:nvSpPr>
        <p:spPr>
          <a:xfrm>
            <a:off x="566928" y="3968496"/>
            <a:ext cx="3657600" cy="566928"/>
          </a:xfrm>
          <a:prstGeom prst="rect">
            <a:avLst/>
          </a:prstGeom>
          <a:noFill/>
          <a:ln/>
        </p:spPr>
        <p:txBody>
          <a:bodyPr wrap="square" lIns="0" tIns="0" rIns="0" bIns="0" rtlCol="0" anchor="ctr"/>
          <a:lstStyle/>
          <a:p>
            <a:pPr indent="0" marL="0">
              <a:buNone/>
            </a:pPr>
            <a:r>
              <a:rPr lang="en-US" sz="1300" b="1" dirty="0">
                <a:solidFill>
                  <a:srgbClr val="18222B"/>
                </a:solidFill>
                <a:latin typeface="Calibri" pitchFamily="34" charset="0"/>
                <a:ea typeface="Calibri" pitchFamily="34" charset="-122"/>
                <a:cs typeface="Calibri" pitchFamily="34" charset="-120"/>
              </a:rPr>
              <a:t>Balanced device quality</a:t>
            </a:r>
            <a:endParaRPr lang="en-US" sz="1300" dirty="0"/>
          </a:p>
        </p:txBody>
      </p:sp>
      <p:sp>
        <p:nvSpPr>
          <p:cNvPr id="19" name="Text 17"/>
          <p:cNvSpPr txBox="1"/>
          <p:nvPr/>
        </p:nvSpPr>
        <p:spPr>
          <a:xfrm>
            <a:off x="4297680" y="3968496"/>
            <a:ext cx="1737360" cy="566928"/>
          </a:xfrm>
          <a:prstGeom prst="rect">
            <a:avLst/>
          </a:prstGeom>
          <a:noFill/>
          <a:ln/>
        </p:spPr>
        <p:txBody>
          <a:bodyPr wrap="square" lIns="0" tIns="0" rIns="0" bIns="0" rtlCol="0" anchor="ctr"/>
          <a:lstStyle/>
          <a:p>
            <a:pPr indent="0" marL="0">
              <a:buNone/>
            </a:pPr>
            <a:r>
              <a:rPr lang="en-US" sz="1250" dirty="0">
                <a:solidFill>
                  <a:srgbClr val="5B6B78"/>
                </a:solidFill>
                <a:latin typeface="Courier New" pitchFamily="34" charset="0"/>
                <a:ea typeface="Courier New" pitchFamily="34" charset="-122"/>
                <a:cs typeface="Courier New" pitchFamily="34" charset="-120"/>
              </a:rPr>
              <a:t>0.818</a:t>
            </a:r>
            <a:endParaRPr lang="en-US" sz="1250" dirty="0"/>
          </a:p>
        </p:txBody>
      </p:sp>
      <p:sp>
        <p:nvSpPr>
          <p:cNvPr id="20" name="Text 18"/>
          <p:cNvSpPr txBox="1"/>
          <p:nvPr/>
        </p:nvSpPr>
        <p:spPr>
          <a:xfrm>
            <a:off x="6126480" y="3968496"/>
            <a:ext cx="1920240" cy="566928"/>
          </a:xfrm>
          <a:prstGeom prst="rect">
            <a:avLst/>
          </a:prstGeom>
          <a:noFill/>
          <a:ln/>
        </p:spPr>
        <p:txBody>
          <a:bodyPr wrap="square" lIns="0" tIns="0" rIns="0" bIns="0" rtlCol="0" anchor="ctr"/>
          <a:lstStyle/>
          <a:p>
            <a:pPr indent="0" marL="0">
              <a:buNone/>
            </a:pPr>
            <a:r>
              <a:rPr lang="en-US" sz="1250" dirty="0">
                <a:solidFill>
                  <a:srgbClr val="5B6B78"/>
                </a:solidFill>
                <a:latin typeface="Courier New" pitchFamily="34" charset="0"/>
                <a:ea typeface="Courier New" pitchFamily="34" charset="-122"/>
                <a:cs typeface="Courier New" pitchFamily="34" charset="-120"/>
              </a:rPr>
              <a:t>40.0 min</a:t>
            </a:r>
            <a:endParaRPr lang="en-US" sz="1250" dirty="0"/>
          </a:p>
        </p:txBody>
      </p:sp>
      <p:sp>
        <p:nvSpPr>
          <p:cNvPr id="21" name="Text 19"/>
          <p:cNvSpPr txBox="1"/>
          <p:nvPr/>
        </p:nvSpPr>
        <p:spPr>
          <a:xfrm>
            <a:off x="8138160" y="3968496"/>
            <a:ext cx="1920240" cy="566928"/>
          </a:xfrm>
          <a:prstGeom prst="rect">
            <a:avLst/>
          </a:prstGeom>
          <a:noFill/>
          <a:ln/>
        </p:spPr>
        <p:txBody>
          <a:bodyPr wrap="square" lIns="0" tIns="0" rIns="0" bIns="0" rtlCol="0" anchor="ctr"/>
          <a:lstStyle/>
          <a:p>
            <a:pPr indent="0" marL="0">
              <a:buNone/>
            </a:pPr>
            <a:r>
              <a:rPr lang="en-US" sz="1250" dirty="0">
                <a:solidFill>
                  <a:srgbClr val="5B6B78"/>
                </a:solidFill>
                <a:latin typeface="Courier New" pitchFamily="34" charset="0"/>
                <a:ea typeface="Courier New" pitchFamily="34" charset="-122"/>
                <a:cs typeface="Courier New" pitchFamily="34" charset="-120"/>
              </a:rPr>
              <a:t>387.6 °C</a:t>
            </a:r>
            <a:endParaRPr lang="en-US" sz="1250" dirty="0"/>
          </a:p>
        </p:txBody>
      </p:sp>
      <p:sp>
        <p:nvSpPr>
          <p:cNvPr id="22" name="Text 20"/>
          <p:cNvSpPr txBox="1"/>
          <p:nvPr/>
        </p:nvSpPr>
        <p:spPr>
          <a:xfrm>
            <a:off x="10149840" y="3968496"/>
            <a:ext cx="1463040" cy="566928"/>
          </a:xfrm>
          <a:prstGeom prst="rect">
            <a:avLst/>
          </a:prstGeom>
          <a:noFill/>
          <a:ln/>
        </p:spPr>
        <p:txBody>
          <a:bodyPr wrap="square" lIns="0" tIns="0" rIns="0" bIns="0" rtlCol="0" anchor="ctr"/>
          <a:lstStyle/>
          <a:p>
            <a:pPr indent="0" marL="0">
              <a:buNone/>
            </a:pPr>
            <a:r>
              <a:rPr lang="en-US" sz="1250" dirty="0">
                <a:solidFill>
                  <a:srgbClr val="5B6B78"/>
                </a:solidFill>
                <a:latin typeface="Courier New" pitchFamily="34" charset="0"/>
                <a:ea typeface="Courier New" pitchFamily="34" charset="-122"/>
                <a:cs typeface="Courier New" pitchFamily="34" charset="-120"/>
              </a:rPr>
              <a:t>1.3 %</a:t>
            </a:r>
            <a:endParaRPr lang="en-US" sz="1250" dirty="0"/>
          </a:p>
        </p:txBody>
      </p:sp>
      <p:sp>
        <p:nvSpPr>
          <p:cNvPr id="23" name="Shape 21"/>
          <p:cNvSpPr/>
          <p:nvPr/>
        </p:nvSpPr>
        <p:spPr>
          <a:xfrm>
            <a:off x="438912" y="4626864"/>
            <a:ext cx="11311128" cy="566928"/>
          </a:xfrm>
          <a:prstGeom prst="roundRect">
            <a:avLst>
              <a:gd name="adj" fmla="val 12903"/>
            </a:avLst>
          </a:prstGeom>
          <a:solidFill>
            <a:srgbClr val="E9F0F6"/>
          </a:solidFill>
          <a:ln w="9525">
            <a:solidFill>
              <a:srgbClr val="BCD3E5"/>
            </a:solidFill>
            <a:prstDash val="solid"/>
          </a:ln>
        </p:spPr>
      </p:sp>
      <p:sp>
        <p:nvSpPr>
          <p:cNvPr id="24" name="Text 22"/>
          <p:cNvSpPr txBox="1"/>
          <p:nvPr/>
        </p:nvSpPr>
        <p:spPr>
          <a:xfrm>
            <a:off x="566928" y="4626864"/>
            <a:ext cx="3657600" cy="566928"/>
          </a:xfrm>
          <a:prstGeom prst="rect">
            <a:avLst/>
          </a:prstGeom>
          <a:noFill/>
          <a:ln/>
        </p:spPr>
        <p:txBody>
          <a:bodyPr wrap="square" lIns="0" tIns="0" rIns="0" bIns="0" rtlCol="0" anchor="ctr"/>
          <a:lstStyle/>
          <a:p>
            <a:pPr indent="0" marL="0">
              <a:buNone/>
            </a:pPr>
            <a:r>
              <a:rPr lang="en-US" sz="1300" b="1" dirty="0">
                <a:solidFill>
                  <a:srgbClr val="18222B"/>
                </a:solidFill>
                <a:latin typeface="Calibri" pitchFamily="34" charset="0"/>
                <a:ea typeface="Calibri" pitchFamily="34" charset="-122"/>
                <a:cs typeface="Calibri" pitchFamily="34" charset="-120"/>
              </a:rPr>
              <a:t>Manufacturability first</a:t>
            </a:r>
            <a:endParaRPr lang="en-US" sz="1300" dirty="0"/>
          </a:p>
        </p:txBody>
      </p:sp>
      <p:sp>
        <p:nvSpPr>
          <p:cNvPr id="25" name="Text 23"/>
          <p:cNvSpPr txBox="1"/>
          <p:nvPr/>
        </p:nvSpPr>
        <p:spPr>
          <a:xfrm>
            <a:off x="4297680" y="4626864"/>
            <a:ext cx="1737360" cy="566928"/>
          </a:xfrm>
          <a:prstGeom prst="rect">
            <a:avLst/>
          </a:prstGeom>
          <a:noFill/>
          <a:ln/>
        </p:spPr>
        <p:txBody>
          <a:bodyPr wrap="square" lIns="0" tIns="0" rIns="0" bIns="0" rtlCol="0" anchor="ctr"/>
          <a:lstStyle/>
          <a:p>
            <a:pPr indent="0" marL="0">
              <a:buNone/>
            </a:pPr>
            <a:r>
              <a:rPr lang="en-US" sz="1250" dirty="0">
                <a:solidFill>
                  <a:srgbClr val="1F5F8B"/>
                </a:solidFill>
                <a:latin typeface="Courier New" pitchFamily="34" charset="0"/>
                <a:ea typeface="Courier New" pitchFamily="34" charset="-122"/>
                <a:cs typeface="Courier New" pitchFamily="34" charset="-120"/>
              </a:rPr>
              <a:t>0.926</a:t>
            </a:r>
            <a:endParaRPr lang="en-US" sz="1250" dirty="0"/>
          </a:p>
        </p:txBody>
      </p:sp>
      <p:sp>
        <p:nvSpPr>
          <p:cNvPr id="26" name="Text 24"/>
          <p:cNvSpPr txBox="1"/>
          <p:nvPr/>
        </p:nvSpPr>
        <p:spPr>
          <a:xfrm>
            <a:off x="6126480" y="4626864"/>
            <a:ext cx="1920240" cy="566928"/>
          </a:xfrm>
          <a:prstGeom prst="rect">
            <a:avLst/>
          </a:prstGeom>
          <a:noFill/>
          <a:ln/>
        </p:spPr>
        <p:txBody>
          <a:bodyPr wrap="square" lIns="0" tIns="0" rIns="0" bIns="0" rtlCol="0" anchor="ctr"/>
          <a:lstStyle/>
          <a:p>
            <a:pPr indent="0" marL="0">
              <a:buNone/>
            </a:pPr>
            <a:r>
              <a:rPr lang="en-US" sz="1250" dirty="0">
                <a:solidFill>
                  <a:srgbClr val="1F5F8B"/>
                </a:solidFill>
                <a:latin typeface="Courier New" pitchFamily="34" charset="0"/>
                <a:ea typeface="Courier New" pitchFamily="34" charset="-122"/>
                <a:cs typeface="Courier New" pitchFamily="34" charset="-120"/>
              </a:rPr>
              <a:t>27.7 min</a:t>
            </a:r>
            <a:endParaRPr lang="en-US" sz="1250" dirty="0"/>
          </a:p>
        </p:txBody>
      </p:sp>
      <p:sp>
        <p:nvSpPr>
          <p:cNvPr id="27" name="Text 25"/>
          <p:cNvSpPr txBox="1"/>
          <p:nvPr/>
        </p:nvSpPr>
        <p:spPr>
          <a:xfrm>
            <a:off x="8138160" y="4626864"/>
            <a:ext cx="1920240" cy="566928"/>
          </a:xfrm>
          <a:prstGeom prst="rect">
            <a:avLst/>
          </a:prstGeom>
          <a:noFill/>
          <a:ln/>
        </p:spPr>
        <p:txBody>
          <a:bodyPr wrap="square" lIns="0" tIns="0" rIns="0" bIns="0" rtlCol="0" anchor="ctr"/>
          <a:lstStyle/>
          <a:p>
            <a:pPr indent="0" marL="0">
              <a:buNone/>
            </a:pPr>
            <a:r>
              <a:rPr lang="en-US" sz="1250" dirty="0">
                <a:solidFill>
                  <a:srgbClr val="1F5F8B"/>
                </a:solidFill>
                <a:latin typeface="Courier New" pitchFamily="34" charset="0"/>
                <a:ea typeface="Courier New" pitchFamily="34" charset="-122"/>
                <a:cs typeface="Courier New" pitchFamily="34" charset="-120"/>
              </a:rPr>
              <a:t>388.6 °C</a:t>
            </a:r>
            <a:endParaRPr lang="en-US" sz="1250" dirty="0"/>
          </a:p>
        </p:txBody>
      </p:sp>
      <p:sp>
        <p:nvSpPr>
          <p:cNvPr id="28" name="Text 26"/>
          <p:cNvSpPr txBox="1"/>
          <p:nvPr/>
        </p:nvSpPr>
        <p:spPr>
          <a:xfrm>
            <a:off x="10149840" y="4626864"/>
            <a:ext cx="1463040" cy="566928"/>
          </a:xfrm>
          <a:prstGeom prst="rect">
            <a:avLst/>
          </a:prstGeom>
          <a:noFill/>
          <a:ln/>
        </p:spPr>
        <p:txBody>
          <a:bodyPr wrap="square" lIns="0" tIns="0" rIns="0" bIns="0" rtlCol="0" anchor="ctr"/>
          <a:lstStyle/>
          <a:p>
            <a:pPr indent="0" marL="0">
              <a:buNone/>
            </a:pPr>
            <a:r>
              <a:rPr lang="en-US" sz="1250" dirty="0">
                <a:solidFill>
                  <a:srgbClr val="1F5F8B"/>
                </a:solidFill>
                <a:latin typeface="Courier New" pitchFamily="34" charset="0"/>
                <a:ea typeface="Courier New" pitchFamily="34" charset="-122"/>
                <a:cs typeface="Courier New" pitchFamily="34" charset="-120"/>
              </a:rPr>
              <a:t>0.9 %</a:t>
            </a:r>
            <a:endParaRPr lang="en-US" sz="1250" dirty="0"/>
          </a:p>
        </p:txBody>
      </p:sp>
      <p:sp>
        <p:nvSpPr>
          <p:cNvPr id="29" name="Shape 27"/>
          <p:cNvSpPr/>
          <p:nvPr/>
        </p:nvSpPr>
        <p:spPr>
          <a:xfrm>
            <a:off x="566928" y="5440680"/>
            <a:ext cx="11055096" cy="914400"/>
          </a:xfrm>
          <a:prstGeom prst="roundRect">
            <a:avLst>
              <a:gd name="adj" fmla="val 8000"/>
            </a:avLst>
          </a:prstGeom>
          <a:solidFill>
            <a:srgbClr val="FDEEE6"/>
          </a:solidFill>
          <a:ln w="9525">
            <a:solidFill>
              <a:srgbClr val="F0C4AE"/>
            </a:solidFill>
            <a:prstDash val="solid"/>
          </a:ln>
        </p:spPr>
      </p:sp>
      <p:sp>
        <p:nvSpPr>
          <p:cNvPr id="30" name="Text 28"/>
          <p:cNvSpPr txBox="1"/>
          <p:nvPr/>
        </p:nvSpPr>
        <p:spPr>
          <a:xfrm>
            <a:off x="886968" y="5440680"/>
            <a:ext cx="10415016" cy="914400"/>
          </a:xfrm>
          <a:prstGeom prst="rect">
            <a:avLst/>
          </a:prstGeom>
          <a:noFill/>
          <a:ln/>
        </p:spPr>
        <p:txBody>
          <a:bodyPr wrap="square" lIns="0" tIns="0" rIns="0" bIns="0" rtlCol="0" anchor="ctr"/>
          <a:lstStyle/>
          <a:p>
            <a:pPr indent="0" marL="0">
              <a:lnSpc>
                <a:spcPts val="1550"/>
              </a:lnSpc>
              <a:buNone/>
            </a:pPr>
            <a:r>
              <a:rPr lang="en-US" sz="1150" b="1" dirty="0">
                <a:solidFill>
                  <a:srgbClr val="C2410C"/>
                </a:solidFill>
                <a:latin typeface="Calibri" pitchFamily="34" charset="0"/>
                <a:ea typeface="Calibri" pitchFamily="34" charset="-122"/>
                <a:cs typeface="Calibri" pitchFamily="34" charset="-120"/>
              </a:rPr>
              <a:t>Median best is not comparable across these rows. </a:t>
            </a:r>
            <a:pPr indent="0" marL="0">
              <a:lnSpc>
                <a:spcPts val="1550"/>
              </a:lnSpc>
              <a:buNone/>
            </a:pPr>
            <a:r>
              <a:rPr lang="en-US" sz="1150" dirty="0">
                <a:solidFill>
                  <a:srgbClr val="18222B"/>
                </a:solidFill>
                <a:latin typeface="Calibri" pitchFamily="34" charset="0"/>
                <a:ea typeface="Calibri" pitchFamily="34" charset="-122"/>
                <a:cs typeface="Calibri" pitchFamily="34" charset="-120"/>
              </a:rPr>
              <a:t>Each policy defines a different objective, so a higher number does not mean a better process. The comparable quantity is the operating point: manufacturability-first converges on a treatment twelve minutes shorter and lighter doping — a visibly more conservative process. Treatment temperature lands near 388 °C under every policy, because that window dominates the landscape. Policy influences the parameters the objective leaves room to argue about.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2715768" cy="292608"/>
          </a:xfrm>
          <a:prstGeom prst="roundRect">
            <a:avLst>
              <a:gd name="adj" fmla="val 50000"/>
            </a:avLst>
          </a:prstGeom>
          <a:solidFill>
            <a:srgbClr val="1F5F8B"/>
          </a:solidFill>
          <a:ln w="12700">
            <a:solidFill>
              <a:srgbClr val="1F5F8B"/>
            </a:solidFill>
            <a:prstDash val="solid"/>
          </a:ln>
        </p:spPr>
      </p:sp>
      <p:sp>
        <p:nvSpPr>
          <p:cNvPr id="3" name="Text 1"/>
          <p:cNvSpPr txBox="1"/>
          <p:nvPr/>
        </p:nvSpPr>
        <p:spPr>
          <a:xfrm>
            <a:off x="566928" y="384048"/>
            <a:ext cx="271576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08  ·  USE CASE 2</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Published data, and judgment kept visible</a:t>
            </a:r>
            <a:endParaRPr lang="en-US" sz="3400" dirty="0"/>
          </a:p>
        </p:txBody>
      </p:sp>
      <p:sp>
        <p:nvSpPr>
          <p:cNvPr id="5" name="Text 3"/>
          <p:cNvSpPr txBox="1"/>
          <p:nvPr/>
        </p:nvSpPr>
        <p:spPr>
          <a:xfrm>
            <a:off x="566928" y="1572768"/>
            <a:ext cx="11055096" cy="420624"/>
          </a:xfrm>
          <a:prstGeom prst="rect">
            <a:avLst/>
          </a:prstGeom>
          <a:noFill/>
          <a:ln/>
        </p:spPr>
        <p:txBody>
          <a:bodyPr wrap="square" lIns="0" tIns="0" rIns="0" bIns="0" rtlCol="0" anchor="t"/>
          <a:lstStyle/>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The paper publishes λ, ω_log and an Allen–Dynes Tc. It publishes no score, no confidence and no</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feasibility. Ranking needs those — so they are computed from documented rules and kept in</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separate files. Provenance is a file boundary, not a convention, and a test fails if it erodes.</a:t>
            </a:r>
            <a:endParaRPr lang="en-US" sz="1450" dirty="0"/>
          </a:p>
        </p:txBody>
      </p:sp>
      <p:sp>
        <p:nvSpPr>
          <p:cNvPr id="6" name="Shape 4"/>
          <p:cNvSpPr/>
          <p:nvPr/>
        </p:nvSpPr>
        <p:spPr>
          <a:xfrm>
            <a:off x="566928" y="2880360"/>
            <a:ext cx="3502152" cy="1828800"/>
          </a:xfrm>
          <a:prstGeom prst="roundRect">
            <a:avLst>
              <a:gd name="adj" fmla="val 4000"/>
            </a:avLst>
          </a:prstGeom>
          <a:solidFill>
            <a:srgbClr val="FFFFFF"/>
          </a:solidFill>
          <a:ln w="9525">
            <a:solidFill>
              <a:srgbClr val="D4DCE3"/>
            </a:solidFill>
            <a:prstDash val="solid"/>
          </a:ln>
        </p:spPr>
      </p:sp>
      <p:sp>
        <p:nvSpPr>
          <p:cNvPr id="7" name="Shape 5"/>
          <p:cNvSpPr/>
          <p:nvPr/>
        </p:nvSpPr>
        <p:spPr>
          <a:xfrm>
            <a:off x="841248" y="3127248"/>
            <a:ext cx="1371600" cy="274320"/>
          </a:xfrm>
          <a:prstGeom prst="roundRect">
            <a:avLst>
              <a:gd name="adj" fmla="val 50000"/>
            </a:avLst>
          </a:prstGeom>
          <a:solidFill>
            <a:srgbClr val="1F5F8B"/>
          </a:solidFill>
          <a:ln w="12700">
            <a:solidFill>
              <a:srgbClr val="1F5F8B"/>
            </a:solidFill>
            <a:prstDash val="solid"/>
          </a:ln>
        </p:spPr>
      </p:sp>
      <p:sp>
        <p:nvSpPr>
          <p:cNvPr id="8" name="Text 6"/>
          <p:cNvSpPr txBox="1"/>
          <p:nvPr/>
        </p:nvSpPr>
        <p:spPr>
          <a:xfrm>
            <a:off x="841248" y="3127248"/>
            <a:ext cx="137160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PUBLISHED</a:t>
            </a:r>
            <a:endParaRPr lang="en-US" sz="900" dirty="0"/>
          </a:p>
        </p:txBody>
      </p:sp>
      <p:sp>
        <p:nvSpPr>
          <p:cNvPr id="9" name="Text 7"/>
          <p:cNvSpPr txBox="1"/>
          <p:nvPr/>
        </p:nvSpPr>
        <p:spPr>
          <a:xfrm>
            <a:off x="2322576" y="3127248"/>
            <a:ext cx="1490472" cy="274320"/>
          </a:xfrm>
          <a:prstGeom prst="rect">
            <a:avLst/>
          </a:prstGeom>
          <a:noFill/>
          <a:ln/>
        </p:spPr>
        <p:txBody>
          <a:bodyPr wrap="square" lIns="0" tIns="0" rIns="0" bIns="0" rtlCol="0" anchor="ctr"/>
          <a:lstStyle/>
          <a:p>
            <a:pPr indent="0" marL="0">
              <a:buNone/>
            </a:pPr>
            <a:r>
              <a:rPr lang="en-US" sz="1000" dirty="0">
                <a:solidFill>
                  <a:srgbClr val="5B6B78"/>
                </a:solidFill>
                <a:latin typeface="Courier New" pitchFamily="34" charset="0"/>
                <a:ea typeface="Courier New" pitchFamily="34" charset="-122"/>
                <a:cs typeface="Courier New" pitchFamily="34" charset="-120"/>
              </a:rPr>
              <a:t>datasets/hydrides/</a:t>
            </a:r>
            <a:endParaRPr lang="en-US" sz="1000" dirty="0"/>
          </a:p>
        </p:txBody>
      </p:sp>
      <p:sp>
        <p:nvSpPr>
          <p:cNvPr id="10" name="Text 8"/>
          <p:cNvSpPr txBox="1"/>
          <p:nvPr/>
        </p:nvSpPr>
        <p:spPr>
          <a:xfrm>
            <a:off x="841248" y="3520440"/>
            <a:ext cx="2953512" cy="1005840"/>
          </a:xfrm>
          <a:prstGeom prst="rect">
            <a:avLst/>
          </a:prstGeom>
          <a:noFill/>
          <a:ln/>
        </p:spPr>
        <p:txBody>
          <a:bodyPr wrap="square" lIns="0" tIns="0" rIns="0" bIns="0" rtlCol="0" anchor="t"/>
          <a:lstStyle/>
          <a:p>
            <a:pPr indent="0" marL="0">
              <a:lnSpc>
                <a:spcPts val="1500"/>
              </a:lnSpc>
              <a:buNone/>
            </a:pPr>
            <a:r>
              <a:rPr lang="en-US" sz="1100" dirty="0">
                <a:solidFill>
                  <a:srgbClr val="18222B"/>
                </a:solidFill>
                <a:latin typeface="Calibri" pitchFamily="34" charset="0"/>
                <a:ea typeface="Calibri" pitchFamily="34" charset="-122"/>
                <a:cs typeface="Calibri" pitchFamily="34" charset="-120"/>
              </a:rPr>
              <a:t>Transcribed verbatim from Tables 1–2.</a:t>
            </a:r>
            <a:endParaRPr lang="en-US" sz="1100" dirty="0"/>
          </a:p>
          <a:p>
            <a:pPr indent="0" marL="0">
              <a:lnSpc>
                <a:spcPts val="1500"/>
              </a:lnSpc>
              <a:buNone/>
            </a:pPr>
            <a:r>
              <a:rPr lang="en-US" sz="1100" dirty="0">
                <a:solidFill>
                  <a:srgbClr val="18222B"/>
                </a:solidFill>
                <a:latin typeface="Calibri" pitchFamily="34" charset="0"/>
                <a:ea typeface="Calibri" pitchFamily="34" charset="-122"/>
                <a:cs typeface="Calibri" pitchFamily="34" charset="-120"/>
              </a:rPr>
              <a:t>λ = 1.00 · ω_log = 341.59 K · Tc = 23.5 K</a:t>
            </a:r>
            <a:endParaRPr lang="en-US" sz="1100" dirty="0"/>
          </a:p>
        </p:txBody>
      </p:sp>
      <p:sp>
        <p:nvSpPr>
          <p:cNvPr id="11" name="Shape 9"/>
          <p:cNvSpPr/>
          <p:nvPr/>
        </p:nvSpPr>
        <p:spPr>
          <a:xfrm>
            <a:off x="4343400" y="2880360"/>
            <a:ext cx="3502152" cy="1828800"/>
          </a:xfrm>
          <a:prstGeom prst="roundRect">
            <a:avLst>
              <a:gd name="adj" fmla="val 4000"/>
            </a:avLst>
          </a:prstGeom>
          <a:solidFill>
            <a:srgbClr val="FFFFFF"/>
          </a:solidFill>
          <a:ln w="9525">
            <a:solidFill>
              <a:srgbClr val="D4DCE3"/>
            </a:solidFill>
            <a:prstDash val="solid"/>
          </a:ln>
        </p:spPr>
      </p:sp>
      <p:sp>
        <p:nvSpPr>
          <p:cNvPr id="12" name="Shape 10"/>
          <p:cNvSpPr/>
          <p:nvPr/>
        </p:nvSpPr>
        <p:spPr>
          <a:xfrm>
            <a:off x="4617720" y="3127248"/>
            <a:ext cx="1371600" cy="274320"/>
          </a:xfrm>
          <a:prstGeom prst="roundRect">
            <a:avLst>
              <a:gd name="adj" fmla="val 50000"/>
            </a:avLst>
          </a:prstGeom>
          <a:solidFill>
            <a:srgbClr val="4A86AD"/>
          </a:solidFill>
          <a:ln w="12700">
            <a:solidFill>
              <a:srgbClr val="4A86AD"/>
            </a:solidFill>
            <a:prstDash val="solid"/>
          </a:ln>
        </p:spPr>
      </p:sp>
      <p:sp>
        <p:nvSpPr>
          <p:cNvPr id="13" name="Text 11"/>
          <p:cNvSpPr txBox="1"/>
          <p:nvPr/>
        </p:nvSpPr>
        <p:spPr>
          <a:xfrm>
            <a:off x="4617720" y="3127248"/>
            <a:ext cx="137160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DERIVED</a:t>
            </a:r>
            <a:endParaRPr lang="en-US" sz="900" dirty="0"/>
          </a:p>
        </p:txBody>
      </p:sp>
      <p:sp>
        <p:nvSpPr>
          <p:cNvPr id="14" name="Text 12"/>
          <p:cNvSpPr txBox="1"/>
          <p:nvPr/>
        </p:nvSpPr>
        <p:spPr>
          <a:xfrm>
            <a:off x="6099048" y="3127248"/>
            <a:ext cx="1490472" cy="274320"/>
          </a:xfrm>
          <a:prstGeom prst="rect">
            <a:avLst/>
          </a:prstGeom>
          <a:noFill/>
          <a:ln/>
        </p:spPr>
        <p:txBody>
          <a:bodyPr wrap="square" lIns="0" tIns="0" rIns="0" bIns="0" rtlCol="0" anchor="ctr"/>
          <a:lstStyle/>
          <a:p>
            <a:pPr indent="0" marL="0">
              <a:buNone/>
            </a:pPr>
            <a:r>
              <a:rPr lang="en-US" sz="1000" dirty="0">
                <a:solidFill>
                  <a:srgbClr val="5B6B78"/>
                </a:solidFill>
                <a:latin typeface="Courier New" pitchFamily="34" charset="0"/>
                <a:ea typeface="Courier New" pitchFamily="34" charset="-122"/>
                <a:cs typeface="Courier New" pitchFamily="34" charset="-120"/>
              </a:rPr>
              <a:t>triage/derive.py</a:t>
            </a:r>
            <a:endParaRPr lang="en-US" sz="1000" dirty="0"/>
          </a:p>
        </p:txBody>
      </p:sp>
      <p:sp>
        <p:nvSpPr>
          <p:cNvPr id="15" name="Text 13"/>
          <p:cNvSpPr txBox="1"/>
          <p:nvPr/>
        </p:nvSpPr>
        <p:spPr>
          <a:xfrm>
            <a:off x="4617720" y="3520440"/>
            <a:ext cx="2953512" cy="1005840"/>
          </a:xfrm>
          <a:prstGeom prst="rect">
            <a:avLst/>
          </a:prstGeom>
          <a:noFill/>
          <a:ln/>
        </p:spPr>
        <p:txBody>
          <a:bodyPr wrap="square" lIns="0" tIns="0" rIns="0" bIns="0" rtlCol="0" anchor="t"/>
          <a:lstStyle/>
          <a:p>
            <a:pPr indent="0" marL="0">
              <a:lnSpc>
                <a:spcPts val="1500"/>
              </a:lnSpc>
              <a:buNone/>
            </a:pPr>
            <a:r>
              <a:rPr lang="en-US" sz="1100" dirty="0">
                <a:solidFill>
                  <a:srgbClr val="18222B"/>
                </a:solidFill>
                <a:latin typeface="Calibri" pitchFamily="34" charset="0"/>
                <a:ea typeface="Calibri" pitchFamily="34" charset="-122"/>
                <a:cs typeface="Calibri" pitchFamily="34" charset="-120"/>
              </a:rPr>
              <a:t>A documented transform of published values.</a:t>
            </a:r>
            <a:endParaRPr lang="en-US" sz="1100" dirty="0"/>
          </a:p>
          <a:p>
            <a:pPr indent="0" marL="0">
              <a:lnSpc>
                <a:spcPts val="1500"/>
              </a:lnSpc>
              <a:buNone/>
            </a:pPr>
            <a:r>
              <a:rPr lang="en-US" sz="1100" dirty="0">
                <a:solidFill>
                  <a:srgbClr val="18222B"/>
                </a:solidFill>
                <a:latin typeface="Calibri" pitchFamily="34" charset="0"/>
                <a:ea typeface="Calibri" pitchFamily="34" charset="-122"/>
                <a:cs typeface="Calibri" pitchFamily="34" charset="-120"/>
              </a:rPr>
              <a:t>Tc confidence, from coupling regime and</a:t>
            </a:r>
            <a:endParaRPr lang="en-US" sz="1100" dirty="0"/>
          </a:p>
          <a:p>
            <a:pPr indent="0" marL="0">
              <a:lnSpc>
                <a:spcPts val="1500"/>
              </a:lnSpc>
              <a:buNone/>
            </a:pPr>
            <a:r>
              <a:rPr lang="en-US" sz="1100" dirty="0">
                <a:solidFill>
                  <a:srgbClr val="18222B"/>
                </a:solidFill>
                <a:latin typeface="Calibri" pitchFamily="34" charset="0"/>
                <a:ea typeface="Calibri" pitchFamily="34" charset="-122"/>
                <a:cs typeface="Calibri" pitchFamily="34" charset="-120"/>
              </a:rPr>
              <a:t>whether a refinement exists.</a:t>
            </a:r>
            <a:endParaRPr lang="en-US" sz="1100" dirty="0"/>
          </a:p>
        </p:txBody>
      </p:sp>
      <p:sp>
        <p:nvSpPr>
          <p:cNvPr id="16" name="Shape 14"/>
          <p:cNvSpPr/>
          <p:nvPr/>
        </p:nvSpPr>
        <p:spPr>
          <a:xfrm>
            <a:off x="8119872" y="2880360"/>
            <a:ext cx="3502152" cy="1828800"/>
          </a:xfrm>
          <a:prstGeom prst="roundRect">
            <a:avLst>
              <a:gd name="adj" fmla="val 4000"/>
            </a:avLst>
          </a:prstGeom>
          <a:solidFill>
            <a:srgbClr val="FFFFFF"/>
          </a:solidFill>
          <a:ln w="9525">
            <a:solidFill>
              <a:srgbClr val="D4DCE3"/>
            </a:solidFill>
            <a:prstDash val="solid"/>
          </a:ln>
        </p:spPr>
      </p:sp>
      <p:sp>
        <p:nvSpPr>
          <p:cNvPr id="17" name="Shape 15"/>
          <p:cNvSpPr/>
          <p:nvPr/>
        </p:nvSpPr>
        <p:spPr>
          <a:xfrm>
            <a:off x="8394192" y="3127248"/>
            <a:ext cx="1371600" cy="274320"/>
          </a:xfrm>
          <a:prstGeom prst="roundRect">
            <a:avLst>
              <a:gd name="adj" fmla="val 50000"/>
            </a:avLst>
          </a:prstGeom>
          <a:solidFill>
            <a:srgbClr val="C2410C"/>
          </a:solidFill>
          <a:ln w="12700">
            <a:solidFill>
              <a:srgbClr val="C2410C"/>
            </a:solidFill>
            <a:prstDash val="solid"/>
          </a:ln>
        </p:spPr>
      </p:sp>
      <p:sp>
        <p:nvSpPr>
          <p:cNvPr id="18" name="Text 16"/>
          <p:cNvSpPr txBox="1"/>
          <p:nvPr/>
        </p:nvSpPr>
        <p:spPr>
          <a:xfrm>
            <a:off x="8394192" y="3127248"/>
            <a:ext cx="137160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ANALYST</a:t>
            </a:r>
            <a:endParaRPr lang="en-US" sz="900" dirty="0"/>
          </a:p>
        </p:txBody>
      </p:sp>
      <p:sp>
        <p:nvSpPr>
          <p:cNvPr id="19" name="Text 17"/>
          <p:cNvSpPr txBox="1"/>
          <p:nvPr/>
        </p:nvSpPr>
        <p:spPr>
          <a:xfrm>
            <a:off x="9875520" y="3127248"/>
            <a:ext cx="1490472" cy="274320"/>
          </a:xfrm>
          <a:prstGeom prst="rect">
            <a:avLst/>
          </a:prstGeom>
          <a:noFill/>
          <a:ln/>
        </p:spPr>
        <p:txBody>
          <a:bodyPr wrap="square" lIns="0" tIns="0" rIns="0" bIns="0" rtlCol="0" anchor="ctr"/>
          <a:lstStyle/>
          <a:p>
            <a:pPr indent="0" marL="0">
              <a:buNone/>
            </a:pPr>
            <a:r>
              <a:rPr lang="en-US" sz="1000" dirty="0">
                <a:solidFill>
                  <a:srgbClr val="5B6B78"/>
                </a:solidFill>
                <a:latin typeface="Courier New" pitchFamily="34" charset="0"/>
                <a:ea typeface="Courier New" pitchFamily="34" charset="-122"/>
                <a:cs typeface="Courier New" pitchFamily="34" charset="-120"/>
              </a:rPr>
              <a:t>configs/triage/</a:t>
            </a:r>
            <a:endParaRPr lang="en-US" sz="1000" dirty="0"/>
          </a:p>
        </p:txBody>
      </p:sp>
      <p:sp>
        <p:nvSpPr>
          <p:cNvPr id="20" name="Text 18"/>
          <p:cNvSpPr txBox="1"/>
          <p:nvPr/>
        </p:nvSpPr>
        <p:spPr>
          <a:xfrm>
            <a:off x="8394192" y="3520440"/>
            <a:ext cx="2953512" cy="1005840"/>
          </a:xfrm>
          <a:prstGeom prst="rect">
            <a:avLst/>
          </a:prstGeom>
          <a:noFill/>
          <a:ln/>
        </p:spPr>
        <p:txBody>
          <a:bodyPr wrap="square" lIns="0" tIns="0" rIns="0" bIns="0" rtlCol="0" anchor="t"/>
          <a:lstStyle/>
          <a:p>
            <a:pPr indent="0" marL="0">
              <a:lnSpc>
                <a:spcPts val="1500"/>
              </a:lnSpc>
              <a:buNone/>
            </a:pPr>
            <a:r>
              <a:rPr lang="en-US" sz="1100" dirty="0">
                <a:solidFill>
                  <a:srgbClr val="18222B"/>
                </a:solidFill>
                <a:latin typeface="Calibri" pitchFamily="34" charset="0"/>
                <a:ea typeface="Calibri" pitchFamily="34" charset="-122"/>
                <a:cs typeface="Calibri" pitchFamily="34" charset="-120"/>
              </a:rPr>
              <a:t>Judgment encoded as a versioned rule set.</a:t>
            </a:r>
            <a:endParaRPr lang="en-US" sz="1100" dirty="0"/>
          </a:p>
          <a:p>
            <a:pPr indent="0" marL="0">
              <a:lnSpc>
                <a:spcPts val="1500"/>
              </a:lnSpc>
              <a:buNone/>
            </a:pPr>
            <a:r>
              <a:rPr lang="en-US" sz="1100" dirty="0">
                <a:solidFill>
                  <a:srgbClr val="18222B"/>
                </a:solidFill>
                <a:latin typeface="Calibri" pitchFamily="34" charset="0"/>
                <a:ea typeface="Calibri" pitchFamily="34" charset="-122"/>
                <a:cs typeface="Calibri" pitchFamily="34" charset="-120"/>
              </a:rPr>
              <a:t>Synthesis feasibility, from elemental</a:t>
            </a:r>
            <a:endParaRPr lang="en-US" sz="1100" dirty="0"/>
          </a:p>
          <a:p>
            <a:pPr indent="0" marL="0">
              <a:lnSpc>
                <a:spcPts val="1500"/>
              </a:lnSpc>
              <a:buNone/>
            </a:pPr>
            <a:r>
              <a:rPr lang="en-US" sz="1100" dirty="0">
                <a:solidFill>
                  <a:srgbClr val="18222B"/>
                </a:solidFill>
                <a:latin typeface="Calibri" pitchFamily="34" charset="0"/>
                <a:ea typeface="Calibri" pitchFamily="34" charset="-122"/>
                <a:cs typeface="Calibri" pitchFamily="34" charset="-120"/>
              </a:rPr>
              <a:t>constraints. Labelled as judgment.</a:t>
            </a:r>
            <a:endParaRPr lang="en-US" sz="1100" dirty="0"/>
          </a:p>
        </p:txBody>
      </p:sp>
      <p:sp>
        <p:nvSpPr>
          <p:cNvPr id="21" name="Shape 19"/>
          <p:cNvSpPr/>
          <p:nvPr/>
        </p:nvSpPr>
        <p:spPr>
          <a:xfrm>
            <a:off x="566928" y="4937760"/>
            <a:ext cx="11055096" cy="1371600"/>
          </a:xfrm>
          <a:prstGeom prst="roundRect">
            <a:avLst>
              <a:gd name="adj" fmla="val 5333"/>
            </a:avLst>
          </a:prstGeom>
          <a:solidFill>
            <a:srgbClr val="18222B"/>
          </a:solidFill>
          <a:ln w="9525">
            <a:solidFill>
              <a:srgbClr val="18222B"/>
            </a:solidFill>
            <a:prstDash val="solid"/>
          </a:ln>
        </p:spPr>
      </p:sp>
      <p:sp>
        <p:nvSpPr>
          <p:cNvPr id="22" name="Text 20"/>
          <p:cNvSpPr txBox="1"/>
          <p:nvPr/>
        </p:nvSpPr>
        <p:spPr>
          <a:xfrm>
            <a:off x="932688" y="5138928"/>
            <a:ext cx="10323576"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Only 1 of 22 candidates has a beyond-Allen–Dynes Tc.</a:t>
            </a:r>
            <a:endParaRPr lang="en-US" sz="1700" dirty="0"/>
          </a:p>
        </p:txBody>
      </p:sp>
      <p:sp>
        <p:nvSpPr>
          <p:cNvPr id="23" name="Text 21"/>
          <p:cNvSpPr txBox="1"/>
          <p:nvPr/>
        </p:nvSpPr>
        <p:spPr>
          <a:xfrm>
            <a:off x="932688" y="5532120"/>
            <a:ext cx="10323576" cy="640080"/>
          </a:xfrm>
          <a:prstGeom prst="rect">
            <a:avLst/>
          </a:prstGeom>
          <a:noFill/>
          <a:ln/>
        </p:spPr>
        <p:txBody>
          <a:bodyPr wrap="square" lIns="0" tIns="0" rIns="0" bIns="0" rtlCol="0" anchor="t"/>
          <a:lstStyle/>
          <a:p>
            <a:pPr indent="0" marL="0">
              <a:lnSpc>
                <a:spcPts val="1600"/>
              </a:lnSpc>
              <a:buNone/>
            </a:pPr>
            <a:r>
              <a:rPr lang="en-US" sz="1200" dirty="0">
                <a:solidFill>
                  <a:srgbClr val="C3D0DA"/>
                </a:solidFill>
                <a:latin typeface="Calibri" pitchFamily="34" charset="0"/>
                <a:ea typeface="Calibri" pitchFamily="34" charset="-122"/>
                <a:cs typeface="Calibri" pitchFamily="34" charset="-120"/>
              </a:rPr>
              <a:t>For that one, refinement moved 23.5 K → 17 K, which the authors call “an uncommon deviation”. Every other ranking rests on a number the paper's own authors caution against over-reading — so confidence is weighted separately from Tc, rather than folded invisibly into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4636008" cy="292608"/>
          </a:xfrm>
          <a:prstGeom prst="roundRect">
            <a:avLst>
              <a:gd name="adj" fmla="val 50000"/>
            </a:avLst>
          </a:prstGeom>
          <a:solidFill>
            <a:srgbClr val="C2410C"/>
          </a:solidFill>
          <a:ln w="12700">
            <a:solidFill>
              <a:srgbClr val="C2410C"/>
            </a:solidFill>
            <a:prstDash val="solid"/>
          </a:ln>
        </p:spPr>
      </p:sp>
      <p:sp>
        <p:nvSpPr>
          <p:cNvPr id="3" name="Text 1"/>
          <p:cNvSpPr txBox="1"/>
          <p:nvPr/>
        </p:nvSpPr>
        <p:spPr>
          <a:xfrm>
            <a:off x="566928" y="384048"/>
            <a:ext cx="463600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09  ·  WHAT THE TRIAGE SURFACED</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The finding a Tc-ordered list cannot show</a:t>
            </a:r>
            <a:endParaRPr lang="en-US" sz="3400" dirty="0"/>
          </a:p>
        </p:txBody>
      </p:sp>
      <p:sp>
        <p:nvSpPr>
          <p:cNvPr id="5" name="Shape 3"/>
          <p:cNvSpPr/>
          <p:nvPr/>
        </p:nvSpPr>
        <p:spPr>
          <a:xfrm>
            <a:off x="566928" y="1874520"/>
            <a:ext cx="5486400" cy="2286000"/>
          </a:xfrm>
          <a:prstGeom prst="roundRect">
            <a:avLst>
              <a:gd name="adj" fmla="val 3200"/>
            </a:avLst>
          </a:prstGeom>
          <a:solidFill>
            <a:srgbClr val="FDEEE6"/>
          </a:solidFill>
          <a:ln w="9525">
            <a:solidFill>
              <a:srgbClr val="F0C4AE"/>
            </a:solidFill>
            <a:prstDash val="solid"/>
          </a:ln>
        </p:spPr>
      </p:sp>
      <p:sp>
        <p:nvSpPr>
          <p:cNvPr id="6" name="Text 4"/>
          <p:cNvSpPr txBox="1"/>
          <p:nvPr/>
        </p:nvSpPr>
        <p:spPr>
          <a:xfrm>
            <a:off x="886968" y="2103120"/>
            <a:ext cx="2194560" cy="566928"/>
          </a:xfrm>
          <a:prstGeom prst="rect">
            <a:avLst/>
          </a:prstGeom>
          <a:noFill/>
          <a:ln/>
        </p:spPr>
        <p:txBody>
          <a:bodyPr wrap="square" lIns="0" tIns="0" rIns="0" bIns="0" rtlCol="0" anchor="ctr"/>
          <a:lstStyle/>
          <a:p>
            <a:pPr indent="0" marL="0">
              <a:buNone/>
            </a:pPr>
            <a:r>
              <a:rPr lang="en-US" sz="4000" b="1" dirty="0">
                <a:solidFill>
                  <a:srgbClr val="C2410C"/>
                </a:solidFill>
                <a:latin typeface="Cambria" pitchFamily="34" charset="0"/>
                <a:ea typeface="Cambria" pitchFamily="34" charset="-122"/>
                <a:cs typeface="Cambria" pitchFamily="34" charset="-120"/>
              </a:rPr>
              <a:t>10 of 22</a:t>
            </a:r>
            <a:endParaRPr lang="en-US" sz="4000" dirty="0"/>
          </a:p>
        </p:txBody>
      </p:sp>
      <p:sp>
        <p:nvSpPr>
          <p:cNvPr id="7" name="Text 5"/>
          <p:cNvSpPr txBox="1"/>
          <p:nvPr/>
        </p:nvSpPr>
        <p:spPr>
          <a:xfrm>
            <a:off x="886968" y="2670048"/>
            <a:ext cx="4846320" cy="274320"/>
          </a:xfrm>
          <a:prstGeom prst="rect">
            <a:avLst/>
          </a:prstGeom>
          <a:noFill/>
          <a:ln/>
        </p:spPr>
        <p:txBody>
          <a:bodyPr wrap="square" lIns="0" tIns="0" rIns="0" bIns="0" rtlCol="0" anchor="ctr"/>
          <a:lstStyle/>
          <a:p>
            <a:pPr indent="0" marL="0">
              <a:buNone/>
            </a:pPr>
            <a:r>
              <a:rPr lang="en-US" sz="1300" b="1" dirty="0">
                <a:solidFill>
                  <a:srgbClr val="18222B"/>
                </a:solidFill>
                <a:latin typeface="Calibri" pitchFamily="34" charset="0"/>
                <a:ea typeface="Calibri" pitchFamily="34" charset="-122"/>
                <a:cs typeface="Calibri" pitchFamily="34" charset="-120"/>
              </a:rPr>
              <a:t>candidates contain technetium</a:t>
            </a:r>
            <a:endParaRPr lang="en-US" sz="1300" dirty="0"/>
          </a:p>
        </p:txBody>
      </p:sp>
      <p:sp>
        <p:nvSpPr>
          <p:cNvPr id="8" name="Text 6"/>
          <p:cNvSpPr txBox="1"/>
          <p:nvPr/>
        </p:nvSpPr>
        <p:spPr>
          <a:xfrm>
            <a:off x="886968" y="2980944"/>
            <a:ext cx="4846320" cy="777240"/>
          </a:xfrm>
          <a:prstGeom prst="rect">
            <a:avLst/>
          </a:prstGeom>
          <a:noFill/>
          <a:ln/>
        </p:spPr>
        <p:txBody>
          <a:bodyPr wrap="square" lIns="0" tIns="0" rIns="0" bIns="0" rtlCol="0" anchor="t"/>
          <a:lstStyle/>
          <a:p>
            <a:pPr algn="l" indent="0" marL="0">
              <a:lnSpc>
                <a:spcPts val="1500"/>
              </a:lnSpc>
              <a:buNone/>
            </a:pPr>
            <a:r>
              <a:rPr lang="en-US" sz="1100" dirty="0">
                <a:solidFill>
                  <a:srgbClr val="18222B"/>
                </a:solidFill>
                <a:latin typeface="Calibri" pitchFamily="34" charset="0"/>
                <a:ea typeface="Calibri" pitchFamily="34" charset="-122"/>
                <a:cs typeface="Calibri" pitchFamily="34" charset="-120"/>
              </a:rPr>
              <a:t>It has no stable isotope and needs a licensed facility. That constraint is visible from the formula alone and invisible in any ranking sorted by predicted Tc. Feasibility combines as a minimum, not a mean — one disqualifying element is not offset by three convenient ones.</a:t>
            </a:r>
            <a:endParaRPr lang="en-US" sz="1100" dirty="0"/>
          </a:p>
        </p:txBody>
      </p:sp>
      <p:sp>
        <p:nvSpPr>
          <p:cNvPr id="9" name="Shape 7"/>
          <p:cNvSpPr/>
          <p:nvPr/>
        </p:nvSpPr>
        <p:spPr>
          <a:xfrm>
            <a:off x="6355080" y="1874520"/>
            <a:ext cx="5266944" cy="2286000"/>
          </a:xfrm>
          <a:prstGeom prst="roundRect">
            <a:avLst>
              <a:gd name="adj" fmla="val 3200"/>
            </a:avLst>
          </a:prstGeom>
          <a:solidFill>
            <a:srgbClr val="FFFFFF"/>
          </a:solidFill>
          <a:ln w="9525">
            <a:solidFill>
              <a:srgbClr val="D4DCE3"/>
            </a:solidFill>
            <a:prstDash val="solid"/>
          </a:ln>
        </p:spPr>
      </p:sp>
      <p:sp>
        <p:nvSpPr>
          <p:cNvPr id="10" name="Text 8"/>
          <p:cNvSpPr txBox="1"/>
          <p:nvPr/>
        </p:nvSpPr>
        <p:spPr>
          <a:xfrm>
            <a:off x="6675120" y="2057400"/>
            <a:ext cx="4663440" cy="310896"/>
          </a:xfrm>
          <a:prstGeom prst="rect">
            <a:avLst/>
          </a:prstGeom>
          <a:noFill/>
          <a:ln/>
        </p:spPr>
        <p:txBody>
          <a:bodyPr wrap="square" lIns="0" tIns="0" rIns="0" bIns="0" rtlCol="0" anchor="ctr"/>
          <a:lstStyle/>
          <a:p>
            <a:pPr indent="0" marL="0">
              <a:buNone/>
            </a:pPr>
            <a:r>
              <a:rPr lang="en-US" sz="1500" b="1" dirty="0">
                <a:solidFill>
                  <a:srgbClr val="18222B"/>
                </a:solidFill>
                <a:latin typeface="Cambria" pitchFamily="34" charset="0"/>
                <a:ea typeface="Cambria" pitchFamily="34" charset="-122"/>
                <a:cs typeface="Cambria" pitchFamily="34" charset="-120"/>
              </a:rPr>
              <a:t>Ranks move with the policy</a:t>
            </a:r>
            <a:endParaRPr lang="en-US" sz="1500" dirty="0"/>
          </a:p>
        </p:txBody>
      </p:sp>
      <p:sp>
        <p:nvSpPr>
          <p:cNvPr id="11" name="Text 9"/>
          <p:cNvSpPr txBox="1"/>
          <p:nvPr/>
        </p:nvSpPr>
        <p:spPr>
          <a:xfrm>
            <a:off x="6675120" y="2414016"/>
            <a:ext cx="1920240" cy="237744"/>
          </a:xfrm>
          <a:prstGeom prst="rect">
            <a:avLst/>
          </a:prstGeom>
          <a:noFill/>
          <a:ln/>
        </p:spPr>
        <p:txBody>
          <a:bodyPr wrap="square" lIns="0" tIns="0" rIns="0" bIns="0" rtlCol="0" anchor="ctr"/>
          <a:lstStyle/>
          <a:p>
            <a:pPr algn="l" indent="0" marL="0">
              <a:buNone/>
            </a:pPr>
            <a:r>
              <a:rPr lang="en-US" sz="950" b="1" dirty="0">
                <a:solidFill>
                  <a:srgbClr val="5B6B78"/>
                </a:solidFill>
                <a:latin typeface="Calibri" pitchFamily="34" charset="0"/>
                <a:ea typeface="Calibri" pitchFamily="34" charset="-122"/>
                <a:cs typeface="Calibri" pitchFamily="34" charset="-120"/>
              </a:rPr>
              <a:t>Candidate</a:t>
            </a:r>
            <a:endParaRPr lang="en-US" sz="950" dirty="0"/>
          </a:p>
        </p:txBody>
      </p:sp>
      <p:sp>
        <p:nvSpPr>
          <p:cNvPr id="12" name="Text 10"/>
          <p:cNvSpPr txBox="1"/>
          <p:nvPr/>
        </p:nvSpPr>
        <p:spPr>
          <a:xfrm>
            <a:off x="8686800" y="2414016"/>
            <a:ext cx="868680" cy="237744"/>
          </a:xfrm>
          <a:prstGeom prst="rect">
            <a:avLst/>
          </a:prstGeom>
          <a:noFill/>
          <a:ln/>
        </p:spPr>
        <p:txBody>
          <a:bodyPr wrap="square" lIns="0" tIns="0" rIns="0" bIns="0" rtlCol="0" anchor="ctr"/>
          <a:lstStyle/>
          <a:p>
            <a:pPr algn="ctr" indent="0" marL="0">
              <a:buNone/>
            </a:pPr>
            <a:r>
              <a:rPr lang="en-US" sz="950" b="1" dirty="0">
                <a:solidFill>
                  <a:srgbClr val="5B6B78"/>
                </a:solidFill>
                <a:latin typeface="Calibri" pitchFamily="34" charset="0"/>
                <a:ea typeface="Calibri" pitchFamily="34" charset="-122"/>
                <a:cs typeface="Calibri" pitchFamily="34" charset="-120"/>
              </a:rPr>
              <a:t>Bal.</a:t>
            </a:r>
            <a:endParaRPr lang="en-US" sz="950" dirty="0"/>
          </a:p>
        </p:txBody>
      </p:sp>
      <p:sp>
        <p:nvSpPr>
          <p:cNvPr id="13" name="Text 11"/>
          <p:cNvSpPr txBox="1"/>
          <p:nvPr/>
        </p:nvSpPr>
        <p:spPr>
          <a:xfrm>
            <a:off x="9601200" y="2414016"/>
            <a:ext cx="868680" cy="237744"/>
          </a:xfrm>
          <a:prstGeom prst="rect">
            <a:avLst/>
          </a:prstGeom>
          <a:noFill/>
          <a:ln/>
        </p:spPr>
        <p:txBody>
          <a:bodyPr wrap="square" lIns="0" tIns="0" rIns="0" bIns="0" rtlCol="0" anchor="ctr"/>
          <a:lstStyle/>
          <a:p>
            <a:pPr algn="ctr" indent="0" marL="0">
              <a:buNone/>
            </a:pPr>
            <a:r>
              <a:rPr lang="en-US" sz="950" b="1" dirty="0">
                <a:solidFill>
                  <a:srgbClr val="5B6B78"/>
                </a:solidFill>
                <a:latin typeface="Calibri" pitchFamily="34" charset="0"/>
                <a:ea typeface="Calibri" pitchFamily="34" charset="-122"/>
                <a:cs typeface="Calibri" pitchFamily="34" charset="-120"/>
              </a:rPr>
              <a:t>High-Tc</a:t>
            </a:r>
            <a:endParaRPr lang="en-US" sz="950" dirty="0"/>
          </a:p>
        </p:txBody>
      </p:sp>
      <p:sp>
        <p:nvSpPr>
          <p:cNvPr id="14" name="Text 12"/>
          <p:cNvSpPr txBox="1"/>
          <p:nvPr/>
        </p:nvSpPr>
        <p:spPr>
          <a:xfrm>
            <a:off x="10515600" y="2414016"/>
            <a:ext cx="868680" cy="237744"/>
          </a:xfrm>
          <a:prstGeom prst="rect">
            <a:avLst/>
          </a:prstGeom>
          <a:noFill/>
          <a:ln/>
        </p:spPr>
        <p:txBody>
          <a:bodyPr wrap="square" lIns="0" tIns="0" rIns="0" bIns="0" rtlCol="0" anchor="ctr"/>
          <a:lstStyle/>
          <a:p>
            <a:pPr algn="ctr" indent="0" marL="0">
              <a:buNone/>
            </a:pPr>
            <a:r>
              <a:rPr lang="en-US" sz="950" b="1" dirty="0">
                <a:solidFill>
                  <a:srgbClr val="5B6B78"/>
                </a:solidFill>
                <a:latin typeface="Calibri" pitchFamily="34" charset="0"/>
                <a:ea typeface="Calibri" pitchFamily="34" charset="-122"/>
                <a:cs typeface="Calibri" pitchFamily="34" charset="-120"/>
              </a:rPr>
              <a:t>Feas.</a:t>
            </a:r>
            <a:endParaRPr lang="en-US" sz="950" dirty="0"/>
          </a:p>
        </p:txBody>
      </p:sp>
      <p:sp>
        <p:nvSpPr>
          <p:cNvPr id="15" name="Text 13"/>
          <p:cNvSpPr txBox="1"/>
          <p:nvPr/>
        </p:nvSpPr>
        <p:spPr>
          <a:xfrm>
            <a:off x="6675120" y="2688336"/>
            <a:ext cx="1920240" cy="256032"/>
          </a:xfrm>
          <a:prstGeom prst="rect">
            <a:avLst/>
          </a:prstGeom>
          <a:noFill/>
          <a:ln/>
        </p:spPr>
        <p:txBody>
          <a:bodyPr wrap="square" lIns="0" tIns="0" rIns="0" bIns="0" rtlCol="0" anchor="ctr"/>
          <a:lstStyle/>
          <a:p>
            <a:pPr indent="0" marL="0">
              <a:buNone/>
            </a:pPr>
            <a:r>
              <a:rPr lang="en-US" sz="1100" dirty="0">
                <a:solidFill>
                  <a:srgbClr val="18222B"/>
                </a:solidFill>
                <a:latin typeface="Courier New" pitchFamily="34" charset="0"/>
                <a:ea typeface="Courier New" pitchFamily="34" charset="-122"/>
                <a:cs typeface="Courier New" pitchFamily="34" charset="-120"/>
              </a:rPr>
              <a:t>LiZrH6Ru</a:t>
            </a:r>
            <a:endParaRPr lang="en-US" sz="1100" dirty="0"/>
          </a:p>
        </p:txBody>
      </p:sp>
      <p:sp>
        <p:nvSpPr>
          <p:cNvPr id="16" name="Text 14"/>
          <p:cNvSpPr txBox="1"/>
          <p:nvPr/>
        </p:nvSpPr>
        <p:spPr>
          <a:xfrm>
            <a:off x="8686800" y="2688336"/>
            <a:ext cx="868680" cy="256032"/>
          </a:xfrm>
          <a:prstGeom prst="rect">
            <a:avLst/>
          </a:prstGeom>
          <a:noFill/>
          <a:ln/>
        </p:spPr>
        <p:txBody>
          <a:bodyPr wrap="square" lIns="0" tIns="0" rIns="0" bIns="0" rtlCol="0" anchor="ctr"/>
          <a:lstStyle/>
          <a:p>
            <a:pPr algn="ctr" indent="0" marL="0">
              <a:buNone/>
            </a:pPr>
            <a:r>
              <a:rPr lang="en-US" sz="1100" dirty="0">
                <a:solidFill>
                  <a:srgbClr val="5B6B78"/>
                </a:solidFill>
                <a:latin typeface="Courier New" pitchFamily="34" charset="0"/>
                <a:ea typeface="Courier New" pitchFamily="34" charset="-122"/>
                <a:cs typeface="Courier New" pitchFamily="34" charset="-120"/>
              </a:rPr>
              <a:t>1</a:t>
            </a:r>
            <a:endParaRPr lang="en-US" sz="1100" dirty="0"/>
          </a:p>
        </p:txBody>
      </p:sp>
      <p:sp>
        <p:nvSpPr>
          <p:cNvPr id="17" name="Text 15"/>
          <p:cNvSpPr txBox="1"/>
          <p:nvPr/>
        </p:nvSpPr>
        <p:spPr>
          <a:xfrm>
            <a:off x="9601200" y="2688336"/>
            <a:ext cx="868680" cy="256032"/>
          </a:xfrm>
          <a:prstGeom prst="rect">
            <a:avLst/>
          </a:prstGeom>
          <a:noFill/>
          <a:ln/>
        </p:spPr>
        <p:txBody>
          <a:bodyPr wrap="square" lIns="0" tIns="0" rIns="0" bIns="0" rtlCol="0" anchor="ctr"/>
          <a:lstStyle/>
          <a:p>
            <a:pPr algn="ctr" indent="0" marL="0">
              <a:buNone/>
            </a:pPr>
            <a:r>
              <a:rPr lang="en-US" sz="1100" dirty="0">
                <a:solidFill>
                  <a:srgbClr val="5B6B78"/>
                </a:solidFill>
                <a:latin typeface="Courier New" pitchFamily="34" charset="0"/>
                <a:ea typeface="Courier New" pitchFamily="34" charset="-122"/>
                <a:cs typeface="Courier New" pitchFamily="34" charset="-120"/>
              </a:rPr>
              <a:t>1</a:t>
            </a:r>
            <a:endParaRPr lang="en-US" sz="1100" dirty="0"/>
          </a:p>
        </p:txBody>
      </p:sp>
      <p:sp>
        <p:nvSpPr>
          <p:cNvPr id="18" name="Text 16"/>
          <p:cNvSpPr txBox="1"/>
          <p:nvPr/>
        </p:nvSpPr>
        <p:spPr>
          <a:xfrm>
            <a:off x="10515600" y="2688336"/>
            <a:ext cx="868680" cy="256032"/>
          </a:xfrm>
          <a:prstGeom prst="rect">
            <a:avLst/>
          </a:prstGeom>
          <a:noFill/>
          <a:ln/>
        </p:spPr>
        <p:txBody>
          <a:bodyPr wrap="square" lIns="0" tIns="0" rIns="0" bIns="0" rtlCol="0" anchor="ctr"/>
          <a:lstStyle/>
          <a:p>
            <a:pPr algn="ctr" indent="0" marL="0">
              <a:buNone/>
            </a:pPr>
            <a:r>
              <a:rPr lang="en-US" sz="1100" dirty="0">
                <a:solidFill>
                  <a:srgbClr val="5B6B78"/>
                </a:solidFill>
                <a:latin typeface="Courier New" pitchFamily="34" charset="0"/>
                <a:ea typeface="Courier New" pitchFamily="34" charset="-122"/>
                <a:cs typeface="Courier New" pitchFamily="34" charset="-120"/>
              </a:rPr>
              <a:t>1</a:t>
            </a:r>
            <a:endParaRPr lang="en-US" sz="1100" dirty="0"/>
          </a:p>
        </p:txBody>
      </p:sp>
      <p:sp>
        <p:nvSpPr>
          <p:cNvPr id="19" name="Text 17"/>
          <p:cNvSpPr txBox="1"/>
          <p:nvPr/>
        </p:nvSpPr>
        <p:spPr>
          <a:xfrm>
            <a:off x="6675120" y="2962656"/>
            <a:ext cx="1920240" cy="256032"/>
          </a:xfrm>
          <a:prstGeom prst="rect">
            <a:avLst/>
          </a:prstGeom>
          <a:noFill/>
          <a:ln/>
        </p:spPr>
        <p:txBody>
          <a:bodyPr wrap="square" lIns="0" tIns="0" rIns="0" bIns="0" rtlCol="0" anchor="ctr"/>
          <a:lstStyle/>
          <a:p>
            <a:pPr indent="0" marL="0">
              <a:buNone/>
            </a:pPr>
            <a:r>
              <a:rPr lang="en-US" sz="1100" dirty="0">
                <a:solidFill>
                  <a:srgbClr val="18222B"/>
                </a:solidFill>
                <a:latin typeface="Courier New" pitchFamily="34" charset="0"/>
                <a:ea typeface="Courier New" pitchFamily="34" charset="-122"/>
                <a:cs typeface="Courier New" pitchFamily="34" charset="-120"/>
              </a:rPr>
              <a:t>Ta6MoH16</a:t>
            </a:r>
            <a:endParaRPr lang="en-US" sz="1100" dirty="0"/>
          </a:p>
        </p:txBody>
      </p:sp>
      <p:sp>
        <p:nvSpPr>
          <p:cNvPr id="20" name="Text 18"/>
          <p:cNvSpPr txBox="1"/>
          <p:nvPr/>
        </p:nvSpPr>
        <p:spPr>
          <a:xfrm>
            <a:off x="8686800" y="2962656"/>
            <a:ext cx="868680" cy="256032"/>
          </a:xfrm>
          <a:prstGeom prst="rect">
            <a:avLst/>
          </a:prstGeom>
          <a:noFill/>
          <a:ln/>
        </p:spPr>
        <p:txBody>
          <a:bodyPr wrap="square" lIns="0" tIns="0" rIns="0" bIns="0" rtlCol="0" anchor="ctr"/>
          <a:lstStyle/>
          <a:p>
            <a:pPr algn="ctr" indent="0" marL="0">
              <a:buNone/>
            </a:pPr>
            <a:r>
              <a:rPr lang="en-US" sz="1100" dirty="0">
                <a:solidFill>
                  <a:srgbClr val="5B6B78"/>
                </a:solidFill>
                <a:latin typeface="Courier New" pitchFamily="34" charset="0"/>
                <a:ea typeface="Courier New" pitchFamily="34" charset="-122"/>
                <a:cs typeface="Courier New" pitchFamily="34" charset="-120"/>
              </a:rPr>
              <a:t>2</a:t>
            </a:r>
            <a:endParaRPr lang="en-US" sz="1100" dirty="0"/>
          </a:p>
        </p:txBody>
      </p:sp>
      <p:sp>
        <p:nvSpPr>
          <p:cNvPr id="21" name="Text 19"/>
          <p:cNvSpPr txBox="1"/>
          <p:nvPr/>
        </p:nvSpPr>
        <p:spPr>
          <a:xfrm>
            <a:off x="9601200" y="2962656"/>
            <a:ext cx="868680" cy="256032"/>
          </a:xfrm>
          <a:prstGeom prst="rect">
            <a:avLst/>
          </a:prstGeom>
          <a:noFill/>
          <a:ln/>
        </p:spPr>
        <p:txBody>
          <a:bodyPr wrap="square" lIns="0" tIns="0" rIns="0" bIns="0" rtlCol="0" anchor="ctr"/>
          <a:lstStyle/>
          <a:p>
            <a:pPr algn="ctr" indent="0" marL="0">
              <a:buNone/>
            </a:pPr>
            <a:r>
              <a:rPr lang="en-US" sz="1100" dirty="0">
                <a:solidFill>
                  <a:srgbClr val="5B6B78"/>
                </a:solidFill>
                <a:latin typeface="Courier New" pitchFamily="34" charset="0"/>
                <a:ea typeface="Courier New" pitchFamily="34" charset="-122"/>
                <a:cs typeface="Courier New" pitchFamily="34" charset="-120"/>
              </a:rPr>
              <a:t>3</a:t>
            </a:r>
            <a:endParaRPr lang="en-US" sz="1100" dirty="0"/>
          </a:p>
        </p:txBody>
      </p:sp>
      <p:sp>
        <p:nvSpPr>
          <p:cNvPr id="22" name="Text 20"/>
          <p:cNvSpPr txBox="1"/>
          <p:nvPr/>
        </p:nvSpPr>
        <p:spPr>
          <a:xfrm>
            <a:off x="10515600" y="2962656"/>
            <a:ext cx="868680" cy="256032"/>
          </a:xfrm>
          <a:prstGeom prst="rect">
            <a:avLst/>
          </a:prstGeom>
          <a:noFill/>
          <a:ln/>
        </p:spPr>
        <p:txBody>
          <a:bodyPr wrap="square" lIns="0" tIns="0" rIns="0" bIns="0" rtlCol="0" anchor="ctr"/>
          <a:lstStyle/>
          <a:p>
            <a:pPr algn="ctr" indent="0" marL="0">
              <a:buNone/>
            </a:pPr>
            <a:r>
              <a:rPr lang="en-US" sz="1100" dirty="0">
                <a:solidFill>
                  <a:srgbClr val="5B6B78"/>
                </a:solidFill>
                <a:latin typeface="Courier New" pitchFamily="34" charset="0"/>
                <a:ea typeface="Courier New" pitchFamily="34" charset="-122"/>
                <a:cs typeface="Courier New" pitchFamily="34" charset="-120"/>
              </a:rPr>
              <a:t>2</a:t>
            </a:r>
            <a:endParaRPr lang="en-US" sz="1100" dirty="0"/>
          </a:p>
        </p:txBody>
      </p:sp>
      <p:sp>
        <p:nvSpPr>
          <p:cNvPr id="23" name="Text 21"/>
          <p:cNvSpPr txBox="1"/>
          <p:nvPr/>
        </p:nvSpPr>
        <p:spPr>
          <a:xfrm>
            <a:off x="6675120" y="3236976"/>
            <a:ext cx="1920240" cy="256032"/>
          </a:xfrm>
          <a:prstGeom prst="rect">
            <a:avLst/>
          </a:prstGeom>
          <a:noFill/>
          <a:ln/>
        </p:spPr>
        <p:txBody>
          <a:bodyPr wrap="square" lIns="0" tIns="0" rIns="0" bIns="0" rtlCol="0" anchor="ctr"/>
          <a:lstStyle/>
          <a:p>
            <a:pPr indent="0" marL="0">
              <a:buNone/>
            </a:pPr>
            <a:r>
              <a:rPr lang="en-US" sz="1100" dirty="0">
                <a:solidFill>
                  <a:srgbClr val="18222B"/>
                </a:solidFill>
                <a:latin typeface="Courier New" pitchFamily="34" charset="0"/>
                <a:ea typeface="Courier New" pitchFamily="34" charset="-122"/>
                <a:cs typeface="Courier New" pitchFamily="34" charset="-120"/>
              </a:rPr>
              <a:t>EuCdH6Ru</a:t>
            </a:r>
            <a:endParaRPr lang="en-US" sz="1100" dirty="0"/>
          </a:p>
        </p:txBody>
      </p:sp>
      <p:sp>
        <p:nvSpPr>
          <p:cNvPr id="24" name="Text 22"/>
          <p:cNvSpPr txBox="1"/>
          <p:nvPr/>
        </p:nvSpPr>
        <p:spPr>
          <a:xfrm>
            <a:off x="8686800" y="3236976"/>
            <a:ext cx="868680" cy="256032"/>
          </a:xfrm>
          <a:prstGeom prst="rect">
            <a:avLst/>
          </a:prstGeom>
          <a:noFill/>
          <a:ln/>
        </p:spPr>
        <p:txBody>
          <a:bodyPr wrap="square" lIns="0" tIns="0" rIns="0" bIns="0" rtlCol="0" anchor="ctr"/>
          <a:lstStyle/>
          <a:p>
            <a:pPr algn="ctr" indent="0" marL="0">
              <a:buNone/>
            </a:pPr>
            <a:r>
              <a:rPr lang="en-US" sz="1100" b="1" dirty="0">
                <a:solidFill>
                  <a:srgbClr val="C2410C"/>
                </a:solidFill>
                <a:latin typeface="Courier New" pitchFamily="34" charset="0"/>
                <a:ea typeface="Courier New" pitchFamily="34" charset="-122"/>
                <a:cs typeface="Courier New" pitchFamily="34" charset="-120"/>
              </a:rPr>
              <a:t>6</a:t>
            </a:r>
            <a:endParaRPr lang="en-US" sz="1100" dirty="0"/>
          </a:p>
        </p:txBody>
      </p:sp>
      <p:sp>
        <p:nvSpPr>
          <p:cNvPr id="25" name="Text 23"/>
          <p:cNvSpPr txBox="1"/>
          <p:nvPr/>
        </p:nvSpPr>
        <p:spPr>
          <a:xfrm>
            <a:off x="9601200" y="3236976"/>
            <a:ext cx="868680" cy="256032"/>
          </a:xfrm>
          <a:prstGeom prst="rect">
            <a:avLst/>
          </a:prstGeom>
          <a:noFill/>
          <a:ln/>
        </p:spPr>
        <p:txBody>
          <a:bodyPr wrap="square" lIns="0" tIns="0" rIns="0" bIns="0" rtlCol="0" anchor="ctr"/>
          <a:lstStyle/>
          <a:p>
            <a:pPr algn="ctr" indent="0" marL="0">
              <a:buNone/>
            </a:pPr>
            <a:r>
              <a:rPr lang="en-US" sz="1100" b="1" dirty="0">
                <a:solidFill>
                  <a:srgbClr val="C2410C"/>
                </a:solidFill>
                <a:latin typeface="Courier New" pitchFamily="34" charset="0"/>
                <a:ea typeface="Courier New" pitchFamily="34" charset="-122"/>
                <a:cs typeface="Courier New" pitchFamily="34" charset="-120"/>
              </a:rPr>
              <a:t>2</a:t>
            </a:r>
            <a:endParaRPr lang="en-US" sz="1100" dirty="0"/>
          </a:p>
        </p:txBody>
      </p:sp>
      <p:sp>
        <p:nvSpPr>
          <p:cNvPr id="26" name="Text 24"/>
          <p:cNvSpPr txBox="1"/>
          <p:nvPr/>
        </p:nvSpPr>
        <p:spPr>
          <a:xfrm>
            <a:off x="10515600" y="3236976"/>
            <a:ext cx="868680" cy="256032"/>
          </a:xfrm>
          <a:prstGeom prst="rect">
            <a:avLst/>
          </a:prstGeom>
          <a:noFill/>
          <a:ln/>
        </p:spPr>
        <p:txBody>
          <a:bodyPr wrap="square" lIns="0" tIns="0" rIns="0" bIns="0" rtlCol="0" anchor="ctr"/>
          <a:lstStyle/>
          <a:p>
            <a:pPr algn="ctr" indent="0" marL="0">
              <a:buNone/>
            </a:pPr>
            <a:r>
              <a:rPr lang="en-US" sz="1100" b="1" dirty="0">
                <a:solidFill>
                  <a:srgbClr val="C2410C"/>
                </a:solidFill>
                <a:latin typeface="Courier New" pitchFamily="34" charset="0"/>
                <a:ea typeface="Courier New" pitchFamily="34" charset="-122"/>
                <a:cs typeface="Courier New" pitchFamily="34" charset="-120"/>
              </a:rPr>
              <a:t>9</a:t>
            </a:r>
            <a:endParaRPr lang="en-US" sz="1100" dirty="0"/>
          </a:p>
        </p:txBody>
      </p:sp>
      <p:sp>
        <p:nvSpPr>
          <p:cNvPr id="27" name="Text 25"/>
          <p:cNvSpPr txBox="1"/>
          <p:nvPr/>
        </p:nvSpPr>
        <p:spPr>
          <a:xfrm>
            <a:off x="6675120" y="3511296"/>
            <a:ext cx="1920240" cy="256032"/>
          </a:xfrm>
          <a:prstGeom prst="rect">
            <a:avLst/>
          </a:prstGeom>
          <a:noFill/>
          <a:ln/>
        </p:spPr>
        <p:txBody>
          <a:bodyPr wrap="square" lIns="0" tIns="0" rIns="0" bIns="0" rtlCol="0" anchor="ctr"/>
          <a:lstStyle/>
          <a:p>
            <a:pPr indent="0" marL="0">
              <a:buNone/>
            </a:pPr>
            <a:r>
              <a:rPr lang="en-US" sz="1100" dirty="0">
                <a:solidFill>
                  <a:srgbClr val="18222B"/>
                </a:solidFill>
                <a:latin typeface="Courier New" pitchFamily="34" charset="0"/>
                <a:ea typeface="Courier New" pitchFamily="34" charset="-122"/>
                <a:cs typeface="Courier New" pitchFamily="34" charset="-120"/>
              </a:rPr>
              <a:t>EuLuTcH6</a:t>
            </a:r>
            <a:endParaRPr lang="en-US" sz="1100" dirty="0"/>
          </a:p>
        </p:txBody>
      </p:sp>
      <p:sp>
        <p:nvSpPr>
          <p:cNvPr id="28" name="Text 26"/>
          <p:cNvSpPr txBox="1"/>
          <p:nvPr/>
        </p:nvSpPr>
        <p:spPr>
          <a:xfrm>
            <a:off x="8686800" y="3511296"/>
            <a:ext cx="868680" cy="256032"/>
          </a:xfrm>
          <a:prstGeom prst="rect">
            <a:avLst/>
          </a:prstGeom>
          <a:noFill/>
          <a:ln/>
        </p:spPr>
        <p:txBody>
          <a:bodyPr wrap="square" lIns="0" tIns="0" rIns="0" bIns="0" rtlCol="0" anchor="ctr"/>
          <a:lstStyle/>
          <a:p>
            <a:pPr algn="ctr" indent="0" marL="0">
              <a:buNone/>
            </a:pPr>
            <a:r>
              <a:rPr lang="en-US" sz="1100" b="1" dirty="0">
                <a:solidFill>
                  <a:srgbClr val="C2410C"/>
                </a:solidFill>
                <a:latin typeface="Courier New" pitchFamily="34" charset="0"/>
                <a:ea typeface="Courier New" pitchFamily="34" charset="-122"/>
                <a:cs typeface="Courier New" pitchFamily="34" charset="-120"/>
              </a:rPr>
              <a:t>13</a:t>
            </a:r>
            <a:endParaRPr lang="en-US" sz="1100" dirty="0"/>
          </a:p>
        </p:txBody>
      </p:sp>
      <p:sp>
        <p:nvSpPr>
          <p:cNvPr id="29" name="Text 27"/>
          <p:cNvSpPr txBox="1"/>
          <p:nvPr/>
        </p:nvSpPr>
        <p:spPr>
          <a:xfrm>
            <a:off x="9601200" y="3511296"/>
            <a:ext cx="868680" cy="256032"/>
          </a:xfrm>
          <a:prstGeom prst="rect">
            <a:avLst/>
          </a:prstGeom>
          <a:noFill/>
          <a:ln/>
        </p:spPr>
        <p:txBody>
          <a:bodyPr wrap="square" lIns="0" tIns="0" rIns="0" bIns="0" rtlCol="0" anchor="ctr"/>
          <a:lstStyle/>
          <a:p>
            <a:pPr algn="ctr" indent="0" marL="0">
              <a:buNone/>
            </a:pPr>
            <a:r>
              <a:rPr lang="en-US" sz="1100" b="1" dirty="0">
                <a:solidFill>
                  <a:srgbClr val="C2410C"/>
                </a:solidFill>
                <a:latin typeface="Courier New" pitchFamily="34" charset="0"/>
                <a:ea typeface="Courier New" pitchFamily="34" charset="-122"/>
                <a:cs typeface="Courier New" pitchFamily="34" charset="-120"/>
              </a:rPr>
              <a:t>5</a:t>
            </a:r>
            <a:endParaRPr lang="en-US" sz="1100" dirty="0"/>
          </a:p>
        </p:txBody>
      </p:sp>
      <p:sp>
        <p:nvSpPr>
          <p:cNvPr id="30" name="Text 28"/>
          <p:cNvSpPr txBox="1"/>
          <p:nvPr/>
        </p:nvSpPr>
        <p:spPr>
          <a:xfrm>
            <a:off x="10515600" y="3511296"/>
            <a:ext cx="868680" cy="256032"/>
          </a:xfrm>
          <a:prstGeom prst="rect">
            <a:avLst/>
          </a:prstGeom>
          <a:noFill/>
          <a:ln/>
        </p:spPr>
        <p:txBody>
          <a:bodyPr wrap="square" lIns="0" tIns="0" rIns="0" bIns="0" rtlCol="0" anchor="ctr"/>
          <a:lstStyle/>
          <a:p>
            <a:pPr algn="ctr" indent="0" marL="0">
              <a:buNone/>
            </a:pPr>
            <a:r>
              <a:rPr lang="en-US" sz="1100" b="1" dirty="0">
                <a:solidFill>
                  <a:srgbClr val="C2410C"/>
                </a:solidFill>
                <a:latin typeface="Courier New" pitchFamily="34" charset="0"/>
                <a:ea typeface="Courier New" pitchFamily="34" charset="-122"/>
                <a:cs typeface="Courier New" pitchFamily="34" charset="-120"/>
              </a:rPr>
              <a:t>14</a:t>
            </a:r>
            <a:endParaRPr lang="en-US" sz="1100" dirty="0"/>
          </a:p>
        </p:txBody>
      </p:sp>
      <p:sp>
        <p:nvSpPr>
          <p:cNvPr id="31" name="Text 29"/>
          <p:cNvSpPr txBox="1"/>
          <p:nvPr/>
        </p:nvSpPr>
        <p:spPr>
          <a:xfrm>
            <a:off x="6675120" y="3840480"/>
            <a:ext cx="4663440" cy="274320"/>
          </a:xfrm>
          <a:prstGeom prst="rect">
            <a:avLst/>
          </a:prstGeom>
          <a:noFill/>
          <a:ln/>
        </p:spPr>
        <p:txBody>
          <a:bodyPr wrap="square" lIns="0" tIns="0" rIns="0" bIns="0" rtlCol="0" anchor="ctr"/>
          <a:lstStyle/>
          <a:p>
            <a:pPr indent="0" marL="0">
              <a:buNone/>
            </a:pPr>
            <a:r>
              <a:rPr lang="en-US" sz="1050" i="1" dirty="0">
                <a:solidFill>
                  <a:srgbClr val="5B6B78"/>
                </a:solidFill>
                <a:latin typeface="Calibri" pitchFamily="34" charset="0"/>
                <a:ea typeface="Calibri" pitchFamily="34" charset="-122"/>
                <a:cs typeface="Calibri" pitchFamily="34" charset="-120"/>
              </a:rPr>
              <a:t>EuCdH6Ru moves 2 → 9 between policies — the warning label on every other row.</a:t>
            </a:r>
            <a:endParaRPr lang="en-US" sz="1050" dirty="0"/>
          </a:p>
        </p:txBody>
      </p:sp>
      <p:sp>
        <p:nvSpPr>
          <p:cNvPr id="32" name="Shape 30"/>
          <p:cNvSpPr/>
          <p:nvPr/>
        </p:nvSpPr>
        <p:spPr>
          <a:xfrm>
            <a:off x="566928" y="4370832"/>
            <a:ext cx="11055096" cy="1325880"/>
          </a:xfrm>
          <a:prstGeom prst="roundRect">
            <a:avLst>
              <a:gd name="adj" fmla="val 5517"/>
            </a:avLst>
          </a:prstGeom>
          <a:solidFill>
            <a:srgbClr val="E6F2EA"/>
          </a:solidFill>
          <a:ln w="9525">
            <a:solidFill>
              <a:srgbClr val="BEDCC9"/>
            </a:solidFill>
            <a:prstDash val="solid"/>
          </a:ln>
        </p:spPr>
      </p:sp>
      <p:sp>
        <p:nvSpPr>
          <p:cNvPr id="33" name="Text 31"/>
          <p:cNvSpPr txBox="1"/>
          <p:nvPr/>
        </p:nvSpPr>
        <p:spPr>
          <a:xfrm>
            <a:off x="932688" y="4553712"/>
            <a:ext cx="10323576" cy="329184"/>
          </a:xfrm>
          <a:prstGeom prst="rect">
            <a:avLst/>
          </a:prstGeom>
          <a:noFill/>
          <a:ln/>
        </p:spPr>
        <p:txBody>
          <a:bodyPr wrap="square" lIns="0" tIns="0" rIns="0" bIns="0" rtlCol="0" anchor="ctr"/>
          <a:lstStyle/>
          <a:p>
            <a:pPr indent="0" marL="0">
              <a:buNone/>
            </a:pPr>
            <a:r>
              <a:rPr lang="en-US" sz="1700" b="1" dirty="0">
                <a:solidFill>
                  <a:srgbClr val="15803D"/>
                </a:solidFill>
                <a:latin typeface="Cambria" pitchFamily="34" charset="0"/>
                <a:ea typeface="Cambria" pitchFamily="34" charset="-122"/>
                <a:cs typeface="Cambria" pitchFamily="34" charset="-120"/>
              </a:rPr>
              <a:t>The consensus shortlist is the useful output, not rank 1.</a:t>
            </a:r>
            <a:endParaRPr lang="en-US" sz="1700" dirty="0"/>
          </a:p>
        </p:txBody>
      </p:sp>
      <p:sp>
        <p:nvSpPr>
          <p:cNvPr id="34" name="Text 32"/>
          <p:cNvSpPr txBox="1"/>
          <p:nvPr/>
        </p:nvSpPr>
        <p:spPr>
          <a:xfrm>
            <a:off x="932688" y="4919472"/>
            <a:ext cx="10323576" cy="640080"/>
          </a:xfrm>
          <a:prstGeom prst="rect">
            <a:avLst/>
          </a:prstGeom>
          <a:noFill/>
          <a:ln/>
        </p:spPr>
        <p:txBody>
          <a:bodyPr wrap="square" lIns="0" tIns="0" rIns="0" bIns="0" rtlCol="0" anchor="t"/>
          <a:lstStyle/>
          <a:p>
            <a:pPr indent="0" marL="0">
              <a:lnSpc>
                <a:spcPts val="1600"/>
              </a:lnSpc>
              <a:buNone/>
            </a:pPr>
            <a:r>
              <a:rPr lang="en-US" sz="1200" dirty="0">
                <a:solidFill>
                  <a:srgbClr val="18222B"/>
                </a:solidFill>
                <a:latin typeface="Calibri" pitchFamily="34" charset="0"/>
                <a:ea typeface="Calibri" pitchFamily="34" charset="-122"/>
                <a:cs typeface="Calibri" pitchFamily="34" charset="-120"/>
              </a:rPr>
              <a:t>LiZrH6Ru  ·  Ta6MoH16  ·  TaNb3H8  —  these sit in the top five under every policy considered. They are what a lab validates regardless of whose priorities win the argument, which is the question a programme lead actually has to answer.</a:t>
            </a:r>
            <a:endParaRPr lang="en-US" sz="1200" dirty="0"/>
          </a:p>
        </p:txBody>
      </p:sp>
      <p:sp>
        <p:nvSpPr>
          <p:cNvPr id="35" name="Text 33"/>
          <p:cNvSpPr txBox="1"/>
          <p:nvPr/>
        </p:nvSpPr>
        <p:spPr>
          <a:xfrm>
            <a:off x="566928" y="5897880"/>
            <a:ext cx="11055096" cy="914400"/>
          </a:xfrm>
          <a:prstGeom prst="rect">
            <a:avLst/>
          </a:prstGeom>
          <a:noFill/>
          <a:ln/>
        </p:spPr>
        <p:txBody>
          <a:bodyPr wrap="square" lIns="0" tIns="0" rIns="0" bIns="0" rtlCol="0" anchor="t"/>
          <a:lstStyle/>
          <a:p>
            <a:pPr algn="l" indent="0" marL="0">
              <a:lnSpc>
                <a:spcPts val="1900"/>
              </a:lnSpc>
              <a:buNone/>
            </a:pPr>
            <a:r>
              <a:rPr lang="en-US" sz="1150" dirty="0">
                <a:solidFill>
                  <a:srgbClr val="5B6B78"/>
                </a:solidFill>
                <a:latin typeface="Calibri" pitchFamily="34" charset="0"/>
                <a:ea typeface="Calibri" pitchFamily="34" charset="-122"/>
                <a:cs typeface="Calibri" pitchFamily="34" charset="-120"/>
              </a:rPr>
              <a:t>A single ranking presented as the answer would manufacture authority the data does not carry. The sensitivity view and the consensus shortlist are the honest output.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3950208" cy="292608"/>
          </a:xfrm>
          <a:prstGeom prst="roundRect">
            <a:avLst>
              <a:gd name="adj" fmla="val 50000"/>
            </a:avLst>
          </a:prstGeom>
          <a:solidFill>
            <a:srgbClr val="1F5F8B"/>
          </a:solidFill>
          <a:ln w="12700">
            <a:solidFill>
              <a:srgbClr val="1F5F8B"/>
            </a:solidFill>
            <a:prstDash val="solid"/>
          </a:ln>
        </p:spPr>
      </p:sp>
      <p:sp>
        <p:nvSpPr>
          <p:cNvPr id="3" name="Text 1"/>
          <p:cNvSpPr txBox="1"/>
          <p:nvPr/>
        </p:nvSpPr>
        <p:spPr>
          <a:xfrm>
            <a:off x="566928" y="384048"/>
            <a:ext cx="395020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10  ·  ARCHITECTURE PAYOFF</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One system, not two demos in one repository</a:t>
            </a:r>
            <a:endParaRPr lang="en-US" sz="3400" dirty="0"/>
          </a:p>
        </p:txBody>
      </p:sp>
      <p:sp>
        <p:nvSpPr>
          <p:cNvPr id="5" name="Text 3"/>
          <p:cNvSpPr txBox="1"/>
          <p:nvPr/>
        </p:nvSpPr>
        <p:spPr>
          <a:xfrm>
            <a:off x="566928" y="1572768"/>
            <a:ext cx="11055096" cy="420624"/>
          </a:xfrm>
          <a:prstGeom prst="rect">
            <a:avLst/>
          </a:prstGeom>
          <a:noFill/>
          <a:ln/>
        </p:spPr>
        <p:txBody>
          <a:bodyPr wrap="square" lIns="0" tIns="0" rIns="0" bIns="0" rtlCol="0" anchor="t"/>
          <a:lstStyle/>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Triage does not end at a ranked table. The selected candidate becomes a workflow that enters the</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same machinery a CdTe experiment does — same parser, same safety gate, no orchestrator changes.</a:t>
            </a:r>
            <a:endParaRPr lang="en-US" sz="1450" dirty="0"/>
          </a:p>
        </p:txBody>
      </p:sp>
      <p:sp>
        <p:nvSpPr>
          <p:cNvPr id="6" name="Shape 4"/>
          <p:cNvSpPr/>
          <p:nvPr/>
        </p:nvSpPr>
        <p:spPr>
          <a:xfrm>
            <a:off x="566928" y="2697480"/>
            <a:ext cx="1984248" cy="1051560"/>
          </a:xfrm>
          <a:prstGeom prst="roundRect">
            <a:avLst>
              <a:gd name="adj" fmla="val 6957"/>
            </a:avLst>
          </a:prstGeom>
          <a:solidFill>
            <a:srgbClr val="FFFFFF"/>
          </a:solidFill>
          <a:ln w="9525">
            <a:solidFill>
              <a:srgbClr val="D4DCE3"/>
            </a:solidFill>
            <a:prstDash val="solid"/>
          </a:ln>
        </p:spPr>
      </p:sp>
      <p:sp>
        <p:nvSpPr>
          <p:cNvPr id="7" name="Text 5"/>
          <p:cNvSpPr txBox="1"/>
          <p:nvPr/>
        </p:nvSpPr>
        <p:spPr>
          <a:xfrm>
            <a:off x="731520" y="2697480"/>
            <a:ext cx="1655064" cy="1051560"/>
          </a:xfrm>
          <a:prstGeom prst="rect">
            <a:avLst/>
          </a:prstGeom>
          <a:noFill/>
          <a:ln/>
        </p:spPr>
        <p:txBody>
          <a:bodyPr wrap="square" lIns="0" tIns="0" rIns="0" bIns="0" rtlCol="0" anchor="ctr"/>
          <a:lstStyle/>
          <a:p>
            <a:pPr algn="ctr" indent="0" marL="0">
              <a:lnSpc>
                <a:spcPts val="1500"/>
              </a:lnSpc>
              <a:buNone/>
            </a:pPr>
            <a:r>
              <a:rPr lang="en-US" sz="1250" b="1" dirty="0">
                <a:solidFill>
                  <a:srgbClr val="18222B"/>
                </a:solidFill>
                <a:latin typeface="Calibri" pitchFamily="34" charset="0"/>
                <a:ea typeface="Calibri" pitchFamily="34" charset="-122"/>
                <a:cs typeface="Calibri" pitchFamily="34" charset="-120"/>
              </a:rPr>
              <a:t>Ranked shortlist</a:t>
            </a:r>
            <a:endParaRPr lang="en-US" sz="1250" dirty="0"/>
          </a:p>
        </p:txBody>
      </p:sp>
      <p:sp>
        <p:nvSpPr>
          <p:cNvPr id="8" name="Text 6"/>
          <p:cNvSpPr txBox="1"/>
          <p:nvPr/>
        </p:nvSpPr>
        <p:spPr>
          <a:xfrm>
            <a:off x="2569464" y="3035808"/>
            <a:ext cx="246888" cy="365760"/>
          </a:xfrm>
          <a:prstGeom prst="rect">
            <a:avLst/>
          </a:prstGeom>
          <a:noFill/>
          <a:ln/>
        </p:spPr>
        <p:txBody>
          <a:bodyPr wrap="square" lIns="0" tIns="0" rIns="0" bIns="0" rtlCol="0" anchor="ctr"/>
          <a:lstStyle/>
          <a:p>
            <a:pPr algn="ctr" indent="0" marL="0">
              <a:buNone/>
            </a:pPr>
            <a:r>
              <a:rPr lang="en-US" sz="1500" dirty="0">
                <a:solidFill>
                  <a:srgbClr val="D4DCE3"/>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2834640" y="2697480"/>
            <a:ext cx="1984248" cy="1051560"/>
          </a:xfrm>
          <a:prstGeom prst="roundRect">
            <a:avLst>
              <a:gd name="adj" fmla="val 6957"/>
            </a:avLst>
          </a:prstGeom>
          <a:solidFill>
            <a:srgbClr val="FFFFFF"/>
          </a:solidFill>
          <a:ln w="9525">
            <a:solidFill>
              <a:srgbClr val="D4DCE3"/>
            </a:solidFill>
            <a:prstDash val="solid"/>
          </a:ln>
        </p:spPr>
      </p:sp>
      <p:sp>
        <p:nvSpPr>
          <p:cNvPr id="10" name="Text 8"/>
          <p:cNvSpPr txBox="1"/>
          <p:nvPr/>
        </p:nvSpPr>
        <p:spPr>
          <a:xfrm>
            <a:off x="2999232" y="2697480"/>
            <a:ext cx="1655064" cy="1051560"/>
          </a:xfrm>
          <a:prstGeom prst="rect">
            <a:avLst/>
          </a:prstGeom>
          <a:noFill/>
          <a:ln/>
        </p:spPr>
        <p:txBody>
          <a:bodyPr wrap="square" lIns="0" tIns="0" rIns="0" bIns="0" rtlCol="0" anchor="ctr"/>
          <a:lstStyle/>
          <a:p>
            <a:pPr algn="ctr" indent="0" marL="0">
              <a:lnSpc>
                <a:spcPts val="1500"/>
              </a:lnSpc>
              <a:buNone/>
            </a:pPr>
            <a:r>
              <a:rPr lang="en-US" sz="1250" b="1" dirty="0">
                <a:solidFill>
                  <a:srgbClr val="18222B"/>
                </a:solidFill>
                <a:latin typeface="Calibri" pitchFamily="34" charset="0"/>
                <a:ea typeface="Calibri" pitchFamily="34" charset="-122"/>
                <a:cs typeface="Calibri" pitchFamily="34" charset="-120"/>
              </a:rPr>
              <a:t>Validation plan</a:t>
            </a:r>
            <a:endParaRPr lang="en-US" sz="1250" dirty="0"/>
          </a:p>
          <a:p>
            <a:pPr algn="ctr" indent="0" marL="0">
              <a:lnSpc>
                <a:spcPts val="1500"/>
              </a:lnSpc>
              <a:buNone/>
            </a:pPr>
            <a:r>
              <a:rPr lang="en-US" sz="1250" b="1" dirty="0">
                <a:solidFill>
                  <a:srgbClr val="18222B"/>
                </a:solidFill>
                <a:latin typeface="Calibri" pitchFamily="34" charset="0"/>
                <a:ea typeface="Calibri" pitchFamily="34" charset="-122"/>
                <a:cs typeface="Calibri" pitchFamily="34" charset="-120"/>
              </a:rPr>
              <a:t>(generated YAML)</a:t>
            </a:r>
            <a:endParaRPr lang="en-US" sz="1250" dirty="0"/>
          </a:p>
        </p:txBody>
      </p:sp>
      <p:sp>
        <p:nvSpPr>
          <p:cNvPr id="11" name="Text 9"/>
          <p:cNvSpPr txBox="1"/>
          <p:nvPr/>
        </p:nvSpPr>
        <p:spPr>
          <a:xfrm>
            <a:off x="4837176" y="3035808"/>
            <a:ext cx="246888" cy="365760"/>
          </a:xfrm>
          <a:prstGeom prst="rect">
            <a:avLst/>
          </a:prstGeom>
          <a:noFill/>
          <a:ln/>
        </p:spPr>
        <p:txBody>
          <a:bodyPr wrap="square" lIns="0" tIns="0" rIns="0" bIns="0" rtlCol="0" anchor="ctr"/>
          <a:lstStyle/>
          <a:p>
            <a:pPr algn="ctr" indent="0" marL="0">
              <a:buNone/>
            </a:pPr>
            <a:r>
              <a:rPr lang="en-US" sz="1500" dirty="0">
                <a:solidFill>
                  <a:srgbClr val="D4DCE3"/>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5102352" y="2697480"/>
            <a:ext cx="1984248" cy="1051560"/>
          </a:xfrm>
          <a:prstGeom prst="roundRect">
            <a:avLst>
              <a:gd name="adj" fmla="val 6957"/>
            </a:avLst>
          </a:prstGeom>
          <a:solidFill>
            <a:srgbClr val="E9F0F6"/>
          </a:solidFill>
          <a:ln w="9525">
            <a:solidFill>
              <a:srgbClr val="BCD3E5"/>
            </a:solidFill>
            <a:prstDash val="solid"/>
          </a:ln>
        </p:spPr>
      </p:sp>
      <p:sp>
        <p:nvSpPr>
          <p:cNvPr id="13" name="Text 11"/>
          <p:cNvSpPr txBox="1"/>
          <p:nvPr/>
        </p:nvSpPr>
        <p:spPr>
          <a:xfrm>
            <a:off x="5266944" y="2697480"/>
            <a:ext cx="1655064" cy="1051560"/>
          </a:xfrm>
          <a:prstGeom prst="rect">
            <a:avLst/>
          </a:prstGeom>
          <a:noFill/>
          <a:ln/>
        </p:spPr>
        <p:txBody>
          <a:bodyPr wrap="square" lIns="0" tIns="0" rIns="0" bIns="0" rtlCol="0" anchor="ctr"/>
          <a:lstStyle/>
          <a:p>
            <a:pPr algn="ctr" indent="0" marL="0">
              <a:lnSpc>
                <a:spcPts val="1500"/>
              </a:lnSpc>
              <a:buNone/>
            </a:pPr>
            <a:r>
              <a:rPr lang="en-US" sz="1150" dirty="0">
                <a:solidFill>
                  <a:srgbClr val="1F5F8B"/>
                </a:solidFill>
                <a:latin typeface="Courier New" pitchFamily="34" charset="0"/>
                <a:ea typeface="Courier New" pitchFamily="34" charset="-122"/>
                <a:cs typeface="Courier New" pitchFamily="34" charset="-120"/>
              </a:rPr>
              <a:t>workflow_parser</a:t>
            </a:r>
            <a:endParaRPr lang="en-US" sz="1150" dirty="0"/>
          </a:p>
          <a:p>
            <a:pPr algn="ctr" indent="0" marL="0">
              <a:lnSpc>
                <a:spcPts val="1500"/>
              </a:lnSpc>
              <a:buNone/>
            </a:pPr>
            <a:r>
              <a:rPr lang="en-US" sz="1150" dirty="0">
                <a:solidFill>
                  <a:srgbClr val="1F5F8B"/>
                </a:solidFill>
                <a:latin typeface="Courier New" pitchFamily="34" charset="0"/>
                <a:ea typeface="Courier New" pitchFamily="34" charset="-122"/>
                <a:cs typeface="Courier New" pitchFamily="34" charset="-120"/>
              </a:rPr>
              <a:t>(unchanged)</a:t>
            </a:r>
            <a:endParaRPr lang="en-US" sz="1150" dirty="0"/>
          </a:p>
        </p:txBody>
      </p:sp>
      <p:sp>
        <p:nvSpPr>
          <p:cNvPr id="14" name="Text 12"/>
          <p:cNvSpPr txBox="1"/>
          <p:nvPr/>
        </p:nvSpPr>
        <p:spPr>
          <a:xfrm>
            <a:off x="7104888" y="3035808"/>
            <a:ext cx="246888" cy="365760"/>
          </a:xfrm>
          <a:prstGeom prst="rect">
            <a:avLst/>
          </a:prstGeom>
          <a:noFill/>
          <a:ln/>
        </p:spPr>
        <p:txBody>
          <a:bodyPr wrap="square" lIns="0" tIns="0" rIns="0" bIns="0" rtlCol="0" anchor="ctr"/>
          <a:lstStyle/>
          <a:p>
            <a:pPr algn="ctr" indent="0" marL="0">
              <a:buNone/>
            </a:pPr>
            <a:r>
              <a:rPr lang="en-US" sz="1500" dirty="0">
                <a:solidFill>
                  <a:srgbClr val="D4DCE3"/>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7370064" y="2697480"/>
            <a:ext cx="1984248" cy="1051560"/>
          </a:xfrm>
          <a:prstGeom prst="roundRect">
            <a:avLst>
              <a:gd name="adj" fmla="val 6957"/>
            </a:avLst>
          </a:prstGeom>
          <a:solidFill>
            <a:srgbClr val="E9F0F6"/>
          </a:solidFill>
          <a:ln w="9525">
            <a:solidFill>
              <a:srgbClr val="BCD3E5"/>
            </a:solidFill>
            <a:prstDash val="solid"/>
          </a:ln>
        </p:spPr>
      </p:sp>
      <p:sp>
        <p:nvSpPr>
          <p:cNvPr id="16" name="Text 14"/>
          <p:cNvSpPr txBox="1"/>
          <p:nvPr/>
        </p:nvSpPr>
        <p:spPr>
          <a:xfrm>
            <a:off x="7534656" y="2697480"/>
            <a:ext cx="1655064" cy="1051560"/>
          </a:xfrm>
          <a:prstGeom prst="rect">
            <a:avLst/>
          </a:prstGeom>
          <a:noFill/>
          <a:ln/>
        </p:spPr>
        <p:txBody>
          <a:bodyPr wrap="square" lIns="0" tIns="0" rIns="0" bIns="0" rtlCol="0" anchor="ctr"/>
          <a:lstStyle/>
          <a:p>
            <a:pPr algn="ctr" indent="0" marL="0">
              <a:lnSpc>
                <a:spcPts val="1500"/>
              </a:lnSpc>
              <a:buNone/>
            </a:pPr>
            <a:r>
              <a:rPr lang="en-US" sz="1150" dirty="0">
                <a:solidFill>
                  <a:srgbClr val="1F5F8B"/>
                </a:solidFill>
                <a:latin typeface="Courier New" pitchFamily="34" charset="0"/>
                <a:ea typeface="Courier New" pitchFamily="34" charset="-122"/>
                <a:cs typeface="Courier New" pitchFamily="34" charset="-120"/>
              </a:rPr>
              <a:t>safety_gate</a:t>
            </a:r>
            <a:endParaRPr lang="en-US" sz="1150" dirty="0"/>
          </a:p>
          <a:p>
            <a:pPr algn="ctr" indent="0" marL="0">
              <a:lnSpc>
                <a:spcPts val="1500"/>
              </a:lnSpc>
              <a:buNone/>
            </a:pPr>
            <a:r>
              <a:rPr lang="en-US" sz="1150" dirty="0">
                <a:solidFill>
                  <a:srgbClr val="1F5F8B"/>
                </a:solidFill>
                <a:latin typeface="Courier New" pitchFamily="34" charset="0"/>
                <a:ea typeface="Courier New" pitchFamily="34" charset="-122"/>
                <a:cs typeface="Courier New" pitchFamily="34" charset="-120"/>
              </a:rPr>
              <a:t>(unchanged)</a:t>
            </a:r>
            <a:endParaRPr lang="en-US" sz="1150" dirty="0"/>
          </a:p>
        </p:txBody>
      </p:sp>
      <p:sp>
        <p:nvSpPr>
          <p:cNvPr id="17" name="Text 15"/>
          <p:cNvSpPr txBox="1"/>
          <p:nvPr/>
        </p:nvSpPr>
        <p:spPr>
          <a:xfrm>
            <a:off x="9372600" y="3035808"/>
            <a:ext cx="246888" cy="365760"/>
          </a:xfrm>
          <a:prstGeom prst="rect">
            <a:avLst/>
          </a:prstGeom>
          <a:noFill/>
          <a:ln/>
        </p:spPr>
        <p:txBody>
          <a:bodyPr wrap="square" lIns="0" tIns="0" rIns="0" bIns="0" rtlCol="0" anchor="ctr"/>
          <a:lstStyle/>
          <a:p>
            <a:pPr algn="ctr" indent="0" marL="0">
              <a:buNone/>
            </a:pPr>
            <a:r>
              <a:rPr lang="en-US" sz="1500" dirty="0">
                <a:solidFill>
                  <a:srgbClr val="D4DCE3"/>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9637776" y="2697480"/>
            <a:ext cx="1984248" cy="1051560"/>
          </a:xfrm>
          <a:prstGeom prst="roundRect">
            <a:avLst>
              <a:gd name="adj" fmla="val 6957"/>
            </a:avLst>
          </a:prstGeom>
          <a:solidFill>
            <a:srgbClr val="FFFFFF"/>
          </a:solidFill>
          <a:ln w="9525">
            <a:solidFill>
              <a:srgbClr val="D4DCE3"/>
            </a:solidFill>
            <a:prstDash val="solid"/>
          </a:ln>
        </p:spPr>
      </p:sp>
      <p:sp>
        <p:nvSpPr>
          <p:cNvPr id="19" name="Text 17"/>
          <p:cNvSpPr txBox="1"/>
          <p:nvPr/>
        </p:nvSpPr>
        <p:spPr>
          <a:xfrm>
            <a:off x="9802368" y="2697480"/>
            <a:ext cx="1655064" cy="1051560"/>
          </a:xfrm>
          <a:prstGeom prst="rect">
            <a:avLst/>
          </a:prstGeom>
          <a:noFill/>
          <a:ln/>
        </p:spPr>
        <p:txBody>
          <a:bodyPr wrap="square" lIns="0" tIns="0" rIns="0" bIns="0" rtlCol="0" anchor="ctr"/>
          <a:lstStyle/>
          <a:p>
            <a:pPr algn="ctr" indent="0" marL="0">
              <a:lnSpc>
                <a:spcPts val="1500"/>
              </a:lnSpc>
              <a:buNone/>
            </a:pPr>
            <a:r>
              <a:rPr lang="en-US" sz="1250" b="1" dirty="0">
                <a:solidFill>
                  <a:srgbClr val="18222B"/>
                </a:solidFill>
                <a:latin typeface="Calibri" pitchFamily="34" charset="0"/>
                <a:ea typeface="Calibri" pitchFamily="34" charset="-122"/>
                <a:cs typeface="Calibri" pitchFamily="34" charset="-120"/>
              </a:rPr>
              <a:t>Hypothesis</a:t>
            </a:r>
            <a:endParaRPr lang="en-US" sz="1250" dirty="0"/>
          </a:p>
          <a:p>
            <a:pPr algn="ctr" indent="0" marL="0">
              <a:lnSpc>
                <a:spcPts val="1500"/>
              </a:lnSpc>
              <a:buNone/>
            </a:pPr>
            <a:r>
              <a:rPr lang="en-US" sz="1250" b="1" dirty="0">
                <a:solidFill>
                  <a:srgbClr val="18222B"/>
                </a:solidFill>
                <a:latin typeface="Calibri" pitchFamily="34" charset="0"/>
                <a:ea typeface="Calibri" pitchFamily="34" charset="-122"/>
                <a:cs typeface="Calibri" pitchFamily="34" charset="-120"/>
              </a:rPr>
              <a:t>registered</a:t>
            </a:r>
            <a:endParaRPr lang="en-US" sz="1250" dirty="0"/>
          </a:p>
        </p:txBody>
      </p:sp>
      <p:sp>
        <p:nvSpPr>
          <p:cNvPr id="20" name="Shape 18"/>
          <p:cNvSpPr/>
          <p:nvPr/>
        </p:nvSpPr>
        <p:spPr>
          <a:xfrm>
            <a:off x="566928" y="4114800"/>
            <a:ext cx="11055096" cy="1600200"/>
          </a:xfrm>
          <a:prstGeom prst="roundRect">
            <a:avLst>
              <a:gd name="adj" fmla="val 4571"/>
            </a:avLst>
          </a:prstGeom>
          <a:solidFill>
            <a:srgbClr val="18222B"/>
          </a:solidFill>
          <a:ln w="9525">
            <a:solidFill>
              <a:srgbClr val="18222B"/>
            </a:solidFill>
            <a:prstDash val="solid"/>
          </a:ln>
        </p:spPr>
      </p:sp>
      <p:sp>
        <p:nvSpPr>
          <p:cNvPr id="21" name="Text 19"/>
          <p:cNvSpPr txBox="1"/>
          <p:nvPr/>
        </p:nvSpPr>
        <p:spPr>
          <a:xfrm>
            <a:off x="932688" y="4315968"/>
            <a:ext cx="10323576"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CdTe safety gate blocked a hydride hazard it had never seen.</a:t>
            </a:r>
            <a:endParaRPr lang="en-US" sz="1800" dirty="0"/>
          </a:p>
        </p:txBody>
      </p:sp>
      <p:sp>
        <p:nvSpPr>
          <p:cNvPr id="22" name="Text 20"/>
          <p:cNvSpPr txBox="1"/>
          <p:nvPr/>
        </p:nvSpPr>
        <p:spPr>
          <a:xfrm>
            <a:off x="932688" y="4709160"/>
            <a:ext cx="10323576" cy="292608"/>
          </a:xfrm>
          <a:prstGeom prst="rect">
            <a:avLst/>
          </a:prstGeom>
          <a:noFill/>
          <a:ln/>
        </p:spPr>
        <p:txBody>
          <a:bodyPr wrap="square" lIns="0" tIns="0" rIns="0" bIns="0" rtlCol="0" anchor="ctr"/>
          <a:lstStyle/>
          <a:p>
            <a:pPr indent="0" marL="0">
              <a:buNone/>
            </a:pPr>
            <a:r>
              <a:rPr lang="en-US" sz="1300" dirty="0">
                <a:solidFill>
                  <a:srgbClr val="F0A07A"/>
                </a:solidFill>
                <a:latin typeface="Courier New" pitchFamily="34" charset="0"/>
                <a:ea typeface="Courier New" pitchFamily="34" charset="-122"/>
                <a:cs typeface="Courier New" pitchFamily="34" charset="-120"/>
              </a:rPr>
              <a:t>750 °C  with  150 bar H₂   →   blocked: hydrogen_pressure_at_temperature</a:t>
            </a:r>
            <a:endParaRPr lang="en-US" sz="1300" dirty="0"/>
          </a:p>
        </p:txBody>
      </p:sp>
      <p:sp>
        <p:nvSpPr>
          <p:cNvPr id="23" name="Text 21"/>
          <p:cNvSpPr txBox="1"/>
          <p:nvPr/>
        </p:nvSpPr>
        <p:spPr>
          <a:xfrm>
            <a:off x="932688" y="5047488"/>
            <a:ext cx="10323576" cy="594360"/>
          </a:xfrm>
          <a:prstGeom prst="rect">
            <a:avLst/>
          </a:prstGeom>
          <a:noFill/>
          <a:ln/>
        </p:spPr>
        <p:txBody>
          <a:bodyPr wrap="square" lIns="0" tIns="0" rIns="0" bIns="0" rtlCol="0" anchor="t"/>
          <a:lstStyle/>
          <a:p>
            <a:pPr indent="0" marL="0">
              <a:lnSpc>
                <a:spcPts val="1600"/>
              </a:lnSpc>
              <a:buNone/>
            </a:pPr>
            <a:r>
              <a:rPr lang="en-US" sz="1200" dirty="0">
                <a:solidFill>
                  <a:srgbClr val="C3D0DA"/>
                </a:solidFill>
                <a:latin typeface="Calibri" pitchFamily="34" charset="0"/>
                <a:ea typeface="Calibri" pitchFamily="34" charset="-122"/>
                <a:cs typeface="Calibri" pitchFamily="34" charset="-120"/>
              </a:rPr>
              <a:t>Both values are individually within bounds. The generated workflow declares its own hazard rules and the existing gate enforces them correctly on first sight. A test asserts this — if it ever fails, the project has gone back to being two demos in one repository.</a:t>
            </a:r>
            <a:endParaRPr lang="en-US" sz="1200" dirty="0"/>
          </a:p>
        </p:txBody>
      </p:sp>
      <p:sp>
        <p:nvSpPr>
          <p:cNvPr id="24" name="Text 22"/>
          <p:cNvSpPr txBox="1"/>
          <p:nvPr/>
        </p:nvSpPr>
        <p:spPr>
          <a:xfrm>
            <a:off x="566928" y="5897880"/>
            <a:ext cx="11055096" cy="914400"/>
          </a:xfrm>
          <a:prstGeom prst="rect">
            <a:avLst/>
          </a:prstGeom>
          <a:noFill/>
          <a:ln/>
        </p:spPr>
        <p:txBody>
          <a:bodyPr wrap="square" lIns="0" tIns="0" rIns="0" bIns="0" rtlCol="0" anchor="t"/>
          <a:lstStyle/>
          <a:p>
            <a:pPr algn="l" indent="0" marL="0">
              <a:lnSpc>
                <a:spcPts val="1900"/>
              </a:lnSpc>
              <a:buNone/>
            </a:pPr>
            <a:r>
              <a:rPr lang="en-US" sz="1150" dirty="0">
                <a:solidFill>
                  <a:srgbClr val="5B6B78"/>
                </a:solidFill>
                <a:latin typeface="Calibri" pitchFamily="34" charset="0"/>
                <a:ea typeface="Calibri" pitchFamily="34" charset="-122"/>
                <a:cs typeface="Calibri" pitchFamily="34" charset="-120"/>
              </a:rPr>
              <a:t>Plans stop at awaiting_device_implementation — no hydride synthesis is simulated, because there is no honest way to. That is the forward path. What comes back across the same seam is the next slide.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3538728" cy="292608"/>
          </a:xfrm>
          <a:prstGeom prst="roundRect">
            <a:avLst>
              <a:gd name="adj" fmla="val 50000"/>
            </a:avLst>
          </a:prstGeom>
          <a:solidFill>
            <a:srgbClr val="C2410C"/>
          </a:solidFill>
          <a:ln w="12700">
            <a:solidFill>
              <a:srgbClr val="C2410C"/>
            </a:solidFill>
            <a:prstDash val="solid"/>
          </a:ln>
        </p:spPr>
      </p:sp>
      <p:sp>
        <p:nvSpPr>
          <p:cNvPr id="3" name="Text 1"/>
          <p:cNvSpPr txBox="1"/>
          <p:nvPr/>
        </p:nvSpPr>
        <p:spPr>
          <a:xfrm>
            <a:off x="566928" y="384048"/>
            <a:ext cx="353872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11  ·  CLOSING THE LOOP</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A measurement changes the ranking that proposed it</a:t>
            </a:r>
            <a:endParaRPr lang="en-US" sz="3400" dirty="0"/>
          </a:p>
        </p:txBody>
      </p:sp>
      <p:sp>
        <p:nvSpPr>
          <p:cNvPr id="5" name="Text 3"/>
          <p:cNvSpPr txBox="1"/>
          <p:nvPr/>
        </p:nvSpPr>
        <p:spPr>
          <a:xfrm>
            <a:off x="566928" y="1572768"/>
            <a:ext cx="11055096" cy="420624"/>
          </a:xfrm>
          <a:prstGeom prst="rect">
            <a:avLst/>
          </a:prstGeom>
          <a:noFill/>
          <a:ln/>
        </p:spPr>
        <p:txBody>
          <a:bodyPr wrap="square" lIns="0" tIns="0" rIns="0" bIns="0" rtlCol="0" anchor="t"/>
          <a:lstStyle/>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Evidence is received, never manufactured. There are no hydride devices, so records enter from</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outside — an instrument, a collaborator, a paper. A record with no named recorder or stated source</a:t>
            </a:r>
            <a:endParaRPr lang="en-US" sz="1450" dirty="0"/>
          </a:p>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is rejected at load: a measurement nobody will sign for cannot overturn a prediction.</a:t>
            </a:r>
            <a:endParaRPr lang="en-US" sz="1450" dirty="0"/>
          </a:p>
        </p:txBody>
      </p:sp>
      <p:sp>
        <p:nvSpPr>
          <p:cNvPr id="6" name="Shape 4"/>
          <p:cNvSpPr/>
          <p:nvPr/>
        </p:nvSpPr>
        <p:spPr>
          <a:xfrm>
            <a:off x="566928" y="2880360"/>
            <a:ext cx="5486400" cy="1481328"/>
          </a:xfrm>
          <a:prstGeom prst="roundRect">
            <a:avLst>
              <a:gd name="adj" fmla="val 4938"/>
            </a:avLst>
          </a:prstGeom>
          <a:solidFill>
            <a:srgbClr val="FDEEE6"/>
          </a:solidFill>
          <a:ln w="9525">
            <a:solidFill>
              <a:srgbClr val="F0C4AE"/>
            </a:solidFill>
            <a:prstDash val="solid"/>
          </a:ln>
        </p:spPr>
      </p:sp>
      <p:sp>
        <p:nvSpPr>
          <p:cNvPr id="7" name="Text 5"/>
          <p:cNvSpPr txBox="1"/>
          <p:nvPr/>
        </p:nvSpPr>
        <p:spPr>
          <a:xfrm>
            <a:off x="859536" y="3054096"/>
            <a:ext cx="4937760" cy="292608"/>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A null result is meaningless without its floor</a:t>
            </a:r>
            <a:endParaRPr lang="en-US" sz="1500" dirty="0"/>
          </a:p>
        </p:txBody>
      </p:sp>
      <p:sp>
        <p:nvSpPr>
          <p:cNvPr id="8" name="Text 6"/>
          <p:cNvSpPr txBox="1"/>
          <p:nvPr/>
        </p:nvSpPr>
        <p:spPr>
          <a:xfrm>
            <a:off x="859536" y="3383280"/>
            <a:ext cx="4937760" cy="868680"/>
          </a:xfrm>
          <a:prstGeom prst="rect">
            <a:avLst/>
          </a:prstGeom>
          <a:noFill/>
          <a:ln/>
        </p:spPr>
        <p:txBody>
          <a:bodyPr wrap="square" lIns="0" tIns="0" rIns="0" bIns="0" rtlCol="0" anchor="t"/>
          <a:lstStyle/>
          <a:p>
            <a:pPr indent="0" marL="0">
              <a:lnSpc>
                <a:spcPts val="1450"/>
              </a:lnSpc>
              <a:buNone/>
            </a:pPr>
            <a:r>
              <a:rPr lang="en-US" sz="1050" dirty="0">
                <a:solidFill>
                  <a:srgbClr val="18222B"/>
                </a:solidFill>
                <a:latin typeface="Calibri" pitchFamily="34" charset="0"/>
                <a:ea typeface="Calibri" pitchFamily="34" charset="-122"/>
                <a:cs typeface="Calibri" pitchFamily="34" charset="-120"/>
              </a:rPr>
              <a:t>Ta6MoH16: no transition seen — but the rig reached only 8 K and the prediction is 7.3 K. The run could not have observed what it was testing, so it refutes nothing. Marked inconclusive, excluded from the calibration, and its hypothesis stays open.</a:t>
            </a:r>
            <a:endParaRPr lang="en-US" sz="1050" dirty="0"/>
          </a:p>
        </p:txBody>
      </p:sp>
      <p:sp>
        <p:nvSpPr>
          <p:cNvPr id="9" name="Shape 7"/>
          <p:cNvSpPr/>
          <p:nvPr/>
        </p:nvSpPr>
        <p:spPr>
          <a:xfrm>
            <a:off x="566928" y="4498848"/>
            <a:ext cx="5486400" cy="1353312"/>
          </a:xfrm>
          <a:prstGeom prst="roundRect">
            <a:avLst>
              <a:gd name="adj" fmla="val 5405"/>
            </a:avLst>
          </a:prstGeom>
          <a:solidFill>
            <a:srgbClr val="FFFFFF"/>
          </a:solidFill>
          <a:ln w="9525">
            <a:solidFill>
              <a:srgbClr val="D4DCE3"/>
            </a:solidFill>
            <a:prstDash val="solid"/>
          </a:ln>
        </p:spPr>
      </p:sp>
      <p:sp>
        <p:nvSpPr>
          <p:cNvPr id="10" name="Text 8"/>
          <p:cNvSpPr txBox="1"/>
          <p:nvPr/>
        </p:nvSpPr>
        <p:spPr>
          <a:xfrm>
            <a:off x="859536" y="4672584"/>
            <a:ext cx="4937760" cy="292608"/>
          </a:xfrm>
          <a:prstGeom prst="rect">
            <a:avLst/>
          </a:prstGeom>
          <a:noFill/>
          <a:ln/>
        </p:spPr>
        <p:txBody>
          <a:bodyPr wrap="square" lIns="0" tIns="0" rIns="0" bIns="0" rtlCol="0" anchor="ctr"/>
          <a:lstStyle/>
          <a:p>
            <a:pPr indent="0" marL="0">
              <a:buNone/>
            </a:pPr>
            <a:r>
              <a:rPr lang="en-US" sz="1500" b="1" dirty="0">
                <a:solidFill>
                  <a:srgbClr val="1F5F8B"/>
                </a:solidFill>
                <a:latin typeface="Cambria" pitchFamily="34" charset="0"/>
                <a:ea typeface="Cambria" pitchFamily="34" charset="-122"/>
                <a:cs typeface="Cambria" pitchFamily="34" charset="-120"/>
              </a:rPr>
              <a:t>Evidence about one compound calibrates the method</a:t>
            </a:r>
            <a:endParaRPr lang="en-US" sz="1500" dirty="0"/>
          </a:p>
        </p:txBody>
      </p:sp>
      <p:sp>
        <p:nvSpPr>
          <p:cNvPr id="11" name="Text 9"/>
          <p:cNvSpPr txBox="1"/>
          <p:nvPr/>
        </p:nvSpPr>
        <p:spPr>
          <a:xfrm>
            <a:off x="859536" y="5001768"/>
            <a:ext cx="4937760" cy="749808"/>
          </a:xfrm>
          <a:prstGeom prst="rect">
            <a:avLst/>
          </a:prstGeom>
          <a:noFill/>
          <a:ln/>
        </p:spPr>
        <p:txBody>
          <a:bodyPr wrap="square" lIns="0" tIns="0" rIns="0" bIns="0" rtlCol="0" anchor="t"/>
          <a:lstStyle/>
          <a:p>
            <a:pPr indent="0" marL="0">
              <a:lnSpc>
                <a:spcPts val="1450"/>
              </a:lnSpc>
              <a:buNone/>
            </a:pPr>
            <a:r>
              <a:rPr lang="en-US" sz="1050" dirty="0">
                <a:solidFill>
                  <a:srgbClr val="18222B"/>
                </a:solidFill>
                <a:latin typeface="Calibri" pitchFamily="34" charset="0"/>
                <a:ea typeface="Calibri" pitchFamily="34" charset="-122"/>
                <a:cs typeface="Calibri" pitchFamily="34" charset="-120"/>
              </a:rPr>
              <a:t>21 of 22 candidates rest on Allen–Dynes alone. On 2 conclusive measurement(s), Allen–Dynes runs 28% high (median observed/predicted = 0.72). Confidence in every un-measured Allen–Dynes prediction is reduced by 14%. A calibration lowers confidence and never rewrites a prediction — a "corrected" Tc would invent a number nobody computed.</a:t>
            </a:r>
            <a:endParaRPr lang="en-US" sz="1050" dirty="0"/>
          </a:p>
        </p:txBody>
      </p:sp>
      <p:sp>
        <p:nvSpPr>
          <p:cNvPr id="12" name="Shape 10"/>
          <p:cNvSpPr/>
          <p:nvPr/>
        </p:nvSpPr>
        <p:spPr>
          <a:xfrm>
            <a:off x="6492240" y="2880360"/>
            <a:ext cx="5120640" cy="2971800"/>
          </a:xfrm>
          <a:prstGeom prst="roundRect">
            <a:avLst>
              <a:gd name="adj" fmla="val 2462"/>
            </a:avLst>
          </a:prstGeom>
          <a:solidFill>
            <a:srgbClr val="FFFFFF"/>
          </a:solidFill>
          <a:ln w="9525">
            <a:solidFill>
              <a:srgbClr val="D4DCE3"/>
            </a:solidFill>
            <a:prstDash val="solid"/>
          </a:ln>
        </p:spPr>
      </p:sp>
      <p:sp>
        <p:nvSpPr>
          <p:cNvPr id="13" name="Text 11"/>
          <p:cNvSpPr txBox="1"/>
          <p:nvPr/>
        </p:nvSpPr>
        <p:spPr>
          <a:xfrm>
            <a:off x="6784848" y="3072384"/>
            <a:ext cx="4572000" cy="292608"/>
          </a:xfrm>
          <a:prstGeom prst="rect">
            <a:avLst/>
          </a:prstGeom>
          <a:noFill/>
          <a:ln/>
        </p:spPr>
        <p:txBody>
          <a:bodyPr wrap="square" lIns="0" tIns="0" rIns="0" bIns="0" rtlCol="0" anchor="ctr"/>
          <a:lstStyle/>
          <a:p>
            <a:pPr indent="0" marL="0">
              <a:buNone/>
            </a:pPr>
            <a:r>
              <a:rPr lang="en-US" sz="1500" b="1" dirty="0">
                <a:solidFill>
                  <a:srgbClr val="18222B"/>
                </a:solidFill>
                <a:latin typeface="Cambria" pitchFamily="34" charset="0"/>
                <a:ea typeface="Cambria" pitchFamily="34" charset="-122"/>
                <a:cs typeface="Cambria" pitchFamily="34" charset="-120"/>
              </a:rPr>
              <a:t>The cohort re-ranks</a:t>
            </a:r>
            <a:endParaRPr lang="en-US" sz="1500" dirty="0"/>
          </a:p>
        </p:txBody>
      </p:sp>
      <p:sp>
        <p:nvSpPr>
          <p:cNvPr id="14" name="Text 12"/>
          <p:cNvSpPr txBox="1"/>
          <p:nvPr/>
        </p:nvSpPr>
        <p:spPr>
          <a:xfrm>
            <a:off x="6784848" y="3438144"/>
            <a:ext cx="1920240" cy="237744"/>
          </a:xfrm>
          <a:prstGeom prst="rect">
            <a:avLst/>
          </a:prstGeom>
          <a:noFill/>
          <a:ln/>
        </p:spPr>
        <p:txBody>
          <a:bodyPr wrap="square" lIns="0" tIns="0" rIns="0" bIns="0" rtlCol="0" anchor="ctr"/>
          <a:lstStyle/>
          <a:p>
            <a:pPr algn="l" indent="0" marL="0">
              <a:buNone/>
            </a:pPr>
            <a:r>
              <a:rPr lang="en-US" sz="950" b="1" dirty="0">
                <a:solidFill>
                  <a:srgbClr val="5B6B78"/>
                </a:solidFill>
                <a:latin typeface="Calibri" pitchFamily="34" charset="0"/>
                <a:ea typeface="Calibri" pitchFamily="34" charset="-122"/>
                <a:cs typeface="Calibri" pitchFamily="34" charset="-120"/>
              </a:rPr>
              <a:t>Candidate</a:t>
            </a:r>
            <a:endParaRPr lang="en-US" sz="950" dirty="0"/>
          </a:p>
        </p:txBody>
      </p:sp>
      <p:sp>
        <p:nvSpPr>
          <p:cNvPr id="15" name="Text 13"/>
          <p:cNvSpPr txBox="1"/>
          <p:nvPr/>
        </p:nvSpPr>
        <p:spPr>
          <a:xfrm>
            <a:off x="8759952" y="3438144"/>
            <a:ext cx="731520" cy="237744"/>
          </a:xfrm>
          <a:prstGeom prst="rect">
            <a:avLst/>
          </a:prstGeom>
          <a:noFill/>
          <a:ln/>
        </p:spPr>
        <p:txBody>
          <a:bodyPr wrap="square" lIns="0" tIns="0" rIns="0" bIns="0" rtlCol="0" anchor="ctr"/>
          <a:lstStyle/>
          <a:p>
            <a:pPr algn="ctr" indent="0" marL="0">
              <a:buNone/>
            </a:pPr>
            <a:r>
              <a:rPr lang="en-US" sz="950" b="1" dirty="0">
                <a:solidFill>
                  <a:srgbClr val="5B6B78"/>
                </a:solidFill>
                <a:latin typeface="Calibri" pitchFamily="34" charset="0"/>
                <a:ea typeface="Calibri" pitchFamily="34" charset="-122"/>
                <a:cs typeface="Calibri" pitchFamily="34" charset="-120"/>
              </a:rPr>
              <a:t>was</a:t>
            </a:r>
            <a:endParaRPr lang="en-US" sz="950" dirty="0"/>
          </a:p>
        </p:txBody>
      </p:sp>
      <p:sp>
        <p:nvSpPr>
          <p:cNvPr id="16" name="Text 14"/>
          <p:cNvSpPr txBox="1"/>
          <p:nvPr/>
        </p:nvSpPr>
        <p:spPr>
          <a:xfrm>
            <a:off x="9528048" y="3438144"/>
            <a:ext cx="731520" cy="237744"/>
          </a:xfrm>
          <a:prstGeom prst="rect">
            <a:avLst/>
          </a:prstGeom>
          <a:noFill/>
          <a:ln/>
        </p:spPr>
        <p:txBody>
          <a:bodyPr wrap="square" lIns="0" tIns="0" rIns="0" bIns="0" rtlCol="0" anchor="ctr"/>
          <a:lstStyle/>
          <a:p>
            <a:pPr algn="ctr" indent="0" marL="0">
              <a:buNone/>
            </a:pPr>
            <a:r>
              <a:rPr lang="en-US" sz="950" b="1" dirty="0">
                <a:solidFill>
                  <a:srgbClr val="5B6B78"/>
                </a:solidFill>
                <a:latin typeface="Calibri" pitchFamily="34" charset="0"/>
                <a:ea typeface="Calibri" pitchFamily="34" charset="-122"/>
                <a:cs typeface="Calibri" pitchFamily="34" charset="-120"/>
              </a:rPr>
              <a:t>now</a:t>
            </a:r>
            <a:endParaRPr lang="en-US" sz="950" dirty="0"/>
          </a:p>
        </p:txBody>
      </p:sp>
      <p:sp>
        <p:nvSpPr>
          <p:cNvPr id="17" name="Text 15"/>
          <p:cNvSpPr txBox="1"/>
          <p:nvPr/>
        </p:nvSpPr>
        <p:spPr>
          <a:xfrm>
            <a:off x="10332720" y="3438144"/>
            <a:ext cx="1280160" cy="237744"/>
          </a:xfrm>
          <a:prstGeom prst="rect">
            <a:avLst/>
          </a:prstGeom>
          <a:noFill/>
          <a:ln/>
        </p:spPr>
        <p:txBody>
          <a:bodyPr wrap="square" lIns="0" tIns="0" rIns="0" bIns="0" rtlCol="0" anchor="ctr"/>
          <a:lstStyle/>
          <a:p>
            <a:pPr algn="l" indent="0" marL="0">
              <a:buNone/>
            </a:pPr>
            <a:r>
              <a:rPr lang="en-US" sz="950" b="1" dirty="0">
                <a:solidFill>
                  <a:srgbClr val="5B6B78"/>
                </a:solidFill>
                <a:latin typeface="Calibri" pitchFamily="34" charset="0"/>
                <a:ea typeface="Calibri" pitchFamily="34" charset="-122"/>
                <a:cs typeface="Calibri" pitchFamily="34" charset="-120"/>
              </a:rPr>
              <a:t>Tc source</a:t>
            </a:r>
            <a:endParaRPr lang="en-US" sz="950" dirty="0"/>
          </a:p>
        </p:txBody>
      </p:sp>
      <p:sp>
        <p:nvSpPr>
          <p:cNvPr id="18" name="Text 16"/>
          <p:cNvSpPr txBox="1"/>
          <p:nvPr/>
        </p:nvSpPr>
        <p:spPr>
          <a:xfrm>
            <a:off x="6784848" y="3712464"/>
            <a:ext cx="1920240" cy="274320"/>
          </a:xfrm>
          <a:prstGeom prst="rect">
            <a:avLst/>
          </a:prstGeom>
          <a:noFill/>
          <a:ln/>
        </p:spPr>
        <p:txBody>
          <a:bodyPr wrap="square" lIns="0" tIns="0" rIns="0" bIns="0" rtlCol="0" anchor="ctr"/>
          <a:lstStyle/>
          <a:p>
            <a:pPr indent="0" marL="0">
              <a:buNone/>
            </a:pPr>
            <a:r>
              <a:rPr lang="en-US" sz="1050" dirty="0">
                <a:solidFill>
                  <a:srgbClr val="18222B"/>
                </a:solidFill>
                <a:latin typeface="Courier New" pitchFamily="34" charset="0"/>
                <a:ea typeface="Courier New" pitchFamily="34" charset="-122"/>
                <a:cs typeface="Courier New" pitchFamily="34" charset="-120"/>
              </a:rPr>
              <a:t>LiZrH6Ru</a:t>
            </a:r>
            <a:endParaRPr lang="en-US" sz="1050" dirty="0"/>
          </a:p>
        </p:txBody>
      </p:sp>
      <p:sp>
        <p:nvSpPr>
          <p:cNvPr id="19" name="Text 17"/>
          <p:cNvSpPr txBox="1"/>
          <p:nvPr/>
        </p:nvSpPr>
        <p:spPr>
          <a:xfrm>
            <a:off x="8759952" y="3712464"/>
            <a:ext cx="731520" cy="274320"/>
          </a:xfrm>
          <a:prstGeom prst="rect">
            <a:avLst/>
          </a:prstGeom>
          <a:noFill/>
          <a:ln/>
        </p:spPr>
        <p:txBody>
          <a:bodyPr wrap="square" lIns="0" tIns="0" rIns="0" bIns="0" rtlCol="0" anchor="ctr"/>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1</a:t>
            </a:r>
            <a:endParaRPr lang="en-US" sz="1050" dirty="0"/>
          </a:p>
        </p:txBody>
      </p:sp>
      <p:sp>
        <p:nvSpPr>
          <p:cNvPr id="20" name="Text 18"/>
          <p:cNvSpPr txBox="1"/>
          <p:nvPr/>
        </p:nvSpPr>
        <p:spPr>
          <a:xfrm>
            <a:off x="9528048" y="3712464"/>
            <a:ext cx="731520" cy="274320"/>
          </a:xfrm>
          <a:prstGeom prst="rect">
            <a:avLst/>
          </a:prstGeom>
          <a:noFill/>
          <a:ln/>
        </p:spPr>
        <p:txBody>
          <a:bodyPr wrap="square" lIns="0" tIns="0" rIns="0" bIns="0" rtlCol="0" anchor="ctr"/>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1</a:t>
            </a:r>
            <a:endParaRPr lang="en-US" sz="1050" dirty="0"/>
          </a:p>
        </p:txBody>
      </p:sp>
      <p:sp>
        <p:nvSpPr>
          <p:cNvPr id="21" name="Text 19"/>
          <p:cNvSpPr txBox="1"/>
          <p:nvPr/>
        </p:nvSpPr>
        <p:spPr>
          <a:xfrm>
            <a:off x="10332720" y="3712464"/>
            <a:ext cx="1280160" cy="274320"/>
          </a:xfrm>
          <a:prstGeom prst="rect">
            <a:avLst/>
          </a:prstGeom>
          <a:noFill/>
          <a:ln/>
        </p:spPr>
        <p:txBody>
          <a:bodyPr wrap="square" lIns="0" tIns="0" rIns="0" bIns="0" rtlCol="0" anchor="ctr"/>
          <a:lstStyle/>
          <a:p>
            <a:pPr indent="0" marL="0">
              <a:buNone/>
            </a:pPr>
            <a:r>
              <a:rPr lang="en-US" sz="1000" b="1" dirty="0">
                <a:solidFill>
                  <a:srgbClr val="1F5F8B"/>
                </a:solidFill>
                <a:latin typeface="Calibri" pitchFamily="34" charset="0"/>
                <a:ea typeface="Calibri" pitchFamily="34" charset="-122"/>
                <a:cs typeface="Calibri" pitchFamily="34" charset="-120"/>
              </a:rPr>
              <a:t>measured</a:t>
            </a:r>
            <a:endParaRPr lang="en-US" sz="1000" dirty="0"/>
          </a:p>
        </p:txBody>
      </p:sp>
      <p:sp>
        <p:nvSpPr>
          <p:cNvPr id="22" name="Text 20"/>
          <p:cNvSpPr txBox="1"/>
          <p:nvPr/>
        </p:nvSpPr>
        <p:spPr>
          <a:xfrm>
            <a:off x="6784848" y="4014216"/>
            <a:ext cx="1920240" cy="274320"/>
          </a:xfrm>
          <a:prstGeom prst="rect">
            <a:avLst/>
          </a:prstGeom>
          <a:noFill/>
          <a:ln/>
        </p:spPr>
        <p:txBody>
          <a:bodyPr wrap="square" lIns="0" tIns="0" rIns="0" bIns="0" rtlCol="0" anchor="ctr"/>
          <a:lstStyle/>
          <a:p>
            <a:pPr indent="0" marL="0">
              <a:buNone/>
            </a:pPr>
            <a:r>
              <a:rPr lang="en-US" sz="1050" dirty="0">
                <a:solidFill>
                  <a:srgbClr val="18222B"/>
                </a:solidFill>
                <a:latin typeface="Courier New" pitchFamily="34" charset="0"/>
                <a:ea typeface="Courier New" pitchFamily="34" charset="-122"/>
                <a:cs typeface="Courier New" pitchFamily="34" charset="-120"/>
              </a:rPr>
              <a:t>TaNb3H8</a:t>
            </a:r>
            <a:endParaRPr lang="en-US" sz="1050" dirty="0"/>
          </a:p>
        </p:txBody>
      </p:sp>
      <p:sp>
        <p:nvSpPr>
          <p:cNvPr id="23" name="Text 21"/>
          <p:cNvSpPr txBox="1"/>
          <p:nvPr/>
        </p:nvSpPr>
        <p:spPr>
          <a:xfrm>
            <a:off x="8759952" y="4014216"/>
            <a:ext cx="731520" cy="274320"/>
          </a:xfrm>
          <a:prstGeom prst="rect">
            <a:avLst/>
          </a:prstGeom>
          <a:noFill/>
          <a:ln/>
        </p:spPr>
        <p:txBody>
          <a:bodyPr wrap="square" lIns="0" tIns="0" rIns="0" bIns="0" rtlCol="0" anchor="ctr"/>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3</a:t>
            </a:r>
            <a:endParaRPr lang="en-US" sz="1050" dirty="0"/>
          </a:p>
        </p:txBody>
      </p:sp>
      <p:sp>
        <p:nvSpPr>
          <p:cNvPr id="24" name="Text 22"/>
          <p:cNvSpPr txBox="1"/>
          <p:nvPr/>
        </p:nvSpPr>
        <p:spPr>
          <a:xfrm>
            <a:off x="9528048" y="4014216"/>
            <a:ext cx="731520" cy="274320"/>
          </a:xfrm>
          <a:prstGeom prst="rect">
            <a:avLst/>
          </a:prstGeom>
          <a:noFill/>
          <a:ln/>
        </p:spPr>
        <p:txBody>
          <a:bodyPr wrap="square" lIns="0" tIns="0" rIns="0" bIns="0" rtlCol="0" anchor="ctr"/>
          <a:lstStyle/>
          <a:p>
            <a:pPr algn="ctr" indent="0" marL="0">
              <a:buNone/>
            </a:pPr>
            <a:r>
              <a:rPr lang="en-US" sz="1050" b="1" dirty="0">
                <a:solidFill>
                  <a:srgbClr val="15803D"/>
                </a:solidFill>
                <a:latin typeface="Courier New" pitchFamily="34" charset="0"/>
                <a:ea typeface="Courier New" pitchFamily="34" charset="-122"/>
                <a:cs typeface="Courier New" pitchFamily="34" charset="-120"/>
              </a:rPr>
              <a:t>2 (+1)</a:t>
            </a:r>
            <a:endParaRPr lang="en-US" sz="1050" dirty="0"/>
          </a:p>
        </p:txBody>
      </p:sp>
      <p:sp>
        <p:nvSpPr>
          <p:cNvPr id="25" name="Text 23"/>
          <p:cNvSpPr txBox="1"/>
          <p:nvPr/>
        </p:nvSpPr>
        <p:spPr>
          <a:xfrm>
            <a:off x="10332720" y="4014216"/>
            <a:ext cx="1280160" cy="274320"/>
          </a:xfrm>
          <a:prstGeom prst="rect">
            <a:avLst/>
          </a:prstGeom>
          <a:noFill/>
          <a:ln/>
        </p:spPr>
        <p:txBody>
          <a:bodyPr wrap="square" lIns="0" tIns="0" rIns="0" bIns="0" rtlCol="0" anchor="ctr"/>
          <a:lstStyle/>
          <a:p>
            <a:pPr indent="0" marL="0">
              <a:buNone/>
            </a:pPr>
            <a:r>
              <a:rPr lang="en-US" sz="1000" b="1" dirty="0">
                <a:solidFill>
                  <a:srgbClr val="1F5F8B"/>
                </a:solidFill>
                <a:latin typeface="Calibri" pitchFamily="34" charset="0"/>
                <a:ea typeface="Calibri" pitchFamily="34" charset="-122"/>
                <a:cs typeface="Calibri" pitchFamily="34" charset="-120"/>
              </a:rPr>
              <a:t>measured</a:t>
            </a:r>
            <a:endParaRPr lang="en-US" sz="1000" dirty="0"/>
          </a:p>
        </p:txBody>
      </p:sp>
      <p:sp>
        <p:nvSpPr>
          <p:cNvPr id="26" name="Text 24"/>
          <p:cNvSpPr txBox="1"/>
          <p:nvPr/>
        </p:nvSpPr>
        <p:spPr>
          <a:xfrm>
            <a:off x="6784848" y="4315968"/>
            <a:ext cx="1920240" cy="274320"/>
          </a:xfrm>
          <a:prstGeom prst="rect">
            <a:avLst/>
          </a:prstGeom>
          <a:noFill/>
          <a:ln/>
        </p:spPr>
        <p:txBody>
          <a:bodyPr wrap="square" lIns="0" tIns="0" rIns="0" bIns="0" rtlCol="0" anchor="ctr"/>
          <a:lstStyle/>
          <a:p>
            <a:pPr indent="0" marL="0">
              <a:buNone/>
            </a:pPr>
            <a:r>
              <a:rPr lang="en-US" sz="1050" dirty="0">
                <a:solidFill>
                  <a:srgbClr val="18222B"/>
                </a:solidFill>
                <a:latin typeface="Courier New" pitchFamily="34" charset="0"/>
                <a:ea typeface="Courier New" pitchFamily="34" charset="-122"/>
                <a:cs typeface="Courier New" pitchFamily="34" charset="-120"/>
              </a:rPr>
              <a:t>EuCdH6Ru</a:t>
            </a:r>
            <a:endParaRPr lang="en-US" sz="1050" dirty="0"/>
          </a:p>
        </p:txBody>
      </p:sp>
      <p:sp>
        <p:nvSpPr>
          <p:cNvPr id="27" name="Text 25"/>
          <p:cNvSpPr txBox="1"/>
          <p:nvPr/>
        </p:nvSpPr>
        <p:spPr>
          <a:xfrm>
            <a:off x="8759952" y="4315968"/>
            <a:ext cx="731520" cy="274320"/>
          </a:xfrm>
          <a:prstGeom prst="rect">
            <a:avLst/>
          </a:prstGeom>
          <a:noFill/>
          <a:ln/>
        </p:spPr>
        <p:txBody>
          <a:bodyPr wrap="square" lIns="0" tIns="0" rIns="0" bIns="0" rtlCol="0" anchor="ctr"/>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28" name="Text 26"/>
          <p:cNvSpPr txBox="1"/>
          <p:nvPr/>
        </p:nvSpPr>
        <p:spPr>
          <a:xfrm>
            <a:off x="9528048" y="4315968"/>
            <a:ext cx="731520" cy="274320"/>
          </a:xfrm>
          <a:prstGeom prst="rect">
            <a:avLst/>
          </a:prstGeom>
          <a:noFill/>
          <a:ln/>
        </p:spPr>
        <p:txBody>
          <a:bodyPr wrap="square" lIns="0" tIns="0" rIns="0" bIns="0" rtlCol="0" anchor="ctr"/>
          <a:lstStyle/>
          <a:p>
            <a:pPr algn="ctr" indent="0" marL="0">
              <a:buNone/>
            </a:pPr>
            <a:r>
              <a:rPr lang="en-US" sz="1050" b="1" dirty="0">
                <a:solidFill>
                  <a:srgbClr val="15803D"/>
                </a:solidFill>
                <a:latin typeface="Courier New" pitchFamily="34" charset="0"/>
                <a:ea typeface="Courier New" pitchFamily="34" charset="-122"/>
                <a:cs typeface="Courier New" pitchFamily="34" charset="-120"/>
              </a:rPr>
              <a:t>3 (+3)</a:t>
            </a:r>
            <a:endParaRPr lang="en-US" sz="1050" dirty="0"/>
          </a:p>
        </p:txBody>
      </p:sp>
      <p:sp>
        <p:nvSpPr>
          <p:cNvPr id="29" name="Text 27"/>
          <p:cNvSpPr txBox="1"/>
          <p:nvPr/>
        </p:nvSpPr>
        <p:spPr>
          <a:xfrm>
            <a:off x="10332720" y="4315968"/>
            <a:ext cx="128016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Allen–Dynes</a:t>
            </a:r>
            <a:endParaRPr lang="en-US" sz="1000" dirty="0"/>
          </a:p>
        </p:txBody>
      </p:sp>
      <p:sp>
        <p:nvSpPr>
          <p:cNvPr id="30" name="Text 28"/>
          <p:cNvSpPr txBox="1"/>
          <p:nvPr/>
        </p:nvSpPr>
        <p:spPr>
          <a:xfrm>
            <a:off x="6784848" y="4617720"/>
            <a:ext cx="1920240" cy="274320"/>
          </a:xfrm>
          <a:prstGeom prst="rect">
            <a:avLst/>
          </a:prstGeom>
          <a:noFill/>
          <a:ln/>
        </p:spPr>
        <p:txBody>
          <a:bodyPr wrap="square" lIns="0" tIns="0" rIns="0" bIns="0" rtlCol="0" anchor="ctr"/>
          <a:lstStyle/>
          <a:p>
            <a:pPr indent="0" marL="0">
              <a:buNone/>
            </a:pPr>
            <a:r>
              <a:rPr lang="en-US" sz="1050" dirty="0">
                <a:solidFill>
                  <a:srgbClr val="18222B"/>
                </a:solidFill>
                <a:latin typeface="Courier New" pitchFamily="34" charset="0"/>
                <a:ea typeface="Courier New" pitchFamily="34" charset="-122"/>
                <a:cs typeface="Courier New" pitchFamily="34" charset="-120"/>
              </a:rPr>
              <a:t>Ta6MoH16</a:t>
            </a:r>
            <a:endParaRPr lang="en-US" sz="1050" dirty="0"/>
          </a:p>
        </p:txBody>
      </p:sp>
      <p:sp>
        <p:nvSpPr>
          <p:cNvPr id="31" name="Text 29"/>
          <p:cNvSpPr txBox="1"/>
          <p:nvPr/>
        </p:nvSpPr>
        <p:spPr>
          <a:xfrm>
            <a:off x="8759952" y="4617720"/>
            <a:ext cx="731520" cy="274320"/>
          </a:xfrm>
          <a:prstGeom prst="rect">
            <a:avLst/>
          </a:prstGeom>
          <a:noFill/>
          <a:ln/>
        </p:spPr>
        <p:txBody>
          <a:bodyPr wrap="square" lIns="0" tIns="0" rIns="0" bIns="0" rtlCol="0" anchor="ctr"/>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a:t>
            </a:r>
            <a:endParaRPr lang="en-US" sz="1050" dirty="0"/>
          </a:p>
        </p:txBody>
      </p:sp>
      <p:sp>
        <p:nvSpPr>
          <p:cNvPr id="32" name="Text 30"/>
          <p:cNvSpPr txBox="1"/>
          <p:nvPr/>
        </p:nvSpPr>
        <p:spPr>
          <a:xfrm>
            <a:off x="9528048" y="4617720"/>
            <a:ext cx="731520" cy="274320"/>
          </a:xfrm>
          <a:prstGeom prst="rect">
            <a:avLst/>
          </a:prstGeom>
          <a:noFill/>
          <a:ln/>
        </p:spPr>
        <p:txBody>
          <a:bodyPr wrap="square" lIns="0" tIns="0" rIns="0" bIns="0" rtlCol="0" anchor="ctr"/>
          <a:lstStyle/>
          <a:p>
            <a:pPr algn="ctr" indent="0" marL="0">
              <a:buNone/>
            </a:pPr>
            <a:r>
              <a:rPr lang="en-US" sz="1050" b="1" dirty="0">
                <a:solidFill>
                  <a:srgbClr val="C2410C"/>
                </a:solidFill>
                <a:latin typeface="Courier New" pitchFamily="34" charset="0"/>
                <a:ea typeface="Courier New" pitchFamily="34" charset="-122"/>
                <a:cs typeface="Courier New" pitchFamily="34" charset="-120"/>
              </a:rPr>
              <a:t>4 (-2)</a:t>
            </a:r>
            <a:endParaRPr lang="en-US" sz="1050" dirty="0"/>
          </a:p>
        </p:txBody>
      </p:sp>
      <p:sp>
        <p:nvSpPr>
          <p:cNvPr id="33" name="Text 31"/>
          <p:cNvSpPr txBox="1"/>
          <p:nvPr/>
        </p:nvSpPr>
        <p:spPr>
          <a:xfrm>
            <a:off x="10332720" y="4617720"/>
            <a:ext cx="128016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Allen–Dynes</a:t>
            </a:r>
            <a:endParaRPr lang="en-US" sz="1000" dirty="0"/>
          </a:p>
        </p:txBody>
      </p:sp>
      <p:sp>
        <p:nvSpPr>
          <p:cNvPr id="34" name="Text 32"/>
          <p:cNvSpPr txBox="1"/>
          <p:nvPr/>
        </p:nvSpPr>
        <p:spPr>
          <a:xfrm>
            <a:off x="6784848" y="4919472"/>
            <a:ext cx="1920240" cy="274320"/>
          </a:xfrm>
          <a:prstGeom prst="rect">
            <a:avLst/>
          </a:prstGeom>
          <a:noFill/>
          <a:ln/>
        </p:spPr>
        <p:txBody>
          <a:bodyPr wrap="square" lIns="0" tIns="0" rIns="0" bIns="0" rtlCol="0" anchor="ctr"/>
          <a:lstStyle/>
          <a:p>
            <a:pPr indent="0" marL="0">
              <a:buNone/>
            </a:pPr>
            <a:r>
              <a:rPr lang="en-US" sz="1050" dirty="0">
                <a:solidFill>
                  <a:srgbClr val="18222B"/>
                </a:solidFill>
                <a:latin typeface="Courier New" pitchFamily="34" charset="0"/>
                <a:ea typeface="Courier New" pitchFamily="34" charset="-122"/>
                <a:cs typeface="Courier New" pitchFamily="34" charset="-120"/>
              </a:rPr>
              <a:t>Ta3NbH8</a:t>
            </a:r>
            <a:endParaRPr lang="en-US" sz="1050" dirty="0"/>
          </a:p>
        </p:txBody>
      </p:sp>
      <p:sp>
        <p:nvSpPr>
          <p:cNvPr id="35" name="Text 33"/>
          <p:cNvSpPr txBox="1"/>
          <p:nvPr/>
        </p:nvSpPr>
        <p:spPr>
          <a:xfrm>
            <a:off x="8759952" y="4919472"/>
            <a:ext cx="731520" cy="274320"/>
          </a:xfrm>
          <a:prstGeom prst="rect">
            <a:avLst/>
          </a:prstGeom>
          <a:noFill/>
          <a:ln/>
        </p:spPr>
        <p:txBody>
          <a:bodyPr wrap="square" lIns="0" tIns="0" rIns="0" bIns="0" rtlCol="0" anchor="ctr"/>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4</a:t>
            </a:r>
            <a:endParaRPr lang="en-US" sz="1050" dirty="0"/>
          </a:p>
        </p:txBody>
      </p:sp>
      <p:sp>
        <p:nvSpPr>
          <p:cNvPr id="36" name="Text 34"/>
          <p:cNvSpPr txBox="1"/>
          <p:nvPr/>
        </p:nvSpPr>
        <p:spPr>
          <a:xfrm>
            <a:off x="9528048" y="4919472"/>
            <a:ext cx="731520" cy="274320"/>
          </a:xfrm>
          <a:prstGeom prst="rect">
            <a:avLst/>
          </a:prstGeom>
          <a:noFill/>
          <a:ln/>
        </p:spPr>
        <p:txBody>
          <a:bodyPr wrap="square" lIns="0" tIns="0" rIns="0" bIns="0" rtlCol="0" anchor="ctr"/>
          <a:lstStyle/>
          <a:p>
            <a:pPr algn="ctr" indent="0" marL="0">
              <a:buNone/>
            </a:pPr>
            <a:r>
              <a:rPr lang="en-US" sz="1050" b="1" dirty="0">
                <a:solidFill>
                  <a:srgbClr val="C2410C"/>
                </a:solidFill>
                <a:latin typeface="Courier New" pitchFamily="34" charset="0"/>
                <a:ea typeface="Courier New" pitchFamily="34" charset="-122"/>
                <a:cs typeface="Courier New" pitchFamily="34" charset="-120"/>
              </a:rPr>
              <a:t>5 (-1)</a:t>
            </a:r>
            <a:endParaRPr lang="en-US" sz="1050" dirty="0"/>
          </a:p>
        </p:txBody>
      </p:sp>
      <p:sp>
        <p:nvSpPr>
          <p:cNvPr id="37" name="Text 35"/>
          <p:cNvSpPr txBox="1"/>
          <p:nvPr/>
        </p:nvSpPr>
        <p:spPr>
          <a:xfrm>
            <a:off x="10332720" y="4919472"/>
            <a:ext cx="128016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Allen–Dynes</a:t>
            </a:r>
            <a:endParaRPr lang="en-US" sz="1000" dirty="0"/>
          </a:p>
        </p:txBody>
      </p:sp>
      <p:sp>
        <p:nvSpPr>
          <p:cNvPr id="38" name="Text 36"/>
          <p:cNvSpPr txBox="1"/>
          <p:nvPr/>
        </p:nvSpPr>
        <p:spPr>
          <a:xfrm>
            <a:off x="6784848" y="5221224"/>
            <a:ext cx="1920240" cy="274320"/>
          </a:xfrm>
          <a:prstGeom prst="rect">
            <a:avLst/>
          </a:prstGeom>
          <a:noFill/>
          <a:ln/>
        </p:spPr>
        <p:txBody>
          <a:bodyPr wrap="square" lIns="0" tIns="0" rIns="0" bIns="0" rtlCol="0" anchor="ctr"/>
          <a:lstStyle/>
          <a:p>
            <a:pPr indent="0" marL="0">
              <a:buNone/>
            </a:pPr>
            <a:r>
              <a:rPr lang="en-US" sz="1050" dirty="0">
                <a:solidFill>
                  <a:srgbClr val="18222B"/>
                </a:solidFill>
                <a:latin typeface="Courier New" pitchFamily="34" charset="0"/>
                <a:ea typeface="Courier New" pitchFamily="34" charset="-122"/>
                <a:cs typeface="Courier New" pitchFamily="34" charset="-120"/>
              </a:rPr>
              <a:t>Ta6NbH16</a:t>
            </a:r>
            <a:endParaRPr lang="en-US" sz="1050" dirty="0"/>
          </a:p>
        </p:txBody>
      </p:sp>
      <p:sp>
        <p:nvSpPr>
          <p:cNvPr id="39" name="Text 37"/>
          <p:cNvSpPr txBox="1"/>
          <p:nvPr/>
        </p:nvSpPr>
        <p:spPr>
          <a:xfrm>
            <a:off x="8759952" y="5221224"/>
            <a:ext cx="731520" cy="274320"/>
          </a:xfrm>
          <a:prstGeom prst="rect">
            <a:avLst/>
          </a:prstGeom>
          <a:noFill/>
          <a:ln/>
        </p:spPr>
        <p:txBody>
          <a:bodyPr wrap="square" lIns="0" tIns="0" rIns="0" bIns="0" rtlCol="0" anchor="ctr"/>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5</a:t>
            </a:r>
            <a:endParaRPr lang="en-US" sz="1050" dirty="0"/>
          </a:p>
        </p:txBody>
      </p:sp>
      <p:sp>
        <p:nvSpPr>
          <p:cNvPr id="40" name="Text 38"/>
          <p:cNvSpPr txBox="1"/>
          <p:nvPr/>
        </p:nvSpPr>
        <p:spPr>
          <a:xfrm>
            <a:off x="9528048" y="5221224"/>
            <a:ext cx="731520" cy="274320"/>
          </a:xfrm>
          <a:prstGeom prst="rect">
            <a:avLst/>
          </a:prstGeom>
          <a:noFill/>
          <a:ln/>
        </p:spPr>
        <p:txBody>
          <a:bodyPr wrap="square" lIns="0" tIns="0" rIns="0" bIns="0" rtlCol="0" anchor="ctr"/>
          <a:lstStyle/>
          <a:p>
            <a:pPr algn="ctr" indent="0" marL="0">
              <a:buNone/>
            </a:pPr>
            <a:r>
              <a:rPr lang="en-US" sz="1050" b="1" dirty="0">
                <a:solidFill>
                  <a:srgbClr val="C2410C"/>
                </a:solidFill>
                <a:latin typeface="Courier New" pitchFamily="34" charset="0"/>
                <a:ea typeface="Courier New" pitchFamily="34" charset="-122"/>
                <a:cs typeface="Courier New" pitchFamily="34" charset="-120"/>
              </a:rPr>
              <a:t>6 (-1)</a:t>
            </a:r>
            <a:endParaRPr lang="en-US" sz="1050" dirty="0"/>
          </a:p>
        </p:txBody>
      </p:sp>
      <p:sp>
        <p:nvSpPr>
          <p:cNvPr id="41" name="Text 39"/>
          <p:cNvSpPr txBox="1"/>
          <p:nvPr/>
        </p:nvSpPr>
        <p:spPr>
          <a:xfrm>
            <a:off x="10332720" y="5221224"/>
            <a:ext cx="128016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Allen–Dynes</a:t>
            </a:r>
            <a:endParaRPr lang="en-US" sz="1000" dirty="0"/>
          </a:p>
        </p:txBody>
      </p:sp>
      <p:sp>
        <p:nvSpPr>
          <p:cNvPr id="42" name="Text 40"/>
          <p:cNvSpPr txBox="1"/>
          <p:nvPr/>
        </p:nvSpPr>
        <p:spPr>
          <a:xfrm>
            <a:off x="6784848" y="5522976"/>
            <a:ext cx="4572000" cy="274320"/>
          </a:xfrm>
          <a:prstGeom prst="rect">
            <a:avLst/>
          </a:prstGeom>
          <a:noFill/>
          <a:ln/>
        </p:spPr>
        <p:txBody>
          <a:bodyPr wrap="square" lIns="0" tIns="0" rIns="0" bIns="0" rtlCol="0" anchor="t"/>
          <a:lstStyle/>
          <a:p>
            <a:pPr indent="0" marL="0">
              <a:lnSpc>
                <a:spcPts val="1300"/>
              </a:lnSpc>
              <a:buNone/>
            </a:pPr>
            <a:r>
              <a:rPr lang="en-US" sz="1000" i="1" dirty="0">
                <a:solidFill>
                  <a:srgbClr val="5B6B78"/>
                </a:solidFill>
                <a:latin typeface="Calibri" pitchFamily="34" charset="0"/>
                <a:ea typeface="Calibri" pitchFamily="34" charset="-122"/>
                <a:cs typeface="Calibri" pitchFamily="34" charset="-120"/>
              </a:rPr>
              <a:t>A measured Tc supersedes every calculation, and the hypothesis moves from proposed to supported or contradicted.</a:t>
            </a:r>
            <a:endParaRPr lang="en-US" sz="1000" dirty="0"/>
          </a:p>
        </p:txBody>
      </p:sp>
      <p:sp>
        <p:nvSpPr>
          <p:cNvPr id="43" name="Shape 41"/>
          <p:cNvSpPr/>
          <p:nvPr/>
        </p:nvSpPr>
        <p:spPr>
          <a:xfrm>
            <a:off x="566928" y="5998464"/>
            <a:ext cx="11055096" cy="694944"/>
          </a:xfrm>
          <a:prstGeom prst="roundRect">
            <a:avLst>
              <a:gd name="adj" fmla="val 10526"/>
            </a:avLst>
          </a:prstGeom>
          <a:solidFill>
            <a:srgbClr val="18222B"/>
          </a:solidFill>
          <a:ln w="9525">
            <a:solidFill>
              <a:srgbClr val="18222B"/>
            </a:solidFill>
            <a:prstDash val="solid"/>
          </a:ln>
        </p:spPr>
      </p:sp>
      <p:sp>
        <p:nvSpPr>
          <p:cNvPr id="44" name="Text 42"/>
          <p:cNvSpPr txBox="1"/>
          <p:nvPr/>
        </p:nvSpPr>
        <p:spPr>
          <a:xfrm>
            <a:off x="932688" y="5998464"/>
            <a:ext cx="10323576" cy="694944"/>
          </a:xfrm>
          <a:prstGeom prst="rect">
            <a:avLst/>
          </a:prstGeom>
          <a:noFill/>
          <a:ln/>
        </p:spPr>
        <p:txBody>
          <a:bodyPr wrap="square" lIns="0" tIns="0" rIns="0" bIns="0" rtlCol="0" anchor="ctr"/>
          <a:lstStyle/>
          <a:p>
            <a:pPr indent="0" marL="0">
              <a:lnSpc>
                <a:spcPts val="1400"/>
              </a:lnSpc>
              <a:buNone/>
            </a:pPr>
            <a:r>
              <a:rPr lang="en-US" sz="1050" b="1" dirty="0">
                <a:solidFill>
                  <a:srgbClr val="FFFFFF"/>
                </a:solidFill>
                <a:latin typeface="Calibri" pitchFamily="34" charset="0"/>
                <a:ea typeface="Calibri" pitchFamily="34" charset="-122"/>
                <a:cs typeface="Calibri" pitchFamily="34" charset="-120"/>
              </a:rPr>
              <a:t>Measuring the leader low moved candidates nobody tested. </a:t>
            </a:r>
            <a:pPr indent="0" marL="0">
              <a:lnSpc>
                <a:spcPts val="1400"/>
              </a:lnSpc>
              <a:buNone/>
            </a:pPr>
            <a:r>
              <a:rPr lang="en-US" sz="1050" dirty="0">
                <a:solidFill>
                  <a:srgbClr val="C3D0DA"/>
                </a:solidFill>
                <a:latin typeface="Calibri" pitchFamily="34" charset="0"/>
                <a:ea typeface="Calibri" pitchFamily="34" charset="-122"/>
                <a:cs typeface="Calibri" pitchFamily="34" charset="-120"/>
              </a:rPr>
              <a:t>Tc is normalized against the best in the cohort, so when the leader falls every untested compound becomes relatively more attractive — partly offset by the confidence penalty the same evidence applied to the method. A ranking is a statement about a set, not about a compound.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4087368" cy="292608"/>
          </a:xfrm>
          <a:prstGeom prst="roundRect">
            <a:avLst>
              <a:gd name="adj" fmla="val 50000"/>
            </a:avLst>
          </a:prstGeom>
          <a:solidFill>
            <a:srgbClr val="1F5F8B"/>
          </a:solidFill>
          <a:ln w="12700">
            <a:solidFill>
              <a:srgbClr val="1F5F8B"/>
            </a:solidFill>
            <a:prstDash val="solid"/>
          </a:ln>
        </p:spPr>
      </p:sp>
      <p:sp>
        <p:nvSpPr>
          <p:cNvPr id="3" name="Text 1"/>
          <p:cNvSpPr txBox="1"/>
          <p:nvPr/>
        </p:nvSpPr>
        <p:spPr>
          <a:xfrm>
            <a:off x="566928" y="384048"/>
            <a:ext cx="408736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12  ·  THE OPERATOR SURFACE</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Where a person actually meets the loop</a:t>
            </a:r>
            <a:endParaRPr lang="en-US" sz="3400" dirty="0"/>
          </a:p>
        </p:txBody>
      </p:sp>
      <p:pic>
        <p:nvPicPr>
          <p:cNvPr id="5" name="Image 0" descr="/Users/xtc/Downloads/ai-to-lab-orchestrator/docs/mockups/bench_review_shot.png">    </p:cNvPr>
          <p:cNvPicPr>
            <a:picLocks noChangeAspect="1"/>
          </p:cNvPicPr>
          <p:nvPr/>
        </p:nvPicPr>
        <p:blipFill>
          <a:blip r:embed="rId1"/>
          <a:srcRect l="0" r="0" t="0" b="0"/>
          <a:stretch/>
        </p:blipFill>
        <p:spPr>
          <a:xfrm>
            <a:off x="566928" y="1783080"/>
            <a:ext cx="6766560" cy="4434840"/>
          </a:xfrm>
          <a:prstGeom prst="rect">
            <a:avLst/>
          </a:prstGeom>
        </p:spPr>
      </p:pic>
      <p:sp>
        <p:nvSpPr>
          <p:cNvPr id="6" name="Shape 3"/>
          <p:cNvSpPr/>
          <p:nvPr/>
        </p:nvSpPr>
        <p:spPr>
          <a:xfrm>
            <a:off x="7589520" y="1865376"/>
            <a:ext cx="237744" cy="237744"/>
          </a:xfrm>
          <a:prstGeom prst="roundRect">
            <a:avLst>
              <a:gd name="adj" fmla="val 50000"/>
            </a:avLst>
          </a:prstGeom>
          <a:solidFill>
            <a:srgbClr val="C2410C"/>
          </a:solidFill>
          <a:ln w="12700">
            <a:solidFill>
              <a:srgbClr val="C2410C"/>
            </a:solidFill>
            <a:prstDash val="solid"/>
          </a:ln>
        </p:spPr>
      </p:sp>
      <p:sp>
        <p:nvSpPr>
          <p:cNvPr id="7" name="Text 4"/>
          <p:cNvSpPr txBox="1"/>
          <p:nvPr/>
        </p:nvSpPr>
        <p:spPr>
          <a:xfrm>
            <a:off x="7973568" y="1828800"/>
            <a:ext cx="3657600" cy="310896"/>
          </a:xfrm>
          <a:prstGeom prst="rect">
            <a:avLst/>
          </a:prstGeom>
          <a:noFill/>
          <a:ln/>
        </p:spPr>
        <p:txBody>
          <a:bodyPr wrap="square" lIns="0" tIns="0" rIns="0" bIns="0" rtlCol="0" anchor="ctr"/>
          <a:lstStyle/>
          <a:p>
            <a:pPr indent="0" marL="0">
              <a:buNone/>
            </a:pPr>
            <a:r>
              <a:rPr lang="en-US" sz="1400" b="1" dirty="0">
                <a:solidFill>
                  <a:srgbClr val="18222B"/>
                </a:solidFill>
                <a:latin typeface="Cambria" pitchFamily="34" charset="0"/>
                <a:ea typeface="Cambria" pitchFamily="34" charset="-122"/>
                <a:cs typeface="Cambria" pitchFamily="34" charset="-120"/>
              </a:rPr>
              <a:t>The approval queue is the hero</a:t>
            </a:r>
            <a:endParaRPr lang="en-US" sz="1400" dirty="0"/>
          </a:p>
        </p:txBody>
      </p:sp>
      <p:sp>
        <p:nvSpPr>
          <p:cNvPr id="8" name="Text 5"/>
          <p:cNvSpPr txBox="1"/>
          <p:nvPr/>
        </p:nvSpPr>
        <p:spPr>
          <a:xfrm>
            <a:off x="7973568" y="2176272"/>
            <a:ext cx="3657600" cy="1005840"/>
          </a:xfrm>
          <a:prstGeom prst="rect">
            <a:avLst/>
          </a:prstGeom>
          <a:noFill/>
          <a:ln/>
        </p:spPr>
        <p:txBody>
          <a:bodyPr wrap="square" lIns="0" tIns="0" rIns="0" bIns="0" rtlCol="0" anchor="t"/>
          <a:lstStyle/>
          <a:p>
            <a:pPr indent="0" marL="0">
              <a:lnSpc>
                <a:spcPts val="1500"/>
              </a:lnSpc>
              <a:buNone/>
            </a:pPr>
            <a:r>
              <a:rPr lang="en-US" sz="1100" dirty="0">
                <a:solidFill>
                  <a:srgbClr val="5B6B78"/>
                </a:solidFill>
                <a:latin typeface="Calibri" pitchFamily="34" charset="0"/>
                <a:ea typeface="Calibri" pitchFamily="34" charset="-122"/>
                <a:cs typeface="Calibri" pitchFamily="34" charset="-120"/>
              </a:rPr>
              <a:t>The held experiment is the only thing on the loop that needs a human. Everything else — proposing, executing, logging — does not. Putting approval anywhere but first would mean missing why this screen exists.</a:t>
            </a:r>
            <a:endParaRPr lang="en-US" sz="1100" dirty="0"/>
          </a:p>
        </p:txBody>
      </p:sp>
      <p:sp>
        <p:nvSpPr>
          <p:cNvPr id="9" name="Shape 6"/>
          <p:cNvSpPr/>
          <p:nvPr/>
        </p:nvSpPr>
        <p:spPr>
          <a:xfrm>
            <a:off x="7589520" y="3346704"/>
            <a:ext cx="237744" cy="237744"/>
          </a:xfrm>
          <a:prstGeom prst="roundRect">
            <a:avLst>
              <a:gd name="adj" fmla="val 50000"/>
            </a:avLst>
          </a:prstGeom>
          <a:solidFill>
            <a:srgbClr val="C2410C"/>
          </a:solidFill>
          <a:ln w="12700">
            <a:solidFill>
              <a:srgbClr val="C2410C"/>
            </a:solidFill>
            <a:prstDash val="solid"/>
          </a:ln>
        </p:spPr>
      </p:sp>
      <p:sp>
        <p:nvSpPr>
          <p:cNvPr id="10" name="Text 7"/>
          <p:cNvSpPr txBox="1"/>
          <p:nvPr/>
        </p:nvSpPr>
        <p:spPr>
          <a:xfrm>
            <a:off x="7973568" y="3310128"/>
            <a:ext cx="3657600" cy="310896"/>
          </a:xfrm>
          <a:prstGeom prst="rect">
            <a:avLst/>
          </a:prstGeom>
          <a:noFill/>
          <a:ln/>
        </p:spPr>
        <p:txBody>
          <a:bodyPr wrap="square" lIns="0" tIns="0" rIns="0" bIns="0" rtlCol="0" anchor="ctr"/>
          <a:lstStyle/>
          <a:p>
            <a:pPr indent="0" marL="0">
              <a:buNone/>
            </a:pPr>
            <a:r>
              <a:rPr lang="en-US" sz="1400" b="1" dirty="0">
                <a:solidFill>
                  <a:srgbClr val="18222B"/>
                </a:solidFill>
                <a:latin typeface="Cambria" pitchFamily="34" charset="0"/>
                <a:ea typeface="Cambria" pitchFamily="34" charset="-122"/>
                <a:cs typeface="Cambria" pitchFamily="34" charset="-120"/>
              </a:rPr>
              <a:t>Every value is real output</a:t>
            </a:r>
            <a:endParaRPr lang="en-US" sz="1400" dirty="0"/>
          </a:p>
        </p:txBody>
      </p:sp>
      <p:sp>
        <p:nvSpPr>
          <p:cNvPr id="11" name="Text 8"/>
          <p:cNvSpPr txBox="1"/>
          <p:nvPr/>
        </p:nvSpPr>
        <p:spPr>
          <a:xfrm>
            <a:off x="7973568" y="3657600"/>
            <a:ext cx="3657600" cy="1005840"/>
          </a:xfrm>
          <a:prstGeom prst="rect">
            <a:avLst/>
          </a:prstGeom>
          <a:noFill/>
          <a:ln/>
        </p:spPr>
        <p:txBody>
          <a:bodyPr wrap="square" lIns="0" tIns="0" rIns="0" bIns="0" rtlCol="0" anchor="t"/>
          <a:lstStyle/>
          <a:p>
            <a:pPr indent="0" marL="0">
              <a:lnSpc>
                <a:spcPts val="1500"/>
              </a:lnSpc>
              <a:buNone/>
            </a:pPr>
            <a:r>
              <a:rPr lang="en-US" sz="1100" dirty="0">
                <a:solidFill>
                  <a:srgbClr val="5B6B78"/>
                </a:solidFill>
                <a:latin typeface="Calibri" pitchFamily="34" charset="0"/>
                <a:ea typeface="Calibri" pitchFamily="34" charset="-122"/>
                <a:cs typeface="Calibri" pitchFamily="34" charset="-120"/>
              </a:rPr>
              <a:t>The held parameters, the triggered rule, the measurements, the objective breakdown and both artefacts are genuine system output, not illustration.</a:t>
            </a:r>
            <a:endParaRPr lang="en-US" sz="1100" dirty="0"/>
          </a:p>
        </p:txBody>
      </p:sp>
      <p:sp>
        <p:nvSpPr>
          <p:cNvPr id="12" name="Shape 9"/>
          <p:cNvSpPr/>
          <p:nvPr/>
        </p:nvSpPr>
        <p:spPr>
          <a:xfrm>
            <a:off x="7589520" y="4828032"/>
            <a:ext cx="237744" cy="237744"/>
          </a:xfrm>
          <a:prstGeom prst="roundRect">
            <a:avLst>
              <a:gd name="adj" fmla="val 50000"/>
            </a:avLst>
          </a:prstGeom>
          <a:solidFill>
            <a:srgbClr val="C2410C"/>
          </a:solidFill>
          <a:ln w="12700">
            <a:solidFill>
              <a:srgbClr val="C2410C"/>
            </a:solidFill>
            <a:prstDash val="solid"/>
          </a:ln>
        </p:spPr>
      </p:sp>
      <p:sp>
        <p:nvSpPr>
          <p:cNvPr id="13" name="Text 10"/>
          <p:cNvSpPr txBox="1"/>
          <p:nvPr/>
        </p:nvSpPr>
        <p:spPr>
          <a:xfrm>
            <a:off x="7973568" y="4791456"/>
            <a:ext cx="3657600" cy="310896"/>
          </a:xfrm>
          <a:prstGeom prst="rect">
            <a:avLst/>
          </a:prstGeom>
          <a:noFill/>
          <a:ln/>
        </p:spPr>
        <p:txBody>
          <a:bodyPr wrap="square" lIns="0" tIns="0" rIns="0" bIns="0" rtlCol="0" anchor="ctr"/>
          <a:lstStyle/>
          <a:p>
            <a:pPr indent="0" marL="0">
              <a:buNone/>
            </a:pPr>
            <a:r>
              <a:rPr lang="en-US" sz="1400" b="1" dirty="0">
                <a:solidFill>
                  <a:srgbClr val="18222B"/>
                </a:solidFill>
                <a:latin typeface="Cambria" pitchFamily="34" charset="0"/>
                <a:ea typeface="Cambria" pitchFamily="34" charset="-122"/>
                <a:cs typeface="Cambria" pitchFamily="34" charset="-120"/>
              </a:rPr>
              <a:t>Sized for gloved hands</a:t>
            </a:r>
            <a:endParaRPr lang="en-US" sz="1400" dirty="0"/>
          </a:p>
        </p:txBody>
      </p:sp>
      <p:sp>
        <p:nvSpPr>
          <p:cNvPr id="14" name="Text 11"/>
          <p:cNvSpPr txBox="1"/>
          <p:nvPr/>
        </p:nvSpPr>
        <p:spPr>
          <a:xfrm>
            <a:off x="7973568" y="5138928"/>
            <a:ext cx="3657600" cy="1005840"/>
          </a:xfrm>
          <a:prstGeom prst="rect">
            <a:avLst/>
          </a:prstGeom>
          <a:noFill/>
          <a:ln/>
        </p:spPr>
        <p:txBody>
          <a:bodyPr wrap="square" lIns="0" tIns="0" rIns="0" bIns="0" rtlCol="0" anchor="t"/>
          <a:lstStyle/>
          <a:p>
            <a:pPr indent="0" marL="0">
              <a:lnSpc>
                <a:spcPts val="1500"/>
              </a:lnSpc>
              <a:buNone/>
            </a:pPr>
            <a:r>
              <a:rPr lang="en-US" sz="1100" dirty="0">
                <a:solidFill>
                  <a:srgbClr val="5B6B78"/>
                </a:solidFill>
                <a:latin typeface="Calibri" pitchFamily="34" charset="0"/>
                <a:ea typeface="Calibri" pitchFamily="34" charset="-122"/>
                <a:cs typeface="Calibri" pitchFamily="34" charset="-120"/>
              </a:rPr>
              <a:t>60px touch targets, no text entry, high contrast. A tablet at the bench, not a dashboard at a desk.</a:t>
            </a:r>
            <a:endParaRPr lang="en-US" sz="1100" dirty="0"/>
          </a:p>
        </p:txBody>
      </p:sp>
      <p:sp>
        <p:nvSpPr>
          <p:cNvPr id="15" name="Text 12"/>
          <p:cNvSpPr txBox="1"/>
          <p:nvPr/>
        </p:nvSpPr>
        <p:spPr>
          <a:xfrm>
            <a:off x="7973568" y="5943600"/>
            <a:ext cx="3657600" cy="914400"/>
          </a:xfrm>
          <a:prstGeom prst="rect">
            <a:avLst/>
          </a:prstGeom>
          <a:noFill/>
          <a:ln/>
        </p:spPr>
        <p:txBody>
          <a:bodyPr wrap="square" lIns="0" tIns="0" rIns="0" bIns="0" rtlCol="0" anchor="t"/>
          <a:lstStyle/>
          <a:p>
            <a:pPr algn="l" indent="0" marL="0">
              <a:lnSpc>
                <a:spcPts val="1400"/>
              </a:lnSpc>
              <a:buNone/>
            </a:pPr>
            <a:r>
              <a:rPr lang="en-US" sz="1050" dirty="0">
                <a:solidFill>
                  <a:srgbClr val="5B6B78"/>
                </a:solidFill>
                <a:latin typeface="Calibri" pitchFamily="34" charset="0"/>
                <a:ea typeface="Calibri" pitchFamily="34" charset="-122"/>
                <a:cs typeface="Calibri" pitchFamily="34" charset="-120"/>
              </a:rPr>
              <a:t>A high-fidelity prototype is a product manager's deliverable. Building it in React would have demonstrated wanting to be a front-end engineer instead.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8222B"/>
        </a:solidFill>
      </p:bgPr>
    </p:bg>
    <p:spTree>
      <p:nvGrpSpPr>
        <p:cNvPr id="1" name=""/>
        <p:cNvGrpSpPr/>
        <p:nvPr/>
      </p:nvGrpSpPr>
      <p:grpSpPr>
        <a:xfrm>
          <a:off x="0" y="0"/>
          <a:ext cx="0" cy="0"/>
          <a:chOff x="0" y="0"/>
          <a:chExt cx="0" cy="0"/>
        </a:xfrm>
      </p:grpSpPr>
      <p:sp>
        <p:nvSpPr>
          <p:cNvPr id="2" name="Shape 0"/>
          <p:cNvSpPr/>
          <p:nvPr/>
        </p:nvSpPr>
        <p:spPr>
          <a:xfrm>
            <a:off x="566928" y="384048"/>
            <a:ext cx="3401568" cy="292608"/>
          </a:xfrm>
          <a:prstGeom prst="roundRect">
            <a:avLst>
              <a:gd name="adj" fmla="val 50000"/>
            </a:avLst>
          </a:prstGeom>
          <a:solidFill>
            <a:srgbClr val="C2410C"/>
          </a:solidFill>
          <a:ln w="12700">
            <a:solidFill>
              <a:srgbClr val="C2410C"/>
            </a:solidFill>
            <a:prstDash val="solid"/>
          </a:ln>
        </p:spPr>
      </p:sp>
      <p:sp>
        <p:nvSpPr>
          <p:cNvPr id="3" name="Text 1"/>
          <p:cNvSpPr txBox="1"/>
          <p:nvPr/>
        </p:nvSpPr>
        <p:spPr>
          <a:xfrm>
            <a:off x="566928" y="384048"/>
            <a:ext cx="340156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13  ·  WHAT WENT WRONG</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Six defects I found in my own build</a:t>
            </a:r>
            <a:endParaRPr lang="en-US" sz="3400" dirty="0"/>
          </a:p>
        </p:txBody>
      </p:sp>
      <p:sp>
        <p:nvSpPr>
          <p:cNvPr id="5" name="Text 3"/>
          <p:cNvSpPr txBox="1"/>
          <p:nvPr/>
        </p:nvSpPr>
        <p:spPr>
          <a:xfrm>
            <a:off x="566928" y="1536192"/>
            <a:ext cx="11055096" cy="420624"/>
          </a:xfrm>
          <a:prstGeom prst="rect">
            <a:avLst/>
          </a:prstGeom>
          <a:noFill/>
          <a:ln/>
        </p:spPr>
        <p:txBody>
          <a:bodyPr wrap="square" lIns="0" tIns="0" rIns="0" bIns="0" rtlCol="0" anchor="t"/>
          <a:lstStyle/>
          <a:p>
            <a:pPr indent="0" marL="0">
              <a:lnSpc>
                <a:spcPts val="2000"/>
              </a:lnSpc>
              <a:buNone/>
            </a:pPr>
            <a:r>
              <a:rPr lang="en-US" sz="1450" dirty="0">
                <a:solidFill>
                  <a:srgbClr val="8A9AA8"/>
                </a:solidFill>
                <a:latin typeface="Calibri" pitchFamily="34" charset="0"/>
                <a:ea typeface="Calibri" pitchFamily="34" charset="-122"/>
                <a:cs typeface="Calibri" pitchFamily="34" charset="-120"/>
              </a:rPr>
              <a:t>These are real, not hypotheticals, and they are documented in the repository. Five of the six were silent — the system looked correct while being wrong.</a:t>
            </a:r>
            <a:endParaRPr lang="en-US" sz="1450" dirty="0"/>
          </a:p>
        </p:txBody>
      </p:sp>
      <p:sp>
        <p:nvSpPr>
          <p:cNvPr id="6" name="Text 4"/>
          <p:cNvSpPr txBox="1"/>
          <p:nvPr/>
        </p:nvSpPr>
        <p:spPr>
          <a:xfrm>
            <a:off x="566928" y="2157984"/>
            <a:ext cx="457200" cy="274320"/>
          </a:xfrm>
          <a:prstGeom prst="rect">
            <a:avLst/>
          </a:prstGeom>
          <a:noFill/>
          <a:ln/>
        </p:spPr>
        <p:txBody>
          <a:bodyPr wrap="square" lIns="0" tIns="0" rIns="0" bIns="0" rtlCol="0" anchor="ctr"/>
          <a:lstStyle/>
          <a:p>
            <a:pPr indent="0" marL="0">
              <a:buNone/>
            </a:pPr>
            <a:r>
              <a:rPr lang="en-US" sz="1150" b="1" dirty="0">
                <a:solidFill>
                  <a:srgbClr val="C2410C"/>
                </a:solidFill>
                <a:latin typeface="Courier New" pitchFamily="34" charset="0"/>
                <a:ea typeface="Courier New" pitchFamily="34" charset="-122"/>
                <a:cs typeface="Courier New" pitchFamily="34" charset="-120"/>
              </a:rPr>
              <a:t>01</a:t>
            </a:r>
            <a:endParaRPr lang="en-US" sz="1150" dirty="0"/>
          </a:p>
        </p:txBody>
      </p:sp>
      <p:sp>
        <p:nvSpPr>
          <p:cNvPr id="7" name="Text 5"/>
          <p:cNvSpPr txBox="1"/>
          <p:nvPr/>
        </p:nvSpPr>
        <p:spPr>
          <a:xfrm>
            <a:off x="1069848" y="2157984"/>
            <a:ext cx="32004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The safety gate protected nothing</a:t>
            </a:r>
            <a:endParaRPr lang="en-US" sz="1250" dirty="0"/>
          </a:p>
        </p:txBody>
      </p:sp>
      <p:sp>
        <p:nvSpPr>
          <p:cNvPr id="8" name="Text 6"/>
          <p:cNvSpPr txBox="1"/>
          <p:nvPr/>
        </p:nvSpPr>
        <p:spPr>
          <a:xfrm>
            <a:off x="4361688" y="2121408"/>
            <a:ext cx="3474720" cy="713232"/>
          </a:xfrm>
          <a:prstGeom prst="rect">
            <a:avLst/>
          </a:prstGeom>
          <a:noFill/>
          <a:ln/>
        </p:spPr>
        <p:txBody>
          <a:bodyPr wrap="square" lIns="0" tIns="0" rIns="0" bIns="0" rtlCol="0" anchor="t"/>
          <a:lstStyle/>
          <a:p>
            <a:pPr indent="0" marL="0">
              <a:lnSpc>
                <a:spcPts val="1200"/>
              </a:lnSpc>
              <a:buNone/>
            </a:pPr>
            <a:r>
              <a:rPr lang="en-US" sz="900" dirty="0">
                <a:solidFill>
                  <a:srgbClr val="9CACBA"/>
                </a:solidFill>
                <a:latin typeface="Calibri" pitchFamily="34" charset="0"/>
                <a:ea typeface="Calibri" pitchFamily="34" charset="-122"/>
                <a:cs typeface="Calibri" pitchFamily="34" charset="-120"/>
              </a:rPr>
              <a:t>Its hazard region was a strict subset of the true failure region, so every experiment it flagged was already doomed. It prevented zero damage while appearing to work in every demo.</a:t>
            </a:r>
            <a:endParaRPr lang="en-US" sz="900" dirty="0"/>
          </a:p>
        </p:txBody>
      </p:sp>
      <p:sp>
        <p:nvSpPr>
          <p:cNvPr id="9" name="Text 7"/>
          <p:cNvSpPr txBox="1"/>
          <p:nvPr/>
        </p:nvSpPr>
        <p:spPr>
          <a:xfrm>
            <a:off x="8138160" y="2121408"/>
            <a:ext cx="3474720" cy="713232"/>
          </a:xfrm>
          <a:prstGeom prst="rect">
            <a:avLst/>
          </a:prstGeom>
          <a:noFill/>
          <a:ln/>
        </p:spPr>
        <p:txBody>
          <a:bodyPr wrap="square" lIns="0" tIns="0" rIns="0" bIns="0" rtlCol="0" anchor="t"/>
          <a:lstStyle/>
          <a:p>
            <a:pPr indent="0" marL="0">
              <a:lnSpc>
                <a:spcPts val="1200"/>
              </a:lnSpc>
              <a:buNone/>
            </a:pPr>
            <a:r>
              <a:rPr lang="en-US" sz="900" i="1" dirty="0">
                <a:solidFill>
                  <a:srgbClr val="6FA8CE"/>
                </a:solidFill>
                <a:latin typeface="Calibri" pitchFamily="34" charset="0"/>
                <a:ea typeface="Calibri" pitchFamily="34" charset="-122"/>
                <a:cs typeface="Calibri" pitchFamily="34" charset="-120"/>
              </a:rPr>
              <a:t>Governance fails identically to how it succeeds. It needs a test, not a demo.</a:t>
            </a:r>
            <a:endParaRPr lang="en-US" sz="900" dirty="0"/>
          </a:p>
        </p:txBody>
      </p:sp>
      <p:sp>
        <p:nvSpPr>
          <p:cNvPr id="10" name="Text 8"/>
          <p:cNvSpPr txBox="1"/>
          <p:nvPr/>
        </p:nvSpPr>
        <p:spPr>
          <a:xfrm>
            <a:off x="566928" y="2898648"/>
            <a:ext cx="457200" cy="274320"/>
          </a:xfrm>
          <a:prstGeom prst="rect">
            <a:avLst/>
          </a:prstGeom>
          <a:noFill/>
          <a:ln/>
        </p:spPr>
        <p:txBody>
          <a:bodyPr wrap="square" lIns="0" tIns="0" rIns="0" bIns="0" rtlCol="0" anchor="ctr"/>
          <a:lstStyle/>
          <a:p>
            <a:pPr indent="0" marL="0">
              <a:buNone/>
            </a:pPr>
            <a:r>
              <a:rPr lang="en-US" sz="1150" b="1" dirty="0">
                <a:solidFill>
                  <a:srgbClr val="C2410C"/>
                </a:solidFill>
                <a:latin typeface="Courier New" pitchFamily="34" charset="0"/>
                <a:ea typeface="Courier New" pitchFamily="34" charset="-122"/>
                <a:cs typeface="Courier New" pitchFamily="34" charset="-120"/>
              </a:rPr>
              <a:t>02</a:t>
            </a:r>
            <a:endParaRPr lang="en-US" sz="1150" dirty="0"/>
          </a:p>
        </p:txBody>
      </p:sp>
      <p:sp>
        <p:nvSpPr>
          <p:cNvPr id="11" name="Text 9"/>
          <p:cNvSpPr txBox="1"/>
          <p:nvPr/>
        </p:nvSpPr>
        <p:spPr>
          <a:xfrm>
            <a:off x="1069848" y="2898648"/>
            <a:ext cx="32004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The benchmark numbers were wrong</a:t>
            </a:r>
            <a:endParaRPr lang="en-US" sz="1250" dirty="0"/>
          </a:p>
        </p:txBody>
      </p:sp>
      <p:sp>
        <p:nvSpPr>
          <p:cNvPr id="12" name="Text 10"/>
          <p:cNvSpPr txBox="1"/>
          <p:nvPr/>
        </p:nvSpPr>
        <p:spPr>
          <a:xfrm>
            <a:off x="4361688" y="2862072"/>
            <a:ext cx="3474720" cy="713232"/>
          </a:xfrm>
          <a:prstGeom prst="rect">
            <a:avLst/>
          </a:prstGeom>
          <a:noFill/>
          <a:ln/>
        </p:spPr>
        <p:txBody>
          <a:bodyPr wrap="square" lIns="0" tIns="0" rIns="0" bIns="0" rtlCol="0" anchor="t"/>
          <a:lstStyle/>
          <a:p>
            <a:pPr indent="0" marL="0">
              <a:lnSpc>
                <a:spcPts val="1200"/>
              </a:lnSpc>
              <a:buNone/>
            </a:pPr>
            <a:r>
              <a:rPr lang="en-US" sz="900" dirty="0">
                <a:solidFill>
                  <a:srgbClr val="9CACBA"/>
                </a:solidFill>
                <a:latin typeface="Calibri" pitchFamily="34" charset="0"/>
                <a:ea typeface="Calibri" pitchFamily="34" charset="-122"/>
                <a:cs typeface="Calibri" pitchFamily="34" charset="-120"/>
              </a:rPr>
              <a:t>The README claimed a BO median of 0.84. The measured value was 0.806, and no script in the repository produced either number.</a:t>
            </a:r>
            <a:endParaRPr lang="en-US" sz="900" dirty="0"/>
          </a:p>
        </p:txBody>
      </p:sp>
      <p:sp>
        <p:nvSpPr>
          <p:cNvPr id="13" name="Text 11"/>
          <p:cNvSpPr txBox="1"/>
          <p:nvPr/>
        </p:nvSpPr>
        <p:spPr>
          <a:xfrm>
            <a:off x="8138160" y="2862072"/>
            <a:ext cx="3474720" cy="713232"/>
          </a:xfrm>
          <a:prstGeom prst="rect">
            <a:avLst/>
          </a:prstGeom>
          <a:noFill/>
          <a:ln/>
        </p:spPr>
        <p:txBody>
          <a:bodyPr wrap="square" lIns="0" tIns="0" rIns="0" bIns="0" rtlCol="0" anchor="t"/>
          <a:lstStyle/>
          <a:p>
            <a:pPr indent="0" marL="0">
              <a:lnSpc>
                <a:spcPts val="1200"/>
              </a:lnSpc>
              <a:buNone/>
            </a:pPr>
            <a:r>
              <a:rPr lang="en-US" sz="900" i="1" dirty="0">
                <a:solidFill>
                  <a:srgbClr val="6FA8CE"/>
                </a:solidFill>
                <a:latin typeface="Calibri" pitchFamily="34" charset="0"/>
                <a:ea typeface="Calibri" pitchFamily="34" charset="-122"/>
                <a:cs typeface="Calibri" pitchFamily="34" charset="-120"/>
              </a:rPr>
              <a:t>One script is now the sole source of every published figure.</a:t>
            </a:r>
            <a:endParaRPr lang="en-US" sz="900" dirty="0"/>
          </a:p>
        </p:txBody>
      </p:sp>
      <p:sp>
        <p:nvSpPr>
          <p:cNvPr id="14" name="Text 12"/>
          <p:cNvSpPr txBox="1"/>
          <p:nvPr/>
        </p:nvSpPr>
        <p:spPr>
          <a:xfrm>
            <a:off x="566928" y="3639312"/>
            <a:ext cx="457200" cy="274320"/>
          </a:xfrm>
          <a:prstGeom prst="rect">
            <a:avLst/>
          </a:prstGeom>
          <a:noFill/>
          <a:ln/>
        </p:spPr>
        <p:txBody>
          <a:bodyPr wrap="square" lIns="0" tIns="0" rIns="0" bIns="0" rtlCol="0" anchor="ctr"/>
          <a:lstStyle/>
          <a:p>
            <a:pPr indent="0" marL="0">
              <a:buNone/>
            </a:pPr>
            <a:r>
              <a:rPr lang="en-US" sz="1150" b="1" dirty="0">
                <a:solidFill>
                  <a:srgbClr val="C2410C"/>
                </a:solidFill>
                <a:latin typeface="Courier New" pitchFamily="34" charset="0"/>
                <a:ea typeface="Courier New" pitchFamily="34" charset="-122"/>
                <a:cs typeface="Courier New" pitchFamily="34" charset="-120"/>
              </a:rPr>
              <a:t>03</a:t>
            </a:r>
            <a:endParaRPr lang="en-US" sz="1150" dirty="0"/>
          </a:p>
        </p:txBody>
      </p:sp>
      <p:sp>
        <p:nvSpPr>
          <p:cNvPr id="15" name="Text 13"/>
          <p:cNvSpPr txBox="1"/>
          <p:nvPr/>
        </p:nvSpPr>
        <p:spPr>
          <a:xfrm>
            <a:off x="1069848" y="3639312"/>
            <a:ext cx="32004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One RNG served lab and optimizer</a:t>
            </a:r>
            <a:endParaRPr lang="en-US" sz="1250" dirty="0"/>
          </a:p>
        </p:txBody>
      </p:sp>
      <p:sp>
        <p:nvSpPr>
          <p:cNvPr id="16" name="Text 14"/>
          <p:cNvSpPr txBox="1"/>
          <p:nvPr/>
        </p:nvSpPr>
        <p:spPr>
          <a:xfrm>
            <a:off x="4361688" y="3602736"/>
            <a:ext cx="3474720" cy="713232"/>
          </a:xfrm>
          <a:prstGeom prst="rect">
            <a:avLst/>
          </a:prstGeom>
          <a:noFill/>
          <a:ln/>
        </p:spPr>
        <p:txBody>
          <a:bodyPr wrap="square" lIns="0" tIns="0" rIns="0" bIns="0" rtlCol="0" anchor="t"/>
          <a:lstStyle/>
          <a:p>
            <a:pPr indent="0" marL="0">
              <a:lnSpc>
                <a:spcPts val="1200"/>
              </a:lnSpc>
              <a:buNone/>
            </a:pPr>
            <a:r>
              <a:rPr lang="en-US" sz="900" dirty="0">
                <a:solidFill>
                  <a:srgbClr val="9CACBA"/>
                </a:solidFill>
                <a:latin typeface="Calibri" pitchFamily="34" charset="0"/>
                <a:ea typeface="Calibri" pitchFamily="34" charset="-122"/>
                <a:cs typeface="Calibri" pitchFamily="34" charset="-120"/>
              </a:rPr>
              <a:t>BO draws ~512 candidates per iteration, random search draws 5 — so the two methods faced different measurement noise. The per-seed comparison was meaningless.</a:t>
            </a:r>
            <a:endParaRPr lang="en-US" sz="900" dirty="0"/>
          </a:p>
        </p:txBody>
      </p:sp>
      <p:sp>
        <p:nvSpPr>
          <p:cNvPr id="17" name="Text 15"/>
          <p:cNvSpPr txBox="1"/>
          <p:nvPr/>
        </p:nvSpPr>
        <p:spPr>
          <a:xfrm>
            <a:off x="8138160" y="3602736"/>
            <a:ext cx="3474720" cy="713232"/>
          </a:xfrm>
          <a:prstGeom prst="rect">
            <a:avLst/>
          </a:prstGeom>
          <a:noFill/>
          <a:ln/>
        </p:spPr>
        <p:txBody>
          <a:bodyPr wrap="square" lIns="0" tIns="0" rIns="0" bIns="0" rtlCol="0" anchor="t"/>
          <a:lstStyle/>
          <a:p>
            <a:pPr indent="0" marL="0">
              <a:lnSpc>
                <a:spcPts val="1200"/>
              </a:lnSpc>
              <a:buNone/>
            </a:pPr>
            <a:r>
              <a:rPr lang="en-US" sz="900" i="1" dirty="0">
                <a:solidFill>
                  <a:srgbClr val="6FA8CE"/>
                </a:solidFill>
                <a:latin typeface="Calibri" pitchFamily="34" charset="0"/>
                <a:ea typeface="Calibri" pitchFamily="34" charset="-122"/>
                <a:cs typeface="Calibri" pitchFamily="34" charset="-120"/>
              </a:rPr>
              <a:t>Separate streams, and common random numbers across methods.</a:t>
            </a:r>
            <a:endParaRPr lang="en-US" sz="900" dirty="0"/>
          </a:p>
        </p:txBody>
      </p:sp>
      <p:sp>
        <p:nvSpPr>
          <p:cNvPr id="18" name="Text 16"/>
          <p:cNvSpPr txBox="1"/>
          <p:nvPr/>
        </p:nvSpPr>
        <p:spPr>
          <a:xfrm>
            <a:off x="566928" y="4379976"/>
            <a:ext cx="457200" cy="274320"/>
          </a:xfrm>
          <a:prstGeom prst="rect">
            <a:avLst/>
          </a:prstGeom>
          <a:noFill/>
          <a:ln/>
        </p:spPr>
        <p:txBody>
          <a:bodyPr wrap="square" lIns="0" tIns="0" rIns="0" bIns="0" rtlCol="0" anchor="ctr"/>
          <a:lstStyle/>
          <a:p>
            <a:pPr indent="0" marL="0">
              <a:buNone/>
            </a:pPr>
            <a:r>
              <a:rPr lang="en-US" sz="1150" b="1" dirty="0">
                <a:solidFill>
                  <a:srgbClr val="C2410C"/>
                </a:solidFill>
                <a:latin typeface="Courier New" pitchFamily="34" charset="0"/>
                <a:ea typeface="Courier New" pitchFamily="34" charset="-122"/>
                <a:cs typeface="Courier New" pitchFamily="34" charset="-120"/>
              </a:rPr>
              <a:t>04</a:t>
            </a:r>
            <a:endParaRPr lang="en-US" sz="1150" dirty="0"/>
          </a:p>
        </p:txBody>
      </p:sp>
      <p:sp>
        <p:nvSpPr>
          <p:cNvPr id="19" name="Text 17"/>
          <p:cNvSpPr txBox="1"/>
          <p:nvPr/>
        </p:nvSpPr>
        <p:spPr>
          <a:xfrm>
            <a:off x="1069848" y="4379976"/>
            <a:ext cx="32004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BO got trapped in failure regions</a:t>
            </a:r>
            <a:endParaRPr lang="en-US" sz="1250" dirty="0"/>
          </a:p>
        </p:txBody>
      </p:sp>
      <p:sp>
        <p:nvSpPr>
          <p:cNvPr id="20" name="Text 18"/>
          <p:cNvSpPr txBox="1"/>
          <p:nvPr/>
        </p:nvSpPr>
        <p:spPr>
          <a:xfrm>
            <a:off x="4361688" y="4343400"/>
            <a:ext cx="3474720" cy="713232"/>
          </a:xfrm>
          <a:prstGeom prst="rect">
            <a:avLst/>
          </a:prstGeom>
          <a:noFill/>
          <a:ln/>
        </p:spPr>
        <p:txBody>
          <a:bodyPr wrap="square" lIns="0" tIns="0" rIns="0" bIns="0" rtlCol="0" anchor="t"/>
          <a:lstStyle/>
          <a:p>
            <a:pPr indent="0" marL="0">
              <a:lnSpc>
                <a:spcPts val="1200"/>
              </a:lnSpc>
              <a:buNone/>
            </a:pPr>
            <a:r>
              <a:rPr lang="en-US" sz="900" dirty="0">
                <a:solidFill>
                  <a:srgbClr val="9CACBA"/>
                </a:solidFill>
                <a:latin typeface="Calibri" pitchFamily="34" charset="0"/>
                <a:ea typeface="Calibri" pitchFamily="34" charset="-122"/>
                <a:cs typeface="Calibri" pitchFamily="34" charset="-120"/>
              </a:rPr>
              <a:t>Failed experiments yield no objective, so a naive surrogate never learns to avoid them and keeps re-proposing into the dead zone, burning budget.</a:t>
            </a:r>
            <a:endParaRPr lang="en-US" sz="900" dirty="0"/>
          </a:p>
        </p:txBody>
      </p:sp>
      <p:sp>
        <p:nvSpPr>
          <p:cNvPr id="21" name="Text 19"/>
          <p:cNvSpPr txBox="1"/>
          <p:nvPr/>
        </p:nvSpPr>
        <p:spPr>
          <a:xfrm>
            <a:off x="8138160" y="4343400"/>
            <a:ext cx="3474720" cy="713232"/>
          </a:xfrm>
          <a:prstGeom prst="rect">
            <a:avLst/>
          </a:prstGeom>
          <a:noFill/>
          <a:ln/>
        </p:spPr>
        <p:txBody>
          <a:bodyPr wrap="square" lIns="0" tIns="0" rIns="0" bIns="0" rtlCol="0" anchor="t"/>
          <a:lstStyle/>
          <a:p>
            <a:pPr indent="0" marL="0">
              <a:lnSpc>
                <a:spcPts val="1200"/>
              </a:lnSpc>
              <a:buNone/>
            </a:pPr>
            <a:r>
              <a:rPr lang="en-US" sz="900" i="1" dirty="0">
                <a:solidFill>
                  <a:srgbClr val="6FA8CE"/>
                </a:solidFill>
                <a:latin typeface="Calibri" pitchFamily="34" charset="0"/>
                <a:ea typeface="Calibri" pitchFamily="34" charset="-122"/>
                <a:cs typeface="Calibri" pitchFamily="34" charset="-120"/>
              </a:rPr>
              <a:t>A feasibility penalty and an escape hatch — a real constrained-BO problem.</a:t>
            </a:r>
            <a:endParaRPr lang="en-US" sz="900" dirty="0"/>
          </a:p>
        </p:txBody>
      </p:sp>
      <p:sp>
        <p:nvSpPr>
          <p:cNvPr id="22" name="Text 20"/>
          <p:cNvSpPr txBox="1"/>
          <p:nvPr/>
        </p:nvSpPr>
        <p:spPr>
          <a:xfrm>
            <a:off x="566928" y="5120640"/>
            <a:ext cx="457200" cy="274320"/>
          </a:xfrm>
          <a:prstGeom prst="rect">
            <a:avLst/>
          </a:prstGeom>
          <a:noFill/>
          <a:ln/>
        </p:spPr>
        <p:txBody>
          <a:bodyPr wrap="square" lIns="0" tIns="0" rIns="0" bIns="0" rtlCol="0" anchor="ctr"/>
          <a:lstStyle/>
          <a:p>
            <a:pPr indent="0" marL="0">
              <a:buNone/>
            </a:pPr>
            <a:r>
              <a:rPr lang="en-US" sz="1150" b="1" dirty="0">
                <a:solidFill>
                  <a:srgbClr val="C2410C"/>
                </a:solidFill>
                <a:latin typeface="Courier New" pitchFamily="34" charset="0"/>
                <a:ea typeface="Courier New" pitchFamily="34" charset="-122"/>
                <a:cs typeface="Courier New" pitchFamily="34" charset="-120"/>
              </a:rPr>
              <a:t>05</a:t>
            </a:r>
            <a:endParaRPr lang="en-US" sz="1150" dirty="0"/>
          </a:p>
        </p:txBody>
      </p:sp>
      <p:sp>
        <p:nvSpPr>
          <p:cNvPr id="23" name="Text 21"/>
          <p:cNvSpPr txBox="1"/>
          <p:nvPr/>
        </p:nvSpPr>
        <p:spPr>
          <a:xfrm>
            <a:off x="1069848" y="5120640"/>
            <a:ext cx="32004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Rounding moved the median by 0.006</a:t>
            </a:r>
            <a:endParaRPr lang="en-US" sz="1250" dirty="0"/>
          </a:p>
        </p:txBody>
      </p:sp>
      <p:sp>
        <p:nvSpPr>
          <p:cNvPr id="24" name="Text 22"/>
          <p:cNvSpPr txBox="1"/>
          <p:nvPr/>
        </p:nvSpPr>
        <p:spPr>
          <a:xfrm>
            <a:off x="4361688" y="5084064"/>
            <a:ext cx="3474720" cy="713232"/>
          </a:xfrm>
          <a:prstGeom prst="rect">
            <a:avLst/>
          </a:prstGeom>
          <a:noFill/>
          <a:ln/>
        </p:spPr>
        <p:txBody>
          <a:bodyPr wrap="square" lIns="0" tIns="0" rIns="0" bIns="0" rtlCol="0" anchor="t"/>
          <a:lstStyle/>
          <a:p>
            <a:pPr indent="0" marL="0">
              <a:lnSpc>
                <a:spcPts val="1200"/>
              </a:lnSpc>
              <a:buNone/>
            </a:pPr>
            <a:r>
              <a:rPr lang="en-US" sz="900" dirty="0">
                <a:solidFill>
                  <a:srgbClr val="9CACBA"/>
                </a:solidFill>
                <a:latin typeface="Calibri" pitchFamily="34" charset="0"/>
                <a:ea typeface="Calibri" pitchFamily="34" charset="-122"/>
                <a:cs typeface="Calibri" pitchFamily="34" charset="-120"/>
              </a:rPr>
              <a:t>Rounding each weighted term to six decimals — a 1e-4 perturbation — changed which point the GP held as incumbent, changed the argmax of Expected Improvement, and redirected the whole search.</a:t>
            </a:r>
            <a:endParaRPr lang="en-US" sz="900" dirty="0"/>
          </a:p>
        </p:txBody>
      </p:sp>
      <p:sp>
        <p:nvSpPr>
          <p:cNvPr id="25" name="Text 23"/>
          <p:cNvSpPr txBox="1"/>
          <p:nvPr/>
        </p:nvSpPr>
        <p:spPr>
          <a:xfrm>
            <a:off x="8138160" y="5084064"/>
            <a:ext cx="3474720" cy="713232"/>
          </a:xfrm>
          <a:prstGeom prst="rect">
            <a:avLst/>
          </a:prstGeom>
          <a:noFill/>
          <a:ln/>
        </p:spPr>
        <p:txBody>
          <a:bodyPr wrap="square" lIns="0" tIns="0" rIns="0" bIns="0" rtlCol="0" anchor="t"/>
          <a:lstStyle/>
          <a:p>
            <a:pPr indent="0" marL="0">
              <a:lnSpc>
                <a:spcPts val="1200"/>
              </a:lnSpc>
              <a:buNone/>
            </a:pPr>
            <a:r>
              <a:rPr lang="en-US" sz="900" i="1" dirty="0">
                <a:solidFill>
                  <a:srgbClr val="6FA8CE"/>
                </a:solidFill>
                <a:latin typeface="Calibri" pitchFamily="34" charset="0"/>
                <a:ea typeface="Calibri" pitchFamily="34" charset="-122"/>
                <a:cs typeface="Calibri" pitchFamily="34" charset="-120"/>
              </a:rPr>
              <a:t>Closed loops are chaotically sensitive to their own numerics. Round for display, never before a decision.</a:t>
            </a:r>
            <a:endParaRPr lang="en-US" sz="900" dirty="0"/>
          </a:p>
        </p:txBody>
      </p:sp>
      <p:sp>
        <p:nvSpPr>
          <p:cNvPr id="26" name="Text 24"/>
          <p:cNvSpPr txBox="1"/>
          <p:nvPr/>
        </p:nvSpPr>
        <p:spPr>
          <a:xfrm>
            <a:off x="566928" y="5861304"/>
            <a:ext cx="457200" cy="274320"/>
          </a:xfrm>
          <a:prstGeom prst="rect">
            <a:avLst/>
          </a:prstGeom>
          <a:noFill/>
          <a:ln/>
        </p:spPr>
        <p:txBody>
          <a:bodyPr wrap="square" lIns="0" tIns="0" rIns="0" bIns="0" rtlCol="0" anchor="ctr"/>
          <a:lstStyle/>
          <a:p>
            <a:pPr indent="0" marL="0">
              <a:buNone/>
            </a:pPr>
            <a:r>
              <a:rPr lang="en-US" sz="1150" b="1" dirty="0">
                <a:solidFill>
                  <a:srgbClr val="C2410C"/>
                </a:solidFill>
                <a:latin typeface="Courier New" pitchFamily="34" charset="0"/>
                <a:ea typeface="Courier New" pitchFamily="34" charset="-122"/>
                <a:cs typeface="Courier New" pitchFamily="34" charset="-120"/>
              </a:rPr>
              <a:t>06</a:t>
            </a:r>
            <a:endParaRPr lang="en-US" sz="1150" dirty="0"/>
          </a:p>
        </p:txBody>
      </p:sp>
      <p:sp>
        <p:nvSpPr>
          <p:cNvPr id="27" name="Text 25"/>
          <p:cNvSpPr txBox="1"/>
          <p:nvPr/>
        </p:nvSpPr>
        <p:spPr>
          <a:xfrm>
            <a:off x="1069848" y="5861304"/>
            <a:ext cx="32004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Fabricated data labelled as published</a:t>
            </a:r>
            <a:endParaRPr lang="en-US" sz="1250" dirty="0"/>
          </a:p>
        </p:txBody>
      </p:sp>
      <p:sp>
        <p:nvSpPr>
          <p:cNvPr id="28" name="Text 26"/>
          <p:cNvSpPr txBox="1"/>
          <p:nvPr/>
        </p:nvSpPr>
        <p:spPr>
          <a:xfrm>
            <a:off x="4361688" y="5824728"/>
            <a:ext cx="3474720" cy="713232"/>
          </a:xfrm>
          <a:prstGeom prst="rect">
            <a:avLst/>
          </a:prstGeom>
          <a:noFill/>
          <a:ln/>
        </p:spPr>
        <p:txBody>
          <a:bodyPr wrap="square" lIns="0" tIns="0" rIns="0" bIns="0" rtlCol="0" anchor="t"/>
          <a:lstStyle/>
          <a:p>
            <a:pPr indent="0" marL="0">
              <a:lnSpc>
                <a:spcPts val="1200"/>
              </a:lnSpc>
              <a:buNone/>
            </a:pPr>
            <a:r>
              <a:rPr lang="en-US" sz="900" dirty="0">
                <a:solidFill>
                  <a:srgbClr val="9CACBA"/>
                </a:solidFill>
                <a:latin typeface="Calibri" pitchFamily="34" charset="0"/>
                <a:ea typeface="Calibri" pitchFamily="34" charset="-122"/>
                <a:cs typeface="Calibri" pitchFamily="34" charset="-120"/>
              </a:rPr>
              <a:t>An earlier version shipped a 25-row hydride dataset whose header said the values came straight from the paper. Three compounds in it appear nowhere in that paper. Invented numbers, presented as measurements.</a:t>
            </a:r>
            <a:endParaRPr lang="en-US" sz="900" dirty="0"/>
          </a:p>
        </p:txBody>
      </p:sp>
      <p:sp>
        <p:nvSpPr>
          <p:cNvPr id="29" name="Text 27"/>
          <p:cNvSpPr txBox="1"/>
          <p:nvPr/>
        </p:nvSpPr>
        <p:spPr>
          <a:xfrm>
            <a:off x="8138160" y="5824728"/>
            <a:ext cx="3474720" cy="713232"/>
          </a:xfrm>
          <a:prstGeom prst="rect">
            <a:avLst/>
          </a:prstGeom>
          <a:noFill/>
          <a:ln/>
        </p:spPr>
        <p:txBody>
          <a:bodyPr wrap="square" lIns="0" tIns="0" rIns="0" bIns="0" rtlCol="0" anchor="t"/>
          <a:lstStyle/>
          <a:p>
            <a:pPr indent="0" marL="0">
              <a:lnSpc>
                <a:spcPts val="1200"/>
              </a:lnSpc>
              <a:buNone/>
            </a:pPr>
            <a:r>
              <a:rPr lang="en-US" sz="900" i="1" dirty="0">
                <a:solidFill>
                  <a:srgbClr val="6FA8CE"/>
                </a:solidFill>
                <a:latin typeface="Calibri" pitchFamily="34" charset="0"/>
                <a:ea typeface="Calibri" pitchFamily="34" charset="-122"/>
                <a:cs typeface="Calibri" pitchFamily="34" charset="-120"/>
              </a:rPr>
              <a:t>A fabricated row is indistinguishable from a transcribed one once they share a file. Provenance has to be a boundary, not a comment.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4F7"/>
        </a:solidFill>
      </p:bgPr>
    </p:bg>
    <p:spTree>
      <p:nvGrpSpPr>
        <p:cNvPr id="1" name=""/>
        <p:cNvGrpSpPr/>
        <p:nvPr/>
      </p:nvGrpSpPr>
      <p:grpSpPr>
        <a:xfrm>
          <a:off x="0" y="0"/>
          <a:ext cx="0" cy="0"/>
          <a:chOff x="0" y="0"/>
          <a:chExt cx="0" cy="0"/>
        </a:xfrm>
      </p:grpSpPr>
      <p:sp>
        <p:nvSpPr>
          <p:cNvPr id="2" name="Shape 0"/>
          <p:cNvSpPr/>
          <p:nvPr/>
        </p:nvSpPr>
        <p:spPr>
          <a:xfrm>
            <a:off x="566928" y="384048"/>
            <a:ext cx="3538728" cy="292608"/>
          </a:xfrm>
          <a:prstGeom prst="roundRect">
            <a:avLst>
              <a:gd name="adj" fmla="val 50000"/>
            </a:avLst>
          </a:prstGeom>
          <a:solidFill>
            <a:srgbClr val="1F5F8B"/>
          </a:solidFill>
          <a:ln w="12700">
            <a:solidFill>
              <a:srgbClr val="1F5F8B"/>
            </a:solidFill>
            <a:prstDash val="solid"/>
          </a:ln>
        </p:spPr>
      </p:sp>
      <p:sp>
        <p:nvSpPr>
          <p:cNvPr id="3" name="Text 1"/>
          <p:cNvSpPr txBox="1"/>
          <p:nvPr/>
        </p:nvSpPr>
        <p:spPr>
          <a:xfrm>
            <a:off x="566928" y="384048"/>
            <a:ext cx="353872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14  ·  SCOPE DISCIPLINE</a:t>
            </a:r>
            <a:endParaRPr lang="en-US" sz="1050" dirty="0"/>
          </a:p>
        </p:txBody>
      </p:sp>
      <p:sp>
        <p:nvSpPr>
          <p:cNvPr id="4" name="Text 2"/>
          <p:cNvSpPr txBox="1"/>
          <p:nvPr/>
        </p:nvSpPr>
        <p:spPr>
          <a:xfrm>
            <a:off x="566928" y="868680"/>
            <a:ext cx="11055096" cy="749808"/>
          </a:xfrm>
          <a:prstGeom prst="rect">
            <a:avLst/>
          </a:prstGeom>
          <a:noFill/>
          <a:ln/>
        </p:spPr>
        <p:txBody>
          <a:bodyPr wrap="square" lIns="0" tIns="0" rIns="0" bIns="0" rtlCol="0" anchor="ctr"/>
          <a:lstStyle/>
          <a:p>
            <a:pPr indent="0" marL="0">
              <a:buNone/>
            </a:pPr>
            <a:r>
              <a:rPr lang="en-US" sz="3400" b="1" dirty="0">
                <a:solidFill>
                  <a:srgbClr val="18222B"/>
                </a:solidFill>
                <a:latin typeface="Cambria" pitchFamily="34" charset="0"/>
                <a:ea typeface="Cambria" pitchFamily="34" charset="-122"/>
                <a:cs typeface="Cambria" pitchFamily="34" charset="-120"/>
              </a:rPr>
              <a:t>What I deliberately did not build</a:t>
            </a:r>
            <a:endParaRPr lang="en-US" sz="3400" dirty="0"/>
          </a:p>
        </p:txBody>
      </p:sp>
      <p:sp>
        <p:nvSpPr>
          <p:cNvPr id="5" name="Text 3"/>
          <p:cNvSpPr txBox="1"/>
          <p:nvPr/>
        </p:nvSpPr>
        <p:spPr>
          <a:xfrm>
            <a:off x="566928" y="1572768"/>
            <a:ext cx="11055096" cy="420624"/>
          </a:xfrm>
          <a:prstGeom prst="rect">
            <a:avLst/>
          </a:prstGeom>
          <a:noFill/>
          <a:ln/>
        </p:spPr>
        <p:txBody>
          <a:bodyPr wrap="square" lIns="0" tIns="0" rIns="0" bIns="0" rtlCol="0" anchor="t"/>
          <a:lstStyle/>
          <a:p>
            <a:pPr indent="0" marL="0">
              <a:lnSpc>
                <a:spcPts val="2000"/>
              </a:lnSpc>
              <a:buNone/>
            </a:pPr>
            <a:r>
              <a:rPr lang="en-US" sz="1450" dirty="0">
                <a:solidFill>
                  <a:srgbClr val="5B6B78"/>
                </a:solidFill>
                <a:latin typeface="Calibri" pitchFamily="34" charset="0"/>
                <a:ea typeface="Calibri" pitchFamily="34" charset="-122"/>
                <a:cs typeface="Calibri" pitchFamily="34" charset="-120"/>
              </a:rPr>
              <a:t>Scope discipline is part of the argument, so the omissions are explicit and reasoned rather than quietly absent.</a:t>
            </a:r>
            <a:endParaRPr lang="en-US" sz="1450" dirty="0"/>
          </a:p>
        </p:txBody>
      </p:sp>
      <p:sp>
        <p:nvSpPr>
          <p:cNvPr id="6" name="Shape 4"/>
          <p:cNvSpPr/>
          <p:nvPr/>
        </p:nvSpPr>
        <p:spPr>
          <a:xfrm>
            <a:off x="566928" y="2194560"/>
            <a:ext cx="11055096" cy="603504"/>
          </a:xfrm>
          <a:prstGeom prst="roundRect">
            <a:avLst>
              <a:gd name="adj" fmla="val 12121"/>
            </a:avLst>
          </a:prstGeom>
          <a:solidFill>
            <a:srgbClr val="FFFFFF"/>
          </a:solidFill>
          <a:ln w="9525">
            <a:solidFill>
              <a:srgbClr val="D4DCE3"/>
            </a:solidFill>
            <a:prstDash val="solid"/>
          </a:ln>
        </p:spPr>
      </p:sp>
      <p:sp>
        <p:nvSpPr>
          <p:cNvPr id="7" name="Text 5"/>
          <p:cNvSpPr txBox="1"/>
          <p:nvPr/>
        </p:nvSpPr>
        <p:spPr>
          <a:xfrm>
            <a:off x="804672" y="2194560"/>
            <a:ext cx="274320" cy="603504"/>
          </a:xfrm>
          <a:prstGeom prst="rect">
            <a:avLst/>
          </a:prstGeom>
          <a:noFill/>
          <a:ln/>
        </p:spPr>
        <p:txBody>
          <a:bodyPr wrap="square" lIns="0" tIns="0" rIns="0" bIns="0" rtlCol="0" anchor="ctr"/>
          <a:lstStyle/>
          <a:p>
            <a:pPr indent="0" marL="0">
              <a:buNone/>
            </a:pPr>
            <a:r>
              <a:rPr lang="en-US" sz="1200" b="1" dirty="0">
                <a:solidFill>
                  <a:srgbClr val="C2410C"/>
                </a:solidFill>
                <a:latin typeface="Calibri" pitchFamily="34" charset="0"/>
                <a:ea typeface="Calibri" pitchFamily="34" charset="-122"/>
                <a:cs typeface="Calibri" pitchFamily="34" charset="-120"/>
              </a:rPr>
              <a:t>✕</a:t>
            </a:r>
            <a:endParaRPr lang="en-US" sz="1200" dirty="0"/>
          </a:p>
        </p:txBody>
      </p:sp>
      <p:sp>
        <p:nvSpPr>
          <p:cNvPr id="8" name="Text 6"/>
          <p:cNvSpPr txBox="1"/>
          <p:nvPr/>
        </p:nvSpPr>
        <p:spPr>
          <a:xfrm>
            <a:off x="1188720" y="2194560"/>
            <a:ext cx="4114800" cy="603504"/>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A physically accurate CdTe simulator</a:t>
            </a:r>
            <a:endParaRPr lang="en-US" sz="1250" dirty="0"/>
          </a:p>
        </p:txBody>
      </p:sp>
      <p:sp>
        <p:nvSpPr>
          <p:cNvPr id="9" name="Text 7"/>
          <p:cNvSpPr txBox="1"/>
          <p:nvPr/>
        </p:nvSpPr>
        <p:spPr>
          <a:xfrm>
            <a:off x="5413248" y="2194560"/>
            <a:ext cx="5943600" cy="60350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Would need real process data. A fake physics model is worse than an honest surrogate.</a:t>
            </a:r>
            <a:endParaRPr lang="en-US" sz="1150" dirty="0"/>
          </a:p>
        </p:txBody>
      </p:sp>
      <p:sp>
        <p:nvSpPr>
          <p:cNvPr id="10" name="Shape 8"/>
          <p:cNvSpPr/>
          <p:nvPr/>
        </p:nvSpPr>
        <p:spPr>
          <a:xfrm>
            <a:off x="566928" y="2907792"/>
            <a:ext cx="11055096" cy="603504"/>
          </a:xfrm>
          <a:prstGeom prst="roundRect">
            <a:avLst>
              <a:gd name="adj" fmla="val 12121"/>
            </a:avLst>
          </a:prstGeom>
          <a:solidFill>
            <a:srgbClr val="FFFFFF"/>
          </a:solidFill>
          <a:ln w="9525">
            <a:solidFill>
              <a:srgbClr val="D4DCE3"/>
            </a:solidFill>
            <a:prstDash val="solid"/>
          </a:ln>
        </p:spPr>
      </p:sp>
      <p:sp>
        <p:nvSpPr>
          <p:cNvPr id="11" name="Text 9"/>
          <p:cNvSpPr txBox="1"/>
          <p:nvPr/>
        </p:nvSpPr>
        <p:spPr>
          <a:xfrm>
            <a:off x="804672" y="2907792"/>
            <a:ext cx="274320" cy="603504"/>
          </a:xfrm>
          <a:prstGeom prst="rect">
            <a:avLst/>
          </a:prstGeom>
          <a:noFill/>
          <a:ln/>
        </p:spPr>
        <p:txBody>
          <a:bodyPr wrap="square" lIns="0" tIns="0" rIns="0" bIns="0" rtlCol="0" anchor="ctr"/>
          <a:lstStyle/>
          <a:p>
            <a:pPr indent="0" marL="0">
              <a:buNone/>
            </a:pPr>
            <a:r>
              <a:rPr lang="en-US" sz="1200" b="1" dirty="0">
                <a:solidFill>
                  <a:srgbClr val="C2410C"/>
                </a:solidFill>
                <a:latin typeface="Calibri" pitchFamily="34" charset="0"/>
                <a:ea typeface="Calibri" pitchFamily="34" charset="-122"/>
                <a:cs typeface="Calibri" pitchFamily="34" charset="-120"/>
              </a:rPr>
              <a:t>✕</a:t>
            </a:r>
            <a:endParaRPr lang="en-US" sz="1200" dirty="0"/>
          </a:p>
        </p:txBody>
      </p:sp>
      <p:sp>
        <p:nvSpPr>
          <p:cNvPr id="12" name="Text 10"/>
          <p:cNvSpPr txBox="1"/>
          <p:nvPr/>
        </p:nvSpPr>
        <p:spPr>
          <a:xfrm>
            <a:off x="1188720" y="2907792"/>
            <a:ext cx="4114800" cy="603504"/>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Simulated DFPT, electron-phonon or Tc</a:t>
            </a:r>
            <a:endParaRPr lang="en-US" sz="1250" dirty="0"/>
          </a:p>
        </p:txBody>
      </p:sp>
      <p:sp>
        <p:nvSpPr>
          <p:cNvPr id="13" name="Text 11"/>
          <p:cNvSpPr txBox="1"/>
          <p:nvPr/>
        </p:nvSpPr>
        <p:spPr>
          <a:xfrm>
            <a:off x="5413248" y="2907792"/>
            <a:ext cx="5943600" cy="60350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Same reason. The hydride module uses published values and builds decisions on top.</a:t>
            </a:r>
            <a:endParaRPr lang="en-US" sz="1150" dirty="0"/>
          </a:p>
        </p:txBody>
      </p:sp>
      <p:sp>
        <p:nvSpPr>
          <p:cNvPr id="14" name="Shape 12"/>
          <p:cNvSpPr/>
          <p:nvPr/>
        </p:nvSpPr>
        <p:spPr>
          <a:xfrm>
            <a:off x="566928" y="3621024"/>
            <a:ext cx="11055096" cy="603504"/>
          </a:xfrm>
          <a:prstGeom prst="roundRect">
            <a:avLst>
              <a:gd name="adj" fmla="val 12121"/>
            </a:avLst>
          </a:prstGeom>
          <a:solidFill>
            <a:srgbClr val="FFFFFF"/>
          </a:solidFill>
          <a:ln w="9525">
            <a:solidFill>
              <a:srgbClr val="D4DCE3"/>
            </a:solidFill>
            <a:prstDash val="solid"/>
          </a:ln>
        </p:spPr>
      </p:sp>
      <p:sp>
        <p:nvSpPr>
          <p:cNvPr id="15" name="Text 13"/>
          <p:cNvSpPr txBox="1"/>
          <p:nvPr/>
        </p:nvSpPr>
        <p:spPr>
          <a:xfrm>
            <a:off x="804672" y="3621024"/>
            <a:ext cx="274320" cy="603504"/>
          </a:xfrm>
          <a:prstGeom prst="rect">
            <a:avLst/>
          </a:prstGeom>
          <a:noFill/>
          <a:ln/>
        </p:spPr>
        <p:txBody>
          <a:bodyPr wrap="square" lIns="0" tIns="0" rIns="0" bIns="0" rtlCol="0" anchor="ctr"/>
          <a:lstStyle/>
          <a:p>
            <a:pPr indent="0" marL="0">
              <a:buNone/>
            </a:pPr>
            <a:r>
              <a:rPr lang="en-US" sz="1200" b="1" dirty="0">
                <a:solidFill>
                  <a:srgbClr val="C2410C"/>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1188720" y="3621024"/>
            <a:ext cx="4114800" cy="603504"/>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A graphene tactile-sensor use case</a:t>
            </a:r>
            <a:endParaRPr lang="en-US" sz="1250" dirty="0"/>
          </a:p>
        </p:txBody>
      </p:sp>
      <p:sp>
        <p:nvSpPr>
          <p:cNvPr id="17" name="Text 15"/>
          <p:cNvSpPr txBox="1"/>
          <p:nvPr/>
        </p:nvSpPr>
        <p:spPr>
          <a:xfrm>
            <a:off x="5413248" y="3621024"/>
            <a:ext cx="5943600" cy="60350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No grounded response model available. Two defensible use cases beat three thin ones.</a:t>
            </a:r>
            <a:endParaRPr lang="en-US" sz="1150" dirty="0"/>
          </a:p>
        </p:txBody>
      </p:sp>
      <p:sp>
        <p:nvSpPr>
          <p:cNvPr id="18" name="Shape 16"/>
          <p:cNvSpPr/>
          <p:nvPr/>
        </p:nvSpPr>
        <p:spPr>
          <a:xfrm>
            <a:off x="566928" y="4334256"/>
            <a:ext cx="11055096" cy="603504"/>
          </a:xfrm>
          <a:prstGeom prst="roundRect">
            <a:avLst>
              <a:gd name="adj" fmla="val 12121"/>
            </a:avLst>
          </a:prstGeom>
          <a:solidFill>
            <a:srgbClr val="FFFFFF"/>
          </a:solidFill>
          <a:ln w="9525">
            <a:solidFill>
              <a:srgbClr val="D4DCE3"/>
            </a:solidFill>
            <a:prstDash val="solid"/>
          </a:ln>
        </p:spPr>
      </p:sp>
      <p:sp>
        <p:nvSpPr>
          <p:cNvPr id="19" name="Text 17"/>
          <p:cNvSpPr txBox="1"/>
          <p:nvPr/>
        </p:nvSpPr>
        <p:spPr>
          <a:xfrm>
            <a:off x="804672" y="4334256"/>
            <a:ext cx="274320" cy="603504"/>
          </a:xfrm>
          <a:prstGeom prst="rect">
            <a:avLst/>
          </a:prstGeom>
          <a:noFill/>
          <a:ln/>
        </p:spPr>
        <p:txBody>
          <a:bodyPr wrap="square" lIns="0" tIns="0" rIns="0" bIns="0" rtlCol="0" anchor="ctr"/>
          <a:lstStyle/>
          <a:p>
            <a:pPr indent="0" marL="0">
              <a:buNone/>
            </a:pPr>
            <a:r>
              <a:rPr lang="en-US" sz="1200" b="1" dirty="0">
                <a:solidFill>
                  <a:srgbClr val="C2410C"/>
                </a:solidFill>
                <a:latin typeface="Calibri" pitchFamily="34" charset="0"/>
                <a:ea typeface="Calibri" pitchFamily="34" charset="-122"/>
                <a:cs typeface="Calibri" pitchFamily="34" charset="-120"/>
              </a:rPr>
              <a:t>✕</a:t>
            </a:r>
            <a:endParaRPr lang="en-US" sz="1200" dirty="0"/>
          </a:p>
        </p:txBody>
      </p:sp>
      <p:sp>
        <p:nvSpPr>
          <p:cNvPr id="20" name="Text 18"/>
          <p:cNvSpPr txBox="1"/>
          <p:nvPr/>
        </p:nvSpPr>
        <p:spPr>
          <a:xfrm>
            <a:off x="1188720" y="4334256"/>
            <a:ext cx="4114800" cy="603504"/>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Hydride synthesis devices</a:t>
            </a:r>
            <a:endParaRPr lang="en-US" sz="1250" dirty="0"/>
          </a:p>
        </p:txBody>
      </p:sp>
      <p:sp>
        <p:nvSpPr>
          <p:cNvPr id="21" name="Text 19"/>
          <p:cNvSpPr txBox="1"/>
          <p:nvPr/>
        </p:nvSpPr>
        <p:spPr>
          <a:xfrm>
            <a:off x="5413248" y="4334256"/>
            <a:ext cx="5943600" cy="60350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No honest way to simulate a hydrogenation anneal. Plans stop where a real lab's seam is.</a:t>
            </a:r>
            <a:endParaRPr lang="en-US" sz="1150" dirty="0"/>
          </a:p>
        </p:txBody>
      </p:sp>
      <p:sp>
        <p:nvSpPr>
          <p:cNvPr id="22" name="Shape 20"/>
          <p:cNvSpPr/>
          <p:nvPr/>
        </p:nvSpPr>
        <p:spPr>
          <a:xfrm>
            <a:off x="566928" y="5047488"/>
            <a:ext cx="11055096" cy="603504"/>
          </a:xfrm>
          <a:prstGeom prst="roundRect">
            <a:avLst>
              <a:gd name="adj" fmla="val 12121"/>
            </a:avLst>
          </a:prstGeom>
          <a:solidFill>
            <a:srgbClr val="FFFFFF"/>
          </a:solidFill>
          <a:ln w="9525">
            <a:solidFill>
              <a:srgbClr val="D4DCE3"/>
            </a:solidFill>
            <a:prstDash val="solid"/>
          </a:ln>
        </p:spPr>
      </p:sp>
      <p:sp>
        <p:nvSpPr>
          <p:cNvPr id="23" name="Text 21"/>
          <p:cNvSpPr txBox="1"/>
          <p:nvPr/>
        </p:nvSpPr>
        <p:spPr>
          <a:xfrm>
            <a:off x="804672" y="5047488"/>
            <a:ext cx="274320" cy="603504"/>
          </a:xfrm>
          <a:prstGeom prst="rect">
            <a:avLst/>
          </a:prstGeom>
          <a:noFill/>
          <a:ln/>
        </p:spPr>
        <p:txBody>
          <a:bodyPr wrap="square" lIns="0" tIns="0" rIns="0" bIns="0" rtlCol="0" anchor="ctr"/>
          <a:lstStyle/>
          <a:p>
            <a:pPr indent="0" marL="0">
              <a:buNone/>
            </a:pPr>
            <a:r>
              <a:rPr lang="en-US" sz="1200" b="1" dirty="0">
                <a:solidFill>
                  <a:srgbClr val="C2410C"/>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1188720" y="5047488"/>
            <a:ext cx="4114800" cy="603504"/>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A real async task queue</a:t>
            </a:r>
            <a:endParaRPr lang="en-US" sz="1250" dirty="0"/>
          </a:p>
        </p:txBody>
      </p:sp>
      <p:sp>
        <p:nvSpPr>
          <p:cNvPr id="25" name="Text 23"/>
          <p:cNvSpPr txBox="1"/>
          <p:nvPr/>
        </p:nvSpPr>
        <p:spPr>
          <a:xfrm>
            <a:off x="5413248" y="5047488"/>
            <a:ext cx="5943600" cy="60350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The state machine is what matters. The infrastructure adds operational surface, not argument.</a:t>
            </a:r>
            <a:endParaRPr lang="en-US" sz="1150" dirty="0"/>
          </a:p>
        </p:txBody>
      </p:sp>
      <p:sp>
        <p:nvSpPr>
          <p:cNvPr id="26" name="Shape 24"/>
          <p:cNvSpPr/>
          <p:nvPr/>
        </p:nvSpPr>
        <p:spPr>
          <a:xfrm>
            <a:off x="566928" y="5760720"/>
            <a:ext cx="11055096" cy="603504"/>
          </a:xfrm>
          <a:prstGeom prst="roundRect">
            <a:avLst>
              <a:gd name="adj" fmla="val 12121"/>
            </a:avLst>
          </a:prstGeom>
          <a:solidFill>
            <a:srgbClr val="FFFFFF"/>
          </a:solidFill>
          <a:ln w="9525">
            <a:solidFill>
              <a:srgbClr val="D4DCE3"/>
            </a:solidFill>
            <a:prstDash val="solid"/>
          </a:ln>
        </p:spPr>
      </p:sp>
      <p:sp>
        <p:nvSpPr>
          <p:cNvPr id="27" name="Text 25"/>
          <p:cNvSpPr txBox="1"/>
          <p:nvPr/>
        </p:nvSpPr>
        <p:spPr>
          <a:xfrm>
            <a:off x="804672" y="5760720"/>
            <a:ext cx="274320" cy="603504"/>
          </a:xfrm>
          <a:prstGeom prst="rect">
            <a:avLst/>
          </a:prstGeom>
          <a:noFill/>
          <a:ln/>
        </p:spPr>
        <p:txBody>
          <a:bodyPr wrap="square" lIns="0" tIns="0" rIns="0" bIns="0" rtlCol="0" anchor="ctr"/>
          <a:lstStyle/>
          <a:p>
            <a:pPr indent="0" marL="0">
              <a:buNone/>
            </a:pPr>
            <a:r>
              <a:rPr lang="en-US" sz="1200" b="1" dirty="0">
                <a:solidFill>
                  <a:srgbClr val="C2410C"/>
                </a:solidFill>
                <a:latin typeface="Calibri" pitchFamily="34" charset="0"/>
                <a:ea typeface="Calibri" pitchFamily="34" charset="-122"/>
                <a:cs typeface="Calibri" pitchFamily="34" charset="-120"/>
              </a:rPr>
              <a:t>✕</a:t>
            </a:r>
            <a:endParaRPr lang="en-US" sz="1200" dirty="0"/>
          </a:p>
        </p:txBody>
      </p:sp>
      <p:sp>
        <p:nvSpPr>
          <p:cNvPr id="28" name="Text 26"/>
          <p:cNvSpPr txBox="1"/>
          <p:nvPr/>
        </p:nvSpPr>
        <p:spPr>
          <a:xfrm>
            <a:off x="1188720" y="5760720"/>
            <a:ext cx="4114800" cy="603504"/>
          </a:xfrm>
          <a:prstGeom prst="rect">
            <a:avLst/>
          </a:prstGeom>
          <a:noFill/>
          <a:ln/>
        </p:spPr>
        <p:txBody>
          <a:bodyPr wrap="square" lIns="0" tIns="0" rIns="0" bIns="0" rtlCol="0" anchor="ctr"/>
          <a:lstStyle/>
          <a:p>
            <a:pPr indent="0" marL="0">
              <a:buNone/>
            </a:pPr>
            <a:r>
              <a:rPr lang="en-US" sz="1250" b="1" dirty="0">
                <a:solidFill>
                  <a:srgbClr val="18222B"/>
                </a:solidFill>
                <a:latin typeface="Calibri" pitchFamily="34" charset="0"/>
                <a:ea typeface="Calibri" pitchFamily="34" charset="-122"/>
                <a:cs typeface="Calibri" pitchFamily="34" charset="-120"/>
              </a:rPr>
              <a:t>A “correct” hydride ranking</a:t>
            </a:r>
            <a:endParaRPr lang="en-US" sz="1250" dirty="0"/>
          </a:p>
        </p:txBody>
      </p:sp>
      <p:sp>
        <p:nvSpPr>
          <p:cNvPr id="29" name="Text 27"/>
          <p:cNvSpPr txBox="1"/>
          <p:nvPr/>
        </p:nvSpPr>
        <p:spPr>
          <a:xfrm>
            <a:off x="5413248" y="5760720"/>
            <a:ext cx="5943600" cy="603504"/>
          </a:xfrm>
          <a:prstGeom prst="rect">
            <a:avLst/>
          </a:prstGeom>
          <a:noFill/>
          <a:ln/>
        </p:spPr>
        <p:txBody>
          <a:bodyPr wrap="square" lIns="0" tIns="0" rIns="0" bIns="0" rtlCol="0" anchor="ctr"/>
          <a:lstStyle/>
          <a:p>
            <a:pPr indent="0" marL="0">
              <a:buNone/>
            </a:pPr>
            <a:r>
              <a:rPr lang="en-US" sz="1150" dirty="0">
                <a:solidFill>
                  <a:srgbClr val="5B6B78"/>
                </a:solidFill>
                <a:latin typeface="Calibri" pitchFamily="34" charset="0"/>
                <a:ea typeface="Calibri" pitchFamily="34" charset="-122"/>
                <a:cs typeface="Calibri" pitchFamily="34" charset="-120"/>
              </a:rPr>
              <a:t>The paper publishes no scores. One ranking as the answer would manufacture authority.</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8222B"/>
        </a:solidFill>
      </p:bgPr>
    </p:bg>
    <p:spTree>
      <p:nvGrpSpPr>
        <p:cNvPr id="1" name=""/>
        <p:cNvGrpSpPr/>
        <p:nvPr/>
      </p:nvGrpSpPr>
      <p:grpSpPr>
        <a:xfrm>
          <a:off x="0" y="0"/>
          <a:ext cx="0" cy="0"/>
          <a:chOff x="0" y="0"/>
          <a:chExt cx="0" cy="0"/>
        </a:xfrm>
      </p:grpSpPr>
      <p:sp>
        <p:nvSpPr>
          <p:cNvPr id="2" name="Shape 0"/>
          <p:cNvSpPr/>
          <p:nvPr/>
        </p:nvSpPr>
        <p:spPr>
          <a:xfrm>
            <a:off x="566928" y="1051560"/>
            <a:ext cx="3538728" cy="292608"/>
          </a:xfrm>
          <a:prstGeom prst="roundRect">
            <a:avLst>
              <a:gd name="adj" fmla="val 50000"/>
            </a:avLst>
          </a:prstGeom>
          <a:solidFill>
            <a:srgbClr val="C2410C"/>
          </a:solidFill>
          <a:ln w="12700">
            <a:solidFill>
              <a:srgbClr val="C2410C"/>
            </a:solidFill>
            <a:prstDash val="solid"/>
          </a:ln>
        </p:spPr>
      </p:sp>
      <p:sp>
        <p:nvSpPr>
          <p:cNvPr id="3" name="Text 1"/>
          <p:cNvSpPr txBox="1"/>
          <p:nvPr/>
        </p:nvSpPr>
        <p:spPr>
          <a:xfrm>
            <a:off x="566928" y="1051560"/>
            <a:ext cx="3538728" cy="292608"/>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15  ·  WHY THIS, WHY ME</a:t>
            </a:r>
            <a:endParaRPr lang="en-US" sz="1050" dirty="0"/>
          </a:p>
        </p:txBody>
      </p:sp>
      <p:sp>
        <p:nvSpPr>
          <p:cNvPr id="4" name="Text 2"/>
          <p:cNvSpPr txBox="1"/>
          <p:nvPr/>
        </p:nvSpPr>
        <p:spPr>
          <a:xfrm>
            <a:off x="566928" y="1572768"/>
            <a:ext cx="10515600" cy="1188720"/>
          </a:xfrm>
          <a:prstGeom prst="rect">
            <a:avLst/>
          </a:prstGeom>
          <a:noFill/>
          <a:ln/>
        </p:spPr>
        <p:txBody>
          <a:bodyPr wrap="square" lIns="0" tIns="0" rIns="0" bIns="0" rtlCol="0" anchor="ctr"/>
          <a:lstStyle/>
          <a:p>
            <a:pPr indent="0" marL="0">
              <a:lnSpc>
                <a:spcPts val="4000"/>
              </a:lnSpc>
              <a:buNone/>
            </a:pPr>
            <a:r>
              <a:rPr lang="en-US" sz="2900" b="1" dirty="0">
                <a:solidFill>
                  <a:srgbClr val="FFFFFF"/>
                </a:solidFill>
                <a:latin typeface="Cambria" pitchFamily="34" charset="0"/>
                <a:ea typeface="Cambria" pitchFamily="34" charset="-122"/>
                <a:cs typeface="Cambria" pitchFamily="34" charset="-120"/>
              </a:rPr>
              <a:t>I am not switching careers.</a:t>
            </a:r>
            <a:endParaRPr lang="en-US" sz="2900" dirty="0"/>
          </a:p>
          <a:p>
            <a:pPr indent="0" marL="0">
              <a:lnSpc>
                <a:spcPts val="4000"/>
              </a:lnSpc>
              <a:buNone/>
            </a:pPr>
            <a:r>
              <a:rPr lang="en-US" sz="2900" b="1" dirty="0">
                <a:solidFill>
                  <a:srgbClr val="FFFFFF"/>
                </a:solidFill>
                <a:latin typeface="Cambria" pitchFamily="34" charset="0"/>
                <a:ea typeface="Cambria" pitchFamily="34" charset="-122"/>
                <a:cs typeface="Cambria" pitchFamily="34" charset="-120"/>
              </a:rPr>
              <a:t>I am moving a proven delivery capability into a new domain.</a:t>
            </a:r>
            <a:endParaRPr lang="en-US" sz="2900" dirty="0"/>
          </a:p>
        </p:txBody>
      </p:sp>
      <p:sp>
        <p:nvSpPr>
          <p:cNvPr id="5" name="Shape 3"/>
          <p:cNvSpPr/>
          <p:nvPr/>
        </p:nvSpPr>
        <p:spPr>
          <a:xfrm>
            <a:off x="566928" y="3063240"/>
            <a:ext cx="3502152" cy="1965960"/>
          </a:xfrm>
          <a:prstGeom prst="roundRect">
            <a:avLst>
              <a:gd name="adj" fmla="val 3721"/>
            </a:avLst>
          </a:prstGeom>
          <a:solidFill>
            <a:srgbClr val="222D38"/>
          </a:solidFill>
          <a:ln w="9525">
            <a:solidFill>
              <a:srgbClr val="2F3D4A"/>
            </a:solidFill>
            <a:prstDash val="solid"/>
          </a:ln>
        </p:spPr>
      </p:sp>
      <p:sp>
        <p:nvSpPr>
          <p:cNvPr id="6" name="Text 4"/>
          <p:cNvSpPr txBox="1"/>
          <p:nvPr/>
        </p:nvSpPr>
        <p:spPr>
          <a:xfrm>
            <a:off x="859536" y="3291840"/>
            <a:ext cx="2916936" cy="329184"/>
          </a:xfrm>
          <a:prstGeom prst="rect">
            <a:avLst/>
          </a:prstGeom>
          <a:noFill/>
          <a:ln/>
        </p:spPr>
        <p:txBody>
          <a:bodyPr wrap="square" lIns="0" tIns="0" rIns="0" bIns="0" rtlCol="0" anchor="ctr"/>
          <a:lstStyle/>
          <a:p>
            <a:pPr indent="0" marL="0">
              <a:buNone/>
            </a:pPr>
            <a:r>
              <a:rPr lang="en-US" sz="1500" b="1" dirty="0">
                <a:solidFill>
                  <a:srgbClr val="6FA8CE"/>
                </a:solidFill>
                <a:latin typeface="Cambria" pitchFamily="34" charset="0"/>
                <a:ea typeface="Cambria" pitchFamily="34" charset="-122"/>
                <a:cs typeface="Cambria" pitchFamily="34" charset="-120"/>
              </a:rPr>
              <a:t>Life-science consulting</a:t>
            </a:r>
            <a:endParaRPr lang="en-US" sz="1500" dirty="0"/>
          </a:p>
        </p:txBody>
      </p:sp>
      <p:sp>
        <p:nvSpPr>
          <p:cNvPr id="7" name="Text 5"/>
          <p:cNvSpPr txBox="1"/>
          <p:nvPr/>
        </p:nvSpPr>
        <p:spPr>
          <a:xfrm>
            <a:off x="859536" y="3694176"/>
            <a:ext cx="2916936" cy="1234440"/>
          </a:xfrm>
          <a:prstGeom prst="rect">
            <a:avLst/>
          </a:prstGeom>
          <a:noFill/>
          <a:ln/>
        </p:spPr>
        <p:txBody>
          <a:bodyPr wrap="square" lIns="0" tIns="0" rIns="0" bIns="0" rtlCol="0" anchor="t"/>
          <a:lstStyle/>
          <a:p>
            <a:pPr indent="0" marL="0">
              <a:lnSpc>
                <a:spcPts val="1500"/>
              </a:lnSpc>
              <a:buNone/>
            </a:pPr>
            <a:r>
              <a:rPr lang="en-US" sz="1100" dirty="0">
                <a:solidFill>
                  <a:srgbClr val="9CACBA"/>
                </a:solidFill>
                <a:latin typeface="Calibri" pitchFamily="34" charset="0"/>
                <a:ea typeface="Calibri" pitchFamily="34" charset="-122"/>
                <a:cs typeface="Calibri" pitchFamily="34" charset="-120"/>
              </a:rPr>
              <a:t>A lab's bottleneck is usually its process and feedback loops, not a single technique. Optimizing R&amp;D workflows is what I did.</a:t>
            </a:r>
            <a:endParaRPr lang="en-US" sz="1100" dirty="0"/>
          </a:p>
        </p:txBody>
      </p:sp>
      <p:sp>
        <p:nvSpPr>
          <p:cNvPr id="8" name="Shape 6"/>
          <p:cNvSpPr/>
          <p:nvPr/>
        </p:nvSpPr>
        <p:spPr>
          <a:xfrm>
            <a:off x="4343400" y="3063240"/>
            <a:ext cx="3502152" cy="1965960"/>
          </a:xfrm>
          <a:prstGeom prst="roundRect">
            <a:avLst>
              <a:gd name="adj" fmla="val 3721"/>
            </a:avLst>
          </a:prstGeom>
          <a:solidFill>
            <a:srgbClr val="222D38"/>
          </a:solidFill>
          <a:ln w="9525">
            <a:solidFill>
              <a:srgbClr val="2F3D4A"/>
            </a:solidFill>
            <a:prstDash val="solid"/>
          </a:ln>
        </p:spPr>
      </p:sp>
      <p:sp>
        <p:nvSpPr>
          <p:cNvPr id="9" name="Text 7"/>
          <p:cNvSpPr txBox="1"/>
          <p:nvPr/>
        </p:nvSpPr>
        <p:spPr>
          <a:xfrm>
            <a:off x="4636008" y="3291840"/>
            <a:ext cx="2916936" cy="329184"/>
          </a:xfrm>
          <a:prstGeom prst="rect">
            <a:avLst/>
          </a:prstGeom>
          <a:noFill/>
          <a:ln/>
        </p:spPr>
        <p:txBody>
          <a:bodyPr wrap="square" lIns="0" tIns="0" rIns="0" bIns="0" rtlCol="0" anchor="ctr"/>
          <a:lstStyle/>
          <a:p>
            <a:pPr indent="0" marL="0">
              <a:buNone/>
            </a:pPr>
            <a:r>
              <a:rPr lang="en-US" sz="1500" b="1" dirty="0">
                <a:solidFill>
                  <a:srgbClr val="6FA8CE"/>
                </a:solidFill>
                <a:latin typeface="Cambria" pitchFamily="34" charset="0"/>
                <a:ea typeface="Cambria" pitchFamily="34" charset="-122"/>
                <a:cs typeface="Cambria" pitchFamily="34" charset="-120"/>
              </a:rPr>
              <a:t>0→1 founder</a:t>
            </a:r>
            <a:endParaRPr lang="en-US" sz="1500" dirty="0"/>
          </a:p>
        </p:txBody>
      </p:sp>
      <p:sp>
        <p:nvSpPr>
          <p:cNvPr id="10" name="Text 8"/>
          <p:cNvSpPr txBox="1"/>
          <p:nvPr/>
        </p:nvSpPr>
        <p:spPr>
          <a:xfrm>
            <a:off x="4636008" y="3694176"/>
            <a:ext cx="2916936" cy="1234440"/>
          </a:xfrm>
          <a:prstGeom prst="rect">
            <a:avLst/>
          </a:prstGeom>
          <a:noFill/>
          <a:ln/>
        </p:spPr>
        <p:txBody>
          <a:bodyPr wrap="square" lIns="0" tIns="0" rIns="0" bIns="0" rtlCol="0" anchor="t"/>
          <a:lstStyle/>
          <a:p>
            <a:pPr indent="0" marL="0">
              <a:lnSpc>
                <a:spcPts val="1500"/>
              </a:lnSpc>
              <a:buNone/>
            </a:pPr>
            <a:r>
              <a:rPr lang="en-US" sz="1100" dirty="0">
                <a:solidFill>
                  <a:srgbClr val="9CACBA"/>
                </a:solidFill>
                <a:latin typeface="Calibri" pitchFamily="34" charset="0"/>
                <a:ea typeface="Calibri" pitchFamily="34" charset="-122"/>
                <a:cs typeface="Calibri" pitchFamily="34" charset="-120"/>
              </a:rPr>
              <a:t>Built and shipped end to end under ambiguity and resource constraints, owning the outcome. This orchestrator is the same instinct in a new domain.</a:t>
            </a:r>
            <a:endParaRPr lang="en-US" sz="1100" dirty="0"/>
          </a:p>
        </p:txBody>
      </p:sp>
      <p:sp>
        <p:nvSpPr>
          <p:cNvPr id="11" name="Shape 9"/>
          <p:cNvSpPr/>
          <p:nvPr/>
        </p:nvSpPr>
        <p:spPr>
          <a:xfrm>
            <a:off x="8119872" y="3063240"/>
            <a:ext cx="3502152" cy="1965960"/>
          </a:xfrm>
          <a:prstGeom prst="roundRect">
            <a:avLst>
              <a:gd name="adj" fmla="val 3721"/>
            </a:avLst>
          </a:prstGeom>
          <a:solidFill>
            <a:srgbClr val="222D38"/>
          </a:solidFill>
          <a:ln w="9525">
            <a:solidFill>
              <a:srgbClr val="2F3D4A"/>
            </a:solidFill>
            <a:prstDash val="solid"/>
          </a:ln>
        </p:spPr>
      </p:sp>
      <p:sp>
        <p:nvSpPr>
          <p:cNvPr id="12" name="Text 10"/>
          <p:cNvSpPr txBox="1"/>
          <p:nvPr/>
        </p:nvSpPr>
        <p:spPr>
          <a:xfrm>
            <a:off x="8412480" y="3291840"/>
            <a:ext cx="2916936" cy="329184"/>
          </a:xfrm>
          <a:prstGeom prst="rect">
            <a:avLst/>
          </a:prstGeom>
          <a:noFill/>
          <a:ln/>
        </p:spPr>
        <p:txBody>
          <a:bodyPr wrap="square" lIns="0" tIns="0" rIns="0" bIns="0" rtlCol="0" anchor="ctr"/>
          <a:lstStyle/>
          <a:p>
            <a:pPr indent="0" marL="0">
              <a:buNone/>
            </a:pPr>
            <a:r>
              <a:rPr lang="en-US" sz="1500" b="1" dirty="0">
                <a:solidFill>
                  <a:srgbClr val="6FA8CE"/>
                </a:solidFill>
                <a:latin typeface="Cambria" pitchFamily="34" charset="0"/>
                <a:ea typeface="Cambria" pitchFamily="34" charset="-122"/>
                <a:cs typeface="Cambria" pitchFamily="34" charset="-120"/>
              </a:rPr>
              <a:t>Platform growth at scale</a:t>
            </a:r>
            <a:endParaRPr lang="en-US" sz="1500" dirty="0"/>
          </a:p>
        </p:txBody>
      </p:sp>
      <p:sp>
        <p:nvSpPr>
          <p:cNvPr id="13" name="Text 11"/>
          <p:cNvSpPr txBox="1"/>
          <p:nvPr/>
        </p:nvSpPr>
        <p:spPr>
          <a:xfrm>
            <a:off x="8412480" y="3694176"/>
            <a:ext cx="2916936" cy="1234440"/>
          </a:xfrm>
          <a:prstGeom prst="rect">
            <a:avLst/>
          </a:prstGeom>
          <a:noFill/>
          <a:ln/>
        </p:spPr>
        <p:txBody>
          <a:bodyPr wrap="square" lIns="0" tIns="0" rIns="0" bIns="0" rtlCol="0" anchor="t"/>
          <a:lstStyle/>
          <a:p>
            <a:pPr indent="0" marL="0">
              <a:lnSpc>
                <a:spcPts val="1500"/>
              </a:lnSpc>
              <a:buNone/>
            </a:pPr>
            <a:r>
              <a:rPr lang="en-US" sz="1100" dirty="0">
                <a:solidFill>
                  <a:srgbClr val="9CACBA"/>
                </a:solidFill>
                <a:latin typeface="Calibri" pitchFamily="34" charset="0"/>
                <a:ea typeface="Calibri" pitchFamily="34" charset="-122"/>
                <a:cs typeface="Calibri" pitchFamily="34" charset="-120"/>
              </a:rPr>
              <a:t>Coordinated engineering, product and data teams, and translated technical work into measurable impact — the research-to-impact translation this work centres on.</a:t>
            </a:r>
            <a:endParaRPr lang="en-US" sz="1100" dirty="0"/>
          </a:p>
        </p:txBody>
      </p:sp>
      <p:sp>
        <p:nvSpPr>
          <p:cNvPr id="14" name="Text 12"/>
          <p:cNvSpPr txBox="1"/>
          <p:nvPr/>
        </p:nvSpPr>
        <p:spPr>
          <a:xfrm>
            <a:off x="566928" y="5166360"/>
            <a:ext cx="10515600" cy="548640"/>
          </a:xfrm>
          <a:prstGeom prst="rect">
            <a:avLst/>
          </a:prstGeom>
          <a:noFill/>
          <a:ln/>
        </p:spPr>
        <p:txBody>
          <a:bodyPr wrap="square" lIns="0" tIns="0" rIns="0" bIns="0" rtlCol="0" anchor="ctr"/>
          <a:lstStyle/>
          <a:p>
            <a:pPr indent="0" marL="0">
              <a:lnSpc>
                <a:spcPts val="2000"/>
              </a:lnSpc>
              <a:buNone/>
            </a:pPr>
            <a:r>
              <a:rPr lang="en-US" sz="1400" dirty="0">
                <a:solidFill>
                  <a:srgbClr val="C3D0DA"/>
                </a:solidFill>
                <a:latin typeface="Calibri" pitchFamily="34" charset="0"/>
                <a:ea typeface="Calibri" pitchFamily="34" charset="-122"/>
                <a:cs typeface="Calibri" pitchFamily="34" charset="-120"/>
              </a:rPr>
              <a:t>What this prototype adds is the domain-technical layer: I understand the closed loop, the data, and the governance well enough to run programmes in it.</a:t>
            </a:r>
            <a:endParaRPr lang="en-US" sz="1400" dirty="0"/>
          </a:p>
        </p:txBody>
      </p:sp>
      <p:sp>
        <p:nvSpPr>
          <p:cNvPr id="15" name="Text 13"/>
          <p:cNvSpPr txBox="1"/>
          <p:nvPr/>
        </p:nvSpPr>
        <p:spPr>
          <a:xfrm>
            <a:off x="566928" y="5897880"/>
            <a:ext cx="10515600" cy="320040"/>
          </a:xfrm>
          <a:prstGeom prst="rect">
            <a:avLst/>
          </a:prstGeom>
          <a:noFill/>
          <a:ln/>
        </p:spPr>
        <p:txBody>
          <a:bodyPr wrap="square" lIns="0" tIns="0" rIns="0" bIns="0" rtlCol="0" anchor="ctr"/>
          <a:lstStyle/>
          <a:p>
            <a:pPr indent="0" marL="0">
              <a:buNone/>
            </a:pPr>
            <a:r>
              <a:rPr lang="en-US" sz="1100" dirty="0">
                <a:solidFill>
                  <a:srgbClr val="7E8E9C"/>
                </a:solidFill>
                <a:latin typeface="Courier New" pitchFamily="34" charset="0"/>
                <a:ea typeface="Courier New" pitchFamily="34" charset="-122"/>
                <a:cs typeface="Courier New" pitchFamily="34" charset="-120"/>
              </a:rPr>
              <a:t>github.com/dekunsun/ai-to-lab-orchestrator   ·   65 tests   ·   docs/architecture.md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AI-to-Lab Orchestrator</dc:title>
  <dc:subject>PptxGenJS Presentation</dc:subject>
  <dc:creator>AI-to-Lab Orchestrator</dc:creator>
  <cp:lastModifiedBy>AI-to-Lab Orchestrator</cp:lastModifiedBy>
  <cp:revision>1</cp:revision>
  <dcterms:created xsi:type="dcterms:W3CDTF">2026-09-16T23:59:53Z</dcterms:created>
  <dcterms:modified xsi:type="dcterms:W3CDTF">2026-09-16T23:59:53Z</dcterms:modified>
</cp:coreProperties>
</file>