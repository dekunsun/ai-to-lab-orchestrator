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Bayesian optimization</c:v>
                </c:pt>
              </c:strCache>
            </c:strRef>
          </c:tx>
          <c:spPr>
            <a:solidFill>
              <a:srgbClr val="1F5F8B"/>
            </a:solidFill>
            <a:ln w="38100" cap="flat">
              <a:solidFill>
                <a:srgbClr val="1F5F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5F8B"/>
              </a:solidFill>
              <a:ln w="9525" cap="flat">
                <a:solidFill>
                  <a:srgbClr val="1F5F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5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15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0.2212</c:v>
                </c:pt>
                <c:pt idx="1">
                  <c:v>0.388</c:v>
                </c:pt>
                <c:pt idx="2">
                  <c:v>0.4462</c:v>
                </c:pt>
                <c:pt idx="3">
                  <c:v>0.4777</c:v>
                </c:pt>
                <c:pt idx="4">
                  <c:v>0.5291</c:v>
                </c:pt>
                <c:pt idx="5">
                  <c:v>0.574</c:v>
                </c:pt>
                <c:pt idx="6">
                  <c:v>0.574</c:v>
                </c:pt>
                <c:pt idx="7">
                  <c:v>0.5802</c:v>
                </c:pt>
                <c:pt idx="8">
                  <c:v>0.5802</c:v>
                </c:pt>
                <c:pt idx="9">
                  <c:v>0.5886</c:v>
                </c:pt>
                <c:pt idx="10">
                  <c:v>0.6188</c:v>
                </c:pt>
                <c:pt idx="11">
                  <c:v>0.6364</c:v>
                </c:pt>
                <c:pt idx="12">
                  <c:v>0.6412</c:v>
                </c:pt>
                <c:pt idx="13">
                  <c:v>0.6709</c:v>
                </c:pt>
                <c:pt idx="14">
                  <c:v>0.7031</c:v>
                </c:pt>
                <c:pt idx="15">
                  <c:v>0.7031</c:v>
                </c:pt>
                <c:pt idx="16">
                  <c:v>0.7031</c:v>
                </c:pt>
                <c:pt idx="17">
                  <c:v>0.7358</c:v>
                </c:pt>
                <c:pt idx="18">
                  <c:v>0.7499</c:v>
                </c:pt>
                <c:pt idx="19">
                  <c:v>0.752</c:v>
                </c:pt>
                <c:pt idx="20">
                  <c:v>0.752</c:v>
                </c:pt>
                <c:pt idx="21">
                  <c:v>0.7607</c:v>
                </c:pt>
                <c:pt idx="22">
                  <c:v>0.77</c:v>
                </c:pt>
                <c:pt idx="23">
                  <c:v>0.7782</c:v>
                </c:pt>
                <c:pt idx="24">
                  <c:v>0.7782</c:v>
                </c:pt>
                <c:pt idx="25">
                  <c:v>0.7974</c:v>
                </c:pt>
                <c:pt idx="26">
                  <c:v>0.8078</c:v>
                </c:pt>
                <c:pt idx="27">
                  <c:v>0.8177</c:v>
                </c:pt>
                <c:pt idx="28">
                  <c:v>0.8177</c:v>
                </c:pt>
                <c:pt idx="29">
                  <c:v>0.8177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search</c:v>
                </c:pt>
              </c:strCache>
            </c:strRef>
          </c:tx>
          <c:spPr>
            <a:solidFill>
              <a:srgbClr val="9AA7B2"/>
            </a:solidFill>
            <a:ln w="38100" cap="flat">
              <a:solidFill>
                <a:srgbClr val="9AA7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7B2"/>
              </a:solidFill>
              <a:ln w="9525" cap="flat">
                <a:solidFill>
                  <a:srgbClr val="9AA7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5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15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0.2212</c:v>
                </c:pt>
                <c:pt idx="1">
                  <c:v>0.388</c:v>
                </c:pt>
                <c:pt idx="2">
                  <c:v>0.4462</c:v>
                </c:pt>
                <c:pt idx="3">
                  <c:v>0.4777</c:v>
                </c:pt>
                <c:pt idx="4">
                  <c:v>0.5291</c:v>
                </c:pt>
                <c:pt idx="5">
                  <c:v>0.5722</c:v>
                </c:pt>
                <c:pt idx="6">
                  <c:v>0.5802</c:v>
                </c:pt>
                <c:pt idx="7">
                  <c:v>0.5842</c:v>
                </c:pt>
                <c:pt idx="8">
                  <c:v>0.6069</c:v>
                </c:pt>
                <c:pt idx="9">
                  <c:v>0.6294</c:v>
                </c:pt>
                <c:pt idx="10">
                  <c:v>0.6334</c:v>
                </c:pt>
                <c:pt idx="11">
                  <c:v>0.6334</c:v>
                </c:pt>
                <c:pt idx="12">
                  <c:v>0.6334</c:v>
                </c:pt>
                <c:pt idx="13">
                  <c:v>0.6334</c:v>
                </c:pt>
                <c:pt idx="14">
                  <c:v>0.6334</c:v>
                </c:pt>
                <c:pt idx="15">
                  <c:v>0.648</c:v>
                </c:pt>
                <c:pt idx="16">
                  <c:v>0.6672</c:v>
                </c:pt>
                <c:pt idx="17">
                  <c:v>0.6692</c:v>
                </c:pt>
                <c:pt idx="18">
                  <c:v>0.6751</c:v>
                </c:pt>
                <c:pt idx="19">
                  <c:v>0.6898</c:v>
                </c:pt>
                <c:pt idx="20">
                  <c:v>0.6898</c:v>
                </c:pt>
                <c:pt idx="21">
                  <c:v>0.6898</c:v>
                </c:pt>
                <c:pt idx="22">
                  <c:v>0.6898</c:v>
                </c:pt>
                <c:pt idx="23">
                  <c:v>0.6898</c:v>
                </c:pt>
                <c:pt idx="24">
                  <c:v>0.691</c:v>
                </c:pt>
                <c:pt idx="25">
                  <c:v>0.6999</c:v>
                </c:pt>
                <c:pt idx="26">
                  <c:v>0.71</c:v>
                </c:pt>
                <c:pt idx="27">
                  <c:v>0.7177</c:v>
                </c:pt>
                <c:pt idx="28">
                  <c:v>0.7243</c:v>
                </c:pt>
                <c:pt idx="29">
                  <c:v>0.7243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Noise-free ceiling</c:v>
                </c:pt>
              </c:strCache>
            </c:strRef>
          </c:tx>
          <c:spPr>
            <a:solidFill>
              <a:srgbClr val="CDD6DE"/>
            </a:solidFill>
            <a:ln w="38100" cap="flat">
              <a:solidFill>
                <a:srgbClr val="CDD6D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DD6DE"/>
              </a:solidFill>
              <a:ln w="9525" cap="flat">
                <a:solidFill>
                  <a:srgbClr val="CDD6D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5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>10</c:v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15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20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0.897</c:v>
                </c:pt>
                <c:pt idx="1">
                  <c:v>0.897</c:v>
                </c:pt>
                <c:pt idx="2">
                  <c:v>0.897</c:v>
                </c:pt>
                <c:pt idx="3">
                  <c:v>0.897</c:v>
                </c:pt>
                <c:pt idx="4">
                  <c:v>0.897</c:v>
                </c:pt>
                <c:pt idx="5">
                  <c:v>0.897</c:v>
                </c:pt>
                <c:pt idx="6">
                  <c:v>0.897</c:v>
                </c:pt>
                <c:pt idx="7">
                  <c:v>0.897</c:v>
                </c:pt>
                <c:pt idx="8">
                  <c:v>0.897</c:v>
                </c:pt>
                <c:pt idx="9">
                  <c:v>0.897</c:v>
                </c:pt>
                <c:pt idx="10">
                  <c:v>0.897</c:v>
                </c:pt>
                <c:pt idx="11">
                  <c:v>0.897</c:v>
                </c:pt>
                <c:pt idx="12">
                  <c:v>0.897</c:v>
                </c:pt>
                <c:pt idx="13">
                  <c:v>0.897</c:v>
                </c:pt>
                <c:pt idx="14">
                  <c:v>0.897</c:v>
                </c:pt>
                <c:pt idx="15">
                  <c:v>0.897</c:v>
                </c:pt>
                <c:pt idx="16">
                  <c:v>0.897</c:v>
                </c:pt>
                <c:pt idx="17">
                  <c:v>0.897</c:v>
                </c:pt>
                <c:pt idx="18">
                  <c:v>0.897</c:v>
                </c:pt>
                <c:pt idx="19">
                  <c:v>0.897</c:v>
                </c:pt>
                <c:pt idx="20">
                  <c:v>0.897</c:v>
                </c:pt>
                <c:pt idx="21">
                  <c:v>0.897</c:v>
                </c:pt>
                <c:pt idx="22">
                  <c:v>0.897</c:v>
                </c:pt>
                <c:pt idx="23">
                  <c:v>0.897</c:v>
                </c:pt>
                <c:pt idx="24">
                  <c:v>0.897</c:v>
                </c:pt>
                <c:pt idx="25">
                  <c:v>0.897</c:v>
                </c:pt>
                <c:pt idx="26">
                  <c:v>0.897</c:v>
                </c:pt>
                <c:pt idx="27">
                  <c:v>0.897</c:v>
                </c:pt>
                <c:pt idx="28">
                  <c:v>0.897</c:v>
                </c:pt>
                <c:pt idx="29">
                  <c:v>0.897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5B6B78"/>
                    </a:solidFill>
                    <a:latin typeface="Calibri"/>
                  </a:defRPr>
                </a:pPr>
                <a:r>
                  <a:rPr sz="1050" b="0" i="0" u="none" strike="noStrike">
                    <a:solidFill>
                      <a:srgbClr val="5B6B78"/>
                    </a:solidFill>
                    <a:latin typeface="Calibri"/>
                  </a:rPr>
                  <a:t>Experiments run (fixed budget of 30)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4DCE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2"/>
        </c:scaling>
        <c:delete val="0"/>
        <c:axPos val="l"/>
        <c:majorGridlines>
          <c:spPr>
            <a:ln w="12700" cap="flat">
              <a:solidFill>
                <a:srgbClr val="E2E8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5B6B78"/>
                    </a:solidFill>
                    <a:latin typeface="Calibri"/>
                  </a:defRPr>
                </a:pPr>
                <a:r>
                  <a:rPr sz="1050" b="0" i="0" u="none" strike="noStrike">
                    <a:solidFill>
                      <a:srgbClr val="5B6B78"/>
                    </a:solidFill>
                    <a:latin typeface="Calibri"/>
                  </a:rPr>
                  <a:t>Best objective found so far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B6B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frame: this is an operating-layer project, not a materials-modelling project. The claim I am making is about systems, data and governance judgment — and I say up front that it is not a physics simulator, because that boundary is the thing I want to be trusted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to land: I am not claiming to out-model a computational materials scientist. I am claiming the bottleneck sits in the operational layer, and that I understand it well enough to run programmes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five: because these are the five questions that have different owners in a real lab. Instruments, scheduling, data, science strategy, and safety are not one person's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I would lead with if I only had one. Knowing where it is legitimate to simulate and where it is not is the judgment the role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between blocked and failed is the single detail that most reliably shows I have thought about lab economics rather than just about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 I know BO is better: fixed budget, 30 seeds, median and IQR rather than a single trajectory, and common random numbers so the per-seed comparison is actually paired.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caveats are printed in the dashboard UI and the README, not just in this deck. That is the point — the honesty is in the product, not in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that the scores are not comparable across rows is the whole slide. A candidate who shows this table without that caveat has shown a bug, not a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Sanna, Cerqueira, Cubuk, Errea and Fang, Communications Physics 2026. I transcribed from the preprint; the refined Tc is reported four different ways in the paper and SOURCE.md records that ambiguity rather than hiding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technetium finding is the one to lead with in conversation: it is checkable, it is chemistry rather than modelling, and it reframes the whole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what the hardest architectural decision was: making triage an entry point into the existing loop rather than a parallel module. It is the difference between a system and a portfolio of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Prompted by watching how an automated-lab company actually runs their floor: an operator with gloves on, working from a tablet at the bench. That fixed the form 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me from a candidate who only shows what worked. The pattern across all five is the same: the failure mode that matters is the silent one, where the system looks right and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a judgment call I would defend. In a real programme, deciding what not to build is most of the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intent, not on modesty. The seniority question is answered by saying plainly that I am optimizing for direction and team, not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422452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371600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 ·  AI FOR SCIENCE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11055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AI-to-Lab Orchestrator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260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AE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layer between an AI's next-experiment suggestion</a:t>
            </a:r>
            <a:endParaRPr lang="en-US" sz="18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AE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evidence that it actually ran.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343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both defensible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4343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the governance layer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973568" y="4343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x 30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973568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benchmark, reproducible from one script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98932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self-driving-lab orchestration prototype for materials discovery  ·  not a physics simulator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Predictions outpace validation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propose candidates far faster than labs can evaluate them. The bottleneck is not model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— it is that a prediction does not automatically become an experiment, an experiment does not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become trustworthy data, and trustworthy data does not automatically become a decision.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880360"/>
            <a:ext cx="56692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540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9169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try next?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by whose definition of a good result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630168"/>
            <a:ext cx="56692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80390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666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safe to run?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9227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legal values can be jointly unsafe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379976"/>
            <a:ext cx="56692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5537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15568" y="44165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actually run?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46725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did it fail, and was the failure recorded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129784"/>
            <a:ext cx="56692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3035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15568" y="5166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data good enough?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" y="5422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completed run deserves to be believed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879592"/>
            <a:ext cx="56692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605332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15568" y="59161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we learn?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" y="6172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hypothesis did this settle, if any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75120" y="288036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18222B"/>
          </a:solidFill>
          <a:ln w="9525">
            <a:solidFill>
              <a:srgbClr val="1822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67728" y="3200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that gap is operational.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4023360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Scheduling. Validation. Safety review. Provenance. Data quality. Deciding what is even eligible to feed back into a model.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is a modelling problem. All of it decides how fast the loop actually turns — and the speed of that loop is the ceiling on how fast an AI-for-science programme can iterate.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what I built.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271576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THE SYSTEM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layers, each answering one question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105509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2880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contracts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84448" y="182880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device changes its output shape, do we find out?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058400" y="204825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12700">
            <a:solidFill>
              <a:srgbClr val="EFD9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20482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724912"/>
            <a:ext cx="1105509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7249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724912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an intent become an auditable sequence of steps?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058400" y="29443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 w="12700">
            <a:solidFill>
              <a:srgbClr val="BEDC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0" y="294436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3621024"/>
            <a:ext cx="1105509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62102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data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621024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system's memory? Do failures count as data?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0" y="384048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12700">
            <a:solidFill>
              <a:srgbClr val="EFD9A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0" y="384048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517136"/>
            <a:ext cx="1105509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517136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84448" y="4517136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next, and by whose definition of “good”?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058400" y="473659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 w="12700">
            <a:solidFill>
              <a:srgbClr val="BEDC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0" y="47365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1105509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413248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5413248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approved this, and which data may train a model?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058400" y="563270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 w="12700">
            <a:solidFill>
              <a:srgbClr val="BEDCC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0" y="56327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093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so each can be reasoned about — and swapped — on its own. The optimizer sits behind a two-method interface; the dashboard renders state and owns no workflow logic; orchestration and decisions run headless without importing Streamlit.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353872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DESIGN PRINCIPLE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Scientific honesty over fake physics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physical fidelity matters, use published data. Where systems benchmarking matters, use a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surrogate that is honest about being one. The two use cases were chosen to sit on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 of that line.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834640"/>
            <a:ext cx="521208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30632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SURROGATE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CdTe thin-film process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8862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benchmark environment for orchestration and optimization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hard: observation noise, a narrow non-smooth treatment window, an over-treatment cliff, parameter interactions, outright failures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Literature-inspired in qualitative behaviour only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52578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not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550468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physically accurate CdTe simulator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claim about real device efficiency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21208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0" y="306324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DATA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Hydride superconductors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88620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candidates transcribed verbatim from Sanna et al., Communications Physics (2026)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decision policy and validation planning built on top of published values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enforced as a file boundary, with a test to hold it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52578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not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550468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simulation of DFPT, electron-phonon coupling or Tc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score the paper did not publish, presented as though it had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271576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USE CASE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closed loop, and what it refuses to 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98424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066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487168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suggests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parameters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569464" y="24688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1920240"/>
            <a:ext cx="198424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35808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01568" y="2066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35808" y="2487168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bounds, then hazard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 combinations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37176" y="24688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920240"/>
            <a:ext cx="198424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066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487168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virtual instruments,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YAML order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104888" y="24688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70064" y="1920240"/>
            <a:ext cx="198424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71232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066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571232" y="2487168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become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number, via policy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46888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637776" y="1920240"/>
            <a:ext cx="198424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38944" y="20665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204704" y="20665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838944" y="2487168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clean, successful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feed back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840480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DEEE6"/>
          </a:solidFill>
          <a:ln w="9525">
            <a:solidFill>
              <a:srgbClr val="F0C4A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59536" y="4069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blocked  ≠  failed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859536" y="45262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means a sample was consumed and produced nothing. A block means the gate refused to consume one at all. They cost a real lab completely different amounts, so they are separate statuses and the benchmark reports them separately.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blocked experiment runs zero devices.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92240" y="384048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84848" y="4041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guardrail is set inside the uncertainty band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84848" y="45537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blocks at  440 °C / 40 min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degrades at  450 °C / 45 min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784848" y="523036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lab does not know exactly where the cliff is, so the rule fires before the sample is destroyed. This costs reachable search space — which is why blocked is reported as its own rate. Governance is not free, and the system shows its price.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22452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DOES IT ACTUALLY WORK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optimization vs random, 30 seeds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321040" y="18288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4140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optimization, median best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[0.723, 0.855]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06324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A88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0.724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36484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search, median best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[0.663, 0.806]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29768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/ 30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828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where BO won, median gap +0.093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comparison is valid because both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meet the same lab noise.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14476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slide is produced by scripts/run_cdte_benchmark.py and written to artifacts/. Nothing is hand-entered — the deck reads the same JSON the dashboard does.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395020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READING IT HONESTLY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I say before I am asked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350215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762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06040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bands overlap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06324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 wins in the median and on two seeds in three, but it does not dominate. On a five-dimensional landscape with a 30-experiment budget, clean separation would be evidence the benchmark was too easy — not evidence the optimizer is good.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920240"/>
            <a:ext cx="350215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1762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606040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 is behind early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an initial design first, so it trails random search for roughly the first ten experiments. The advantage is sample efficiency later in the budget, not from experiment one. A chart cropped at 10 would tell the opposite story.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1920240"/>
            <a:ext cx="3502152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762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2606040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exceed the ceiling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306324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dashed line is the noise-free maximum, but the reported score is a noisy observation — so best-found is an optimistically biased estimator. Taking a max over noisy draws captures luck. Any lab ranking candidates on a single best-observed inherits this, which is why replication is a governance concern.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34924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18222B"/>
          </a:solidFill>
          <a:ln w="9525">
            <a:solidFill>
              <a:srgbClr val="182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5349240"/>
            <a:ext cx="10323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that only shows what worked is asking to be caught. Putting the weaknesses in the product surface itself — they are printed in the dashboard and the README — is cheaper than being asked.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22452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22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DECISION TRANSPARENCY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weights are a policy, not a constant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phase purity worth relative to efficiency? That is a research-strategy question, not a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of an XRD machine. So the weights live in versioned policy files, every experiment records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policy scored it, and the same mechanism drives hydride triage.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26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9260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260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time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29260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temp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149840" y="29260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3310128"/>
            <a:ext cx="113111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33101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first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3101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35.9 min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33101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387.4 °C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0" y="331012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1.2 %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8912" y="3968496"/>
            <a:ext cx="113111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9684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device quality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968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0.818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9684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40.0 min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39684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387.6 °C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0" y="396849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1.3 %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8912" y="4626864"/>
            <a:ext cx="11311128" cy="566928"/>
          </a:xfrm>
          <a:prstGeom prst="roundRect">
            <a:avLst>
              <a:gd name="adj" fmla="val 12903"/>
            </a:avLst>
          </a:prstGeom>
          <a:solidFill>
            <a:srgbClr val="E9F0F6"/>
          </a:solidFill>
          <a:ln w="9525">
            <a:solidFill>
              <a:srgbClr val="BCD3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46268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Manufacturability first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297680" y="46268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0.926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462686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27.7 min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462686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388.6 °C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0" y="46268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0.9 %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44068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FDEEE6"/>
          </a:solidFill>
          <a:ln w="9525">
            <a:solidFill>
              <a:srgbClr val="F0C4A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5440680"/>
            <a:ext cx="10415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best is not comparable across these rows.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defines a different objective, so a higher number does not mean a better process. The comparable quantity is the operating point: manufacturability-first converges on a treatment twelve minutes shorter and lighter doping — a visibly more conservative process. Treatment temperature lands near 388 °C under every policy, because that window dominates the landscape. Policy influences the parameters the objective leaves room to argue about.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271576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271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USE CASE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Published data, and judgment kept visible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publishes λ, ω_log and an Allen–Dynes Tc. It publishes no score, no confidence and no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feasibility. Ranking needs those — so they are computed from documented rules and kept in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files. Provenance is a file boundary, not a convention, and a test fails if it erodes.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88036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312724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322576" y="31272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datasets/hydrides/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520440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Transcribed verbatim from Tables 1–2.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1.00 · ω_log = 341.59 K · Tc = 23.5 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288036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12724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4A86AD"/>
          </a:solidFill>
          <a:ln w="12700">
            <a:solidFill>
              <a:srgbClr val="4A86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99048" y="31272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triage/derive.py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520440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transform of published values.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confidence, from coupling regime and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refinement exists.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19872" y="288036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94192" y="312724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3127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312724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configs/triage/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520440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encoded as a versioned rule set.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feasibility, from elemental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constraints. Labelled as judgment.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937760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18222B"/>
          </a:solidFill>
          <a:ln w="9525">
            <a:solidFill>
              <a:srgbClr val="182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5138928"/>
            <a:ext cx="10323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1 of 22 candidates has a beyond-Allen–Dynes Tc.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5532120"/>
            <a:ext cx="10323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one, refinement moved 23.5 K → 17 K, which the authors call “an uncommon deviation”. Every other ranking rests on a number the paper's own authors caution against over-reading — so confidence is weighted separately from Tc, rather than folded invisibly into it.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63600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WHAT THE TRIAGE SURFACED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 a Tc-ordered list cannot show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DEEE6"/>
          </a:solidFill>
          <a:ln w="9525">
            <a:solidFill>
              <a:srgbClr val="F0C4A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of 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6700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contain technetium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980944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no stable isotope and needs a licensed facility. That constraint is visible from the formula alone and invisible in any ranking sorted by predicted Tc. Feasibility combines as a minimum, not a mean — one disqualifying element is not offset by three convenient ones.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874520"/>
            <a:ext cx="526694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0574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Ranks move with the policy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4140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High-Tc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0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6883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LiZrH6Ru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6883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6883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0" y="26883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962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Ta6MoH16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29626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9626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0" y="29626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23697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EuCdH6Ru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323697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323697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0" y="323697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35112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EuLuTcH6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0" y="35112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35112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0" y="35112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3840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EuCdH6Ru moves 2 → 9 between policies — the warning label on every other row.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370832"/>
            <a:ext cx="11055096" cy="1325880"/>
          </a:xfrm>
          <a:prstGeom prst="roundRect">
            <a:avLst>
              <a:gd name="adj" fmla="val 5517"/>
            </a:avLst>
          </a:prstGeom>
          <a:solidFill>
            <a:srgbClr val="E6F2EA"/>
          </a:solidFill>
          <a:ln w="9525">
            <a:solidFill>
              <a:srgbClr val="BEDCC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2688" y="4553712"/>
            <a:ext cx="10323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consensus shortlist is the useful output, not rank 1.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4919472"/>
            <a:ext cx="10323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LiZrH6Ru  ·  Ta6MoH16  ·  TaNb3H8  —  these sit in the top five under every policy considered. They are what a lab validates regardless of whose priorities win the argument, which is the question a programme lead actually has to answer.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8978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ranking presented as the answer would manufacture authority the data does not carry. The sensitivity view and the consensus shortlist are the honest output.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395020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ARCHITECTURE PAYOFF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system, not two demos in one repository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does not end at a ranked table. The selected candidate becomes a workflow that enters the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machinery a CdTe experiment does — same parser, same safety gate, no orchestrator changes.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6974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shortlist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569464" y="3035808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34640" y="26974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99232" y="2697480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plan</a:t>
            </a:r>
            <a:endParaRPr lang="en-US" sz="12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(generated YAML)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837176" y="3035808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02352" y="26974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E9F0F6"/>
          </a:solidFill>
          <a:ln w="9525">
            <a:solidFill>
              <a:srgbClr val="BCD3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66944" y="2697480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workflow_parser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(unchanged)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3035808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70064" y="26974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E9F0F6"/>
          </a:solidFill>
          <a:ln w="9525">
            <a:solidFill>
              <a:srgbClr val="BCD3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34656" y="2697480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safety_gate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5F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(unchanged)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372600" y="3035808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4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637776" y="2697480"/>
            <a:ext cx="198424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802368" y="2697480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2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5096" cy="1600200"/>
          </a:xfrm>
          <a:prstGeom prst="roundRect">
            <a:avLst>
              <a:gd name="adj" fmla="val 4571"/>
            </a:avLst>
          </a:prstGeom>
          <a:solidFill>
            <a:srgbClr val="18222B"/>
          </a:solidFill>
          <a:ln w="9525">
            <a:solidFill>
              <a:srgbClr val="1822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315968"/>
            <a:ext cx="10323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CdTe safety gate blocked a hydride hazard it had never seen.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" y="4709160"/>
            <a:ext cx="10323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A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750 °C  with  150 bar H₂   →   blocked: hydrogen_pressure_at_temperature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5047488"/>
            <a:ext cx="10323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values are individually within bounds. The generated workflow declares its own hazard rules and the existing gate enforces them correctly on first sight. A test asserts this — if it ever fails, the project has gone back to being two demos in one repository.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8978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stop at awaiting_device_implementation. There are no hydride synthesis devices here and none will be fabricated — simulating a hydrogenation anneal would be exactly the fake physics this project refuses. The seam sits where a real lab's seam sits.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8736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THE OPERATOR SURFACE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person actually meets the loop</a:t>
            </a:r>
            <a:endParaRPr lang="en-US" sz="3400" dirty="0"/>
          </a:p>
        </p:txBody>
      </p:sp>
      <p:pic>
        <p:nvPicPr>
          <p:cNvPr id="5" name="Image 0" descr="/Users/xtc/Downloads/ai-to-lab-orchestrator/docs/mockups/bench_review_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83080"/>
            <a:ext cx="676656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86537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73568" y="18288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approval queue is the hero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73568" y="217627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experiment is the only thing on the loop that needs a human. Everything else — proposing, executing, logging — does not. Putting approval anywhere but first would mean missing why this screen exists.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589520" y="334670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73568" y="33101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value is real output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36576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parameters, the triggered rule, the measurements, the objective breakdown and both artefacts are genuine system output, not illustration.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589520" y="482803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356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for gloved hands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51389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60px touch targets, no text entry, high contrast. A tablet at the bench, not a dashboard at a desk.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73568" y="59436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high-fidelity prototype is a product manager's deliverable. Building it in React would have demonstrated wanting to be a front-end engineer instead.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340156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WHAT WENT WRONG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defects I found in my own build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3619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8A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real, not hypotheticals, and they are documented in the repository. Four of the five were silent — the system looked correct while being wrong.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2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gate protected nothing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217627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hazard region was a strict subset of the true failure region, so every experiment it flagged was already doomed. It prevented zero damage while appearing to work in every demo.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217627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F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fails identically to how it succeeds. It needs a test, not a demo.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81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benchmark numbers were wrong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361688" y="30449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README claimed a BO median of 0.84. The measured value was 0.806, and no script in the repository produced either number.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30449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F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script is now the sole source of every published figure.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9502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950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RNG served lab and optimizer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9136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 draws ~512 candidates per iteration, random search draws 5 — so the two methods faced different measurement noise. The per-seed comparison was meaningless.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9136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F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streams, and common random numbers across methods.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818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48188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 got trapped in failure regions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361688" y="478231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experiments yield no objective, so a naive surrogate never learns to avoid them and keeps re-proposing into the dead zone, burning budget.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78231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F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feasibility penalty and an escape hatch — a real constrained-BO problem.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87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5687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Rounding moved the median by 0.006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361688" y="565099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each weighted term to six decimals — a 1e-4 perturbation — changed which point the GP held as incumbent, changed the argmax of Expected Improvement, and redirected the whole search.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565099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6F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loops are chaotically sensitive to their own numerics. Round for display, never before a decision.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3538728" cy="292608"/>
          </a:xfrm>
          <a:prstGeom prst="roundRect">
            <a:avLst>
              <a:gd name="adj" fmla="val 5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SCOPE DISCIPLINE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68680"/>
            <a:ext cx="110550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deliberately did not build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discipline is part of the argument, so the omissions are explicit and reasoned rather than quietly absent.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19456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9456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physically accurate CdTe simulator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13248" y="2194560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real process data. A fake physics model is worse than an honest surrogate.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907792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792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077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DFPT, electron-phonon or Tc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2907792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reason. The hydride module uses published values and builds decisions on top.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621024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621024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graphene tactile-sensor use case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13248" y="3621024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grounded response model available. Two defensible use cases beat three thin 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34256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334256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3425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Hydride synthesis devices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13248" y="4334256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honest way to simulate a hydrogenation anneal. Plans stop where a real lab's seam is.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47488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5047488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04748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async task queue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13248" y="5047488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machine is what matters. The infrastructure adds operational surface, not argument.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760720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5760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760720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“correct” hydride ranking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13248" y="5760720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publishes no scores. One ranking as the answer would manufacture authority.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2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051560"/>
            <a:ext cx="3538728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1051560"/>
            <a:ext cx="3538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WHY THIS, WHY ME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am not switching careers.</a:t>
            </a:r>
            <a:endParaRPr lang="en-US" sz="29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am moving a proven delivery capability into a new domain.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222D38"/>
          </a:solidFill>
          <a:ln w="9525">
            <a:solidFill>
              <a:srgbClr val="2F3D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32918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Life-science consulting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694176"/>
            <a:ext cx="2916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lab's bottleneck is usually its process and feedback loops, not a single technique. Optimizing R&amp;D workflows is what I did.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632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222D38"/>
          </a:solidFill>
          <a:ln w="9525">
            <a:solidFill>
              <a:srgbClr val="2F3D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32918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0→1 founder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694176"/>
            <a:ext cx="2916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shipped end to end under ambiguity and resource constraints, owning the outcome. This orchestrator is the same instinct in a new domain.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9872" y="30632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222D38"/>
          </a:solidFill>
          <a:ln w="9525">
            <a:solidFill>
              <a:srgbClr val="2F3D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32918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growth at scale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694176"/>
            <a:ext cx="2916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CAC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engineering, product and data teams, and translated technical work into measurable impact — the research-to-impact translation this work centres on.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166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3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prototype adds is the domain-technical layer: I understand the closed loop, the data, and the governance well enough to run programmes in it.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8E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github.com/…/ai-to-lab-orchestrator   ·   47 tests   ·   docs/architecture.md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AI-to-Lab Orchestrator</dc:title>
  <dc:subject>PptxGenJS Presentation</dc:subject>
  <dc:creator>AI-to-Lab Orchestrator</dc:creator>
  <cp:lastModifiedBy>AI-to-Lab Orchestrator</cp:lastModifiedBy>
  <cp:revision>1</cp:revision>
  <dcterms:created xsi:type="dcterms:W3CDTF">2026-09-16T21:12:13Z</dcterms:created>
  <dcterms:modified xsi:type="dcterms:W3CDTF">2026-09-16T21:12:13Z</dcterms:modified>
</cp:coreProperties>
</file>